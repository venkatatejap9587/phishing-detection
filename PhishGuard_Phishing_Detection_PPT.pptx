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046720" cy="6858000"/>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01000" y="0"/>
            <a:ext cx="64008" cy="685800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411480"/>
            <a:ext cx="4754880" cy="329184"/>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11480"/>
            <a:ext cx="4754880" cy="329184"/>
          </a:xfrm>
          <a:prstGeom prst="rect">
            <a:avLst/>
          </a:prstGeom>
          <a:noFill/>
        </p:spPr>
        <p:txBody>
          <a:bodyPr wrap="square">
            <a:spAutoFit/>
          </a:bodyPr>
          <a:lstStyle/>
          <a:p>
            <a:pPr algn="l"/>
            <a:r>
              <a:rPr sz="950" b="1" i="0">
                <a:solidFill>
                  <a:srgbClr val="070E1A"/>
                </a:solidFill>
              </a:rPr>
              <a:t>  CYBERSECURITY  |  DEEP LEARNING  |  NLP</a:t>
            </a:r>
          </a:p>
        </p:txBody>
      </p:sp>
      <p:sp>
        <p:nvSpPr>
          <p:cNvPr id="7" name="TextBox 6"/>
          <p:cNvSpPr txBox="1"/>
          <p:nvPr/>
        </p:nvSpPr>
        <p:spPr>
          <a:xfrm>
            <a:off x="457200" y="868680"/>
            <a:ext cx="7315200" cy="822960"/>
          </a:xfrm>
          <a:prstGeom prst="rect">
            <a:avLst/>
          </a:prstGeom>
          <a:noFill/>
        </p:spPr>
        <p:txBody>
          <a:bodyPr wrap="square">
            <a:spAutoFit/>
          </a:bodyPr>
          <a:lstStyle/>
          <a:p>
            <a:pPr algn="l">
              <a:spcBef>
                <a:spcPts val="200"/>
              </a:spcBef>
            </a:pPr>
            <a:r>
              <a:rPr sz="1100" b="1">
                <a:solidFill>
                  <a:srgbClr val="B8D8F0"/>
                </a:solidFill>
              </a:rPr>
              <a:t>VARDHAMAN COLLEGE OF ENGINEERING, HYDERABAD</a:t>
            </a:r>
          </a:p>
          <a:p>
            <a:pPr algn="l">
              <a:spcBef>
                <a:spcPts val="200"/>
              </a:spcBef>
            </a:pPr>
            <a:r>
              <a:rPr sz="1000" b="0">
                <a:solidFill>
                  <a:srgbClr val="B8D8F0"/>
                </a:solidFill>
              </a:rPr>
              <a:t>Autonomous Institute | Affiliated to JNTUH</a:t>
            </a:r>
          </a:p>
          <a:p>
            <a:pPr algn="l">
              <a:spcBef>
                <a:spcPts val="200"/>
              </a:spcBef>
            </a:pPr>
            <a:r>
              <a:rPr sz="1000" b="0">
                <a:solidFill>
                  <a:srgbClr val="B8D8F0"/>
                </a:solidFill>
              </a:rPr>
              <a:t>Department of CSE (AI &amp; ML) | Mini Project (A8041)</a:t>
            </a:r>
          </a:p>
        </p:txBody>
      </p:sp>
      <p:sp>
        <p:nvSpPr>
          <p:cNvPr id="8" name="TextBox 7"/>
          <p:cNvSpPr txBox="1"/>
          <p:nvPr/>
        </p:nvSpPr>
        <p:spPr>
          <a:xfrm>
            <a:off x="457200" y="1828800"/>
            <a:ext cx="7315200" cy="2011680"/>
          </a:xfrm>
          <a:prstGeom prst="rect">
            <a:avLst/>
          </a:prstGeom>
          <a:noFill/>
        </p:spPr>
        <p:txBody>
          <a:bodyPr wrap="square">
            <a:spAutoFit/>
          </a:bodyPr>
          <a:lstStyle/>
          <a:p>
            <a:pPr algn="l">
              <a:spcBef>
                <a:spcPts val="400"/>
              </a:spcBef>
            </a:pPr>
            <a:r>
              <a:rPr sz="4800" b="1">
                <a:solidFill>
                  <a:srgbClr val="39FF14"/>
                </a:solidFill>
              </a:rPr>
              <a:t>PhishGuard</a:t>
            </a:r>
          </a:p>
          <a:p>
            <a:pPr algn="l">
              <a:spcBef>
                <a:spcPts val="400"/>
              </a:spcBef>
            </a:pPr>
            <a:r>
              <a:rPr sz="2400" b="1">
                <a:solidFill>
                  <a:srgbClr val="FFFFFF"/>
                </a:solidFill>
              </a:rPr>
              <a:t>An AI-Powered Phishing Detection</a:t>
            </a:r>
          </a:p>
          <a:p>
            <a:pPr algn="l">
              <a:spcBef>
                <a:spcPts val="400"/>
              </a:spcBef>
            </a:pPr>
            <a:r>
              <a:rPr sz="2000" b="0">
                <a:solidFill>
                  <a:srgbClr val="00D4FF"/>
                </a:solidFill>
              </a:rPr>
              <a:t>Using Hybrid Deep Neural Networks</a:t>
            </a:r>
          </a:p>
        </p:txBody>
      </p:sp>
      <p:sp>
        <p:nvSpPr>
          <p:cNvPr id="9" name="Rectangle 8"/>
          <p:cNvSpPr/>
          <p:nvPr/>
        </p:nvSpPr>
        <p:spPr>
          <a:xfrm>
            <a:off x="457200" y="3913632"/>
            <a:ext cx="7132320"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4041648"/>
            <a:ext cx="7406640" cy="457200"/>
          </a:xfrm>
          <a:prstGeom prst="rect">
            <a:avLst/>
          </a:prstGeom>
          <a:noFill/>
        </p:spPr>
        <p:txBody>
          <a:bodyPr wrap="square">
            <a:spAutoFit/>
          </a:bodyPr>
          <a:lstStyle/>
          <a:p>
            <a:pPr algn="l"/>
            <a:r>
              <a:rPr sz="1350" b="0" i="1">
                <a:solidFill>
                  <a:srgbClr val="B8D8F0"/>
                </a:solidFill>
              </a:rPr>
              <a:t>DistilBERT + XGBoost Hybrid Model for Multi-Channel Phishing Detection</a:t>
            </a:r>
          </a:p>
        </p:txBody>
      </p:sp>
      <p:sp>
        <p:nvSpPr>
          <p:cNvPr id="11" name="Rectangle 10"/>
          <p:cNvSpPr/>
          <p:nvPr/>
        </p:nvSpPr>
        <p:spPr>
          <a:xfrm>
            <a:off x="457200" y="4663440"/>
            <a:ext cx="2194560" cy="12344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663440"/>
            <a:ext cx="2194560"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773168"/>
            <a:ext cx="2194560" cy="658368"/>
          </a:xfrm>
          <a:prstGeom prst="rect">
            <a:avLst/>
          </a:prstGeom>
          <a:noFill/>
        </p:spPr>
        <p:txBody>
          <a:bodyPr wrap="square">
            <a:spAutoFit/>
          </a:bodyPr>
          <a:lstStyle/>
          <a:p>
            <a:pPr algn="ctr"/>
            <a:r>
              <a:rPr sz="3000" b="1" i="0">
                <a:solidFill>
                  <a:srgbClr val="39FF14"/>
                </a:solidFill>
              </a:rPr>
              <a:t>96%</a:t>
            </a:r>
          </a:p>
        </p:txBody>
      </p:sp>
      <p:sp>
        <p:nvSpPr>
          <p:cNvPr id="14" name="TextBox 13"/>
          <p:cNvSpPr txBox="1"/>
          <p:nvPr/>
        </p:nvSpPr>
        <p:spPr>
          <a:xfrm>
            <a:off x="457200" y="5394960"/>
            <a:ext cx="2194560" cy="457200"/>
          </a:xfrm>
          <a:prstGeom prst="rect">
            <a:avLst/>
          </a:prstGeom>
          <a:noFill/>
        </p:spPr>
        <p:txBody>
          <a:bodyPr wrap="square">
            <a:spAutoFit/>
          </a:bodyPr>
          <a:lstStyle/>
          <a:p>
            <a:pPr algn="ctr"/>
            <a:r>
              <a:rPr sz="1100" b="0" i="0">
                <a:solidFill>
                  <a:srgbClr val="B8D8F0"/>
                </a:solidFill>
              </a:rPr>
              <a:t>Hybrid Model
Accuracy</a:t>
            </a:r>
          </a:p>
        </p:txBody>
      </p:sp>
      <p:sp>
        <p:nvSpPr>
          <p:cNvPr id="15" name="Rectangle 14"/>
          <p:cNvSpPr/>
          <p:nvPr/>
        </p:nvSpPr>
        <p:spPr>
          <a:xfrm>
            <a:off x="2834640" y="4663440"/>
            <a:ext cx="2194560" cy="12344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34640" y="4663440"/>
            <a:ext cx="2194560"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4773168"/>
            <a:ext cx="2194560" cy="658368"/>
          </a:xfrm>
          <a:prstGeom prst="rect">
            <a:avLst/>
          </a:prstGeom>
          <a:noFill/>
        </p:spPr>
        <p:txBody>
          <a:bodyPr wrap="square">
            <a:spAutoFit/>
          </a:bodyPr>
          <a:lstStyle/>
          <a:p>
            <a:pPr algn="ctr"/>
            <a:r>
              <a:rPr sz="3000" b="1" i="0">
                <a:solidFill>
                  <a:srgbClr val="39FF14"/>
                </a:solidFill>
              </a:rPr>
              <a:t>94%</a:t>
            </a:r>
          </a:p>
        </p:txBody>
      </p:sp>
      <p:sp>
        <p:nvSpPr>
          <p:cNvPr id="18" name="TextBox 17"/>
          <p:cNvSpPr txBox="1"/>
          <p:nvPr/>
        </p:nvSpPr>
        <p:spPr>
          <a:xfrm>
            <a:off x="2834640" y="5394960"/>
            <a:ext cx="2194560" cy="457200"/>
          </a:xfrm>
          <a:prstGeom prst="rect">
            <a:avLst/>
          </a:prstGeom>
          <a:noFill/>
        </p:spPr>
        <p:txBody>
          <a:bodyPr wrap="square">
            <a:spAutoFit/>
          </a:bodyPr>
          <a:lstStyle/>
          <a:p>
            <a:pPr algn="ctr"/>
            <a:r>
              <a:rPr sz="1100" b="0" i="0">
                <a:solidFill>
                  <a:srgbClr val="B8D8F0"/>
                </a:solidFill>
              </a:rPr>
              <a:t>DistilBERT
Accuracy</a:t>
            </a:r>
          </a:p>
        </p:txBody>
      </p:sp>
      <p:sp>
        <p:nvSpPr>
          <p:cNvPr id="19" name="Rectangle 18"/>
          <p:cNvSpPr/>
          <p:nvPr/>
        </p:nvSpPr>
        <p:spPr>
          <a:xfrm>
            <a:off x="5212080" y="4663440"/>
            <a:ext cx="2194560" cy="12344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0" y="4663440"/>
            <a:ext cx="2194560"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0" y="4773168"/>
            <a:ext cx="2194560" cy="658368"/>
          </a:xfrm>
          <a:prstGeom prst="rect">
            <a:avLst/>
          </a:prstGeom>
          <a:noFill/>
        </p:spPr>
        <p:txBody>
          <a:bodyPr wrap="square">
            <a:spAutoFit/>
          </a:bodyPr>
          <a:lstStyle/>
          <a:p>
            <a:pPr algn="ctr"/>
            <a:r>
              <a:rPr sz="3000" b="1" i="0">
                <a:solidFill>
                  <a:srgbClr val="39FF14"/>
                </a:solidFill>
              </a:rPr>
              <a:t>91%</a:t>
            </a:r>
          </a:p>
        </p:txBody>
      </p:sp>
      <p:sp>
        <p:nvSpPr>
          <p:cNvPr id="22" name="TextBox 21"/>
          <p:cNvSpPr txBox="1"/>
          <p:nvPr/>
        </p:nvSpPr>
        <p:spPr>
          <a:xfrm>
            <a:off x="5212080" y="5394960"/>
            <a:ext cx="2194560" cy="457200"/>
          </a:xfrm>
          <a:prstGeom prst="rect">
            <a:avLst/>
          </a:prstGeom>
          <a:noFill/>
        </p:spPr>
        <p:txBody>
          <a:bodyPr wrap="square">
            <a:spAutoFit/>
          </a:bodyPr>
          <a:lstStyle/>
          <a:p>
            <a:pPr algn="ctr"/>
            <a:r>
              <a:rPr sz="1100" b="0" i="0">
                <a:solidFill>
                  <a:srgbClr val="B8D8F0"/>
                </a:solidFill>
              </a:rPr>
              <a:t>XGBoost
Accuracy</a:t>
            </a:r>
          </a:p>
        </p:txBody>
      </p:sp>
      <p:sp>
        <p:nvSpPr>
          <p:cNvPr id="23" name="Rectangle 22"/>
          <p:cNvSpPr/>
          <p:nvPr/>
        </p:nvSpPr>
        <p:spPr>
          <a:xfrm>
            <a:off x="457200" y="6035040"/>
            <a:ext cx="7315200" cy="749808"/>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6080760"/>
            <a:ext cx="7040880" cy="658368"/>
          </a:xfrm>
          <a:prstGeom prst="rect">
            <a:avLst/>
          </a:prstGeom>
          <a:noFill/>
        </p:spPr>
        <p:txBody>
          <a:bodyPr wrap="square">
            <a:spAutoFit/>
          </a:bodyPr>
          <a:lstStyle/>
          <a:p>
            <a:pPr algn="l">
              <a:spcBef>
                <a:spcPts val="300"/>
              </a:spcBef>
            </a:pPr>
            <a:r>
              <a:rPr sz="1200" b="1">
                <a:solidFill>
                  <a:srgbClr val="FFFFFF"/>
                </a:solidFill>
              </a:rPr>
              <a:t>Team Members: P. Venkata Teja (23881A66A1)  |  P. Pavan (23881A66A4)  |  T. Vamsi (23881A66C0)</a:t>
            </a:r>
          </a:p>
          <a:p>
            <a:pPr algn="l">
              <a:spcBef>
                <a:spcPts val="300"/>
              </a:spcBef>
            </a:pPr>
            <a:r>
              <a:rPr sz="1100" b="0">
                <a:solidFill>
                  <a:srgbClr val="B8D8F0"/>
                </a:solidFill>
              </a:rPr>
              <a:t>Supervisor: Mr. Anudeep Meda, Asst. Professor, Dept. of CSE(AI&amp;ML) | Batch ID: 2023660302</a:t>
            </a:r>
          </a:p>
        </p:txBody>
      </p:sp>
      <p:sp>
        <p:nvSpPr>
          <p:cNvPr id="25" name="TextBox 24"/>
          <p:cNvSpPr txBox="1"/>
          <p:nvPr/>
        </p:nvSpPr>
        <p:spPr>
          <a:xfrm>
            <a:off x="8686800" y="1097280"/>
            <a:ext cx="3200400" cy="2560320"/>
          </a:xfrm>
          <a:prstGeom prst="rect">
            <a:avLst/>
          </a:prstGeom>
          <a:noFill/>
        </p:spPr>
        <p:txBody>
          <a:bodyPr wrap="square">
            <a:spAutoFit/>
          </a:bodyPr>
          <a:lstStyle/>
          <a:p>
            <a:pPr algn="ctr"/>
            <a:r>
              <a:rPr sz="9000" b="0" i="0">
                <a:solidFill>
                  <a:srgbClr val="FFFFFF"/>
                </a:solidFill>
              </a:rPr>
              <a:t>🛡️</a:t>
            </a:r>
          </a:p>
        </p:txBody>
      </p:sp>
      <p:sp>
        <p:nvSpPr>
          <p:cNvPr id="26" name="TextBox 25"/>
          <p:cNvSpPr txBox="1"/>
          <p:nvPr/>
        </p:nvSpPr>
        <p:spPr>
          <a:xfrm>
            <a:off x="8412480" y="3931920"/>
            <a:ext cx="3566160" cy="1828800"/>
          </a:xfrm>
          <a:prstGeom prst="rect">
            <a:avLst/>
          </a:prstGeom>
          <a:noFill/>
        </p:spPr>
        <p:txBody>
          <a:bodyPr wrap="square">
            <a:spAutoFit/>
          </a:bodyPr>
          <a:lstStyle/>
          <a:p>
            <a:pPr algn="l">
              <a:spcBef>
                <a:spcPts val="500"/>
              </a:spcBef>
            </a:pPr>
            <a:r>
              <a:rPr sz="1300" b="0">
                <a:solidFill>
                  <a:srgbClr val="00D4FF"/>
                </a:solidFill>
              </a:rPr>
              <a:t>🔗  URL Analysis</a:t>
            </a:r>
          </a:p>
          <a:p>
            <a:pPr algn="l">
              <a:spcBef>
                <a:spcPts val="500"/>
              </a:spcBef>
            </a:pPr>
            <a:r>
              <a:rPr sz="1300" b="0">
                <a:solidFill>
                  <a:srgbClr val="39FF14"/>
                </a:solidFill>
              </a:rPr>
              <a:t>📧  Email Phishing</a:t>
            </a:r>
          </a:p>
          <a:p>
            <a:pPr algn="l">
              <a:spcBef>
                <a:spcPts val="500"/>
              </a:spcBef>
            </a:pPr>
            <a:r>
              <a:rPr sz="1300" b="0">
                <a:solidFill>
                  <a:srgbClr val="00FFC8"/>
                </a:solidFill>
              </a:rPr>
              <a:t>📱  SMS Detection</a:t>
            </a:r>
          </a:p>
          <a:p>
            <a:pPr algn="l">
              <a:spcBef>
                <a:spcPts val="500"/>
              </a:spcBef>
            </a:pPr>
            <a:r>
              <a:rPr sz="1300" b="0">
                <a:solidFill>
                  <a:srgbClr val="FFCC00"/>
                </a:solidFill>
              </a:rPr>
              <a:t>🤖  Hybrid AI Model</a:t>
            </a:r>
          </a:p>
        </p:txBody>
      </p:sp>
      <p:sp>
        <p:nvSpPr>
          <p:cNvPr id="27" name="TextBox 26"/>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1 / 13</a:t>
            </a:r>
          </a:p>
        </p:txBody>
      </p:sp>
      <p:sp>
        <p:nvSpPr>
          <p:cNvPr id="28" name="Rectangle 27"/>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PhishGuard: An AI Powered Phishing Detection Using Hybrid Deep Neural Networks | Vardhaman College of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98755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 y="45720"/>
            <a:ext cx="10241280" cy="566928"/>
          </a:xfrm>
          <a:prstGeom prst="rect">
            <a:avLst/>
          </a:prstGeom>
          <a:noFill/>
        </p:spPr>
        <p:txBody>
          <a:bodyPr wrap="square">
            <a:spAutoFit/>
          </a:bodyPr>
          <a:lstStyle/>
          <a:p>
            <a:pPr algn="l"/>
            <a:r>
              <a:rPr sz="2800" b="1" i="0">
                <a:solidFill>
                  <a:srgbClr val="FFFFFF"/>
                </a:solidFill>
              </a:rPr>
              <a:t>Abstract</a:t>
            </a:r>
          </a:p>
        </p:txBody>
      </p:sp>
      <p:sp>
        <p:nvSpPr>
          <p:cNvPr id="7" name="TextBox 6"/>
          <p:cNvSpPr txBox="1"/>
          <p:nvPr/>
        </p:nvSpPr>
        <p:spPr>
          <a:xfrm>
            <a:off x="164592" y="603504"/>
            <a:ext cx="10241280" cy="329184"/>
          </a:xfrm>
          <a:prstGeom prst="rect">
            <a:avLst/>
          </a:prstGeom>
          <a:noFill/>
        </p:spPr>
        <p:txBody>
          <a:bodyPr wrap="square">
            <a:spAutoFit/>
          </a:bodyPr>
          <a:lstStyle/>
          <a:p>
            <a:pPr algn="l"/>
            <a:r>
              <a:rPr sz="1250" b="0" i="1">
                <a:solidFill>
                  <a:srgbClr val="39FF14"/>
                </a:solidFill>
              </a:rPr>
              <a:t>Research Overview &amp; Key Contributions</a:t>
            </a:r>
          </a:p>
        </p:txBody>
      </p:sp>
      <p:sp>
        <p:nvSpPr>
          <p:cNvPr id="8" name="TextBox 7"/>
          <p:cNvSpPr txBox="1"/>
          <p:nvPr/>
        </p:nvSpPr>
        <p:spPr>
          <a:xfrm>
            <a:off x="8046720" y="676656"/>
            <a:ext cx="4023360" cy="256032"/>
          </a:xfrm>
          <a:prstGeom prst="rect">
            <a:avLst/>
          </a:prstGeom>
          <a:noFill/>
        </p:spPr>
        <p:txBody>
          <a:bodyPr wrap="square">
            <a:spAutoFit/>
          </a:bodyPr>
          <a:lstStyle/>
          <a:p>
            <a:pPr algn="r"/>
            <a:r>
              <a:rPr sz="900" b="0" i="0">
                <a:solidFill>
                  <a:srgbClr val="B8D8F0"/>
                </a:solidFill>
              </a:rPr>
              <a:t>PhishGuard | AI-Powered Phishing Detection</a:t>
            </a:r>
          </a:p>
        </p:txBody>
      </p:sp>
      <p:sp>
        <p:nvSpPr>
          <p:cNvPr id="9" name="Rectangle 8"/>
          <p:cNvSpPr/>
          <p:nvPr/>
        </p:nvSpPr>
        <p:spPr>
          <a:xfrm>
            <a:off x="274320" y="1097280"/>
            <a:ext cx="11640312" cy="324612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097280"/>
            <a:ext cx="64008" cy="3246120"/>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170432"/>
            <a:ext cx="11247120" cy="3090672"/>
          </a:xfrm>
          <a:prstGeom prst="rect">
            <a:avLst/>
          </a:prstGeom>
          <a:noFill/>
        </p:spPr>
        <p:txBody>
          <a:bodyPr wrap="square">
            <a:spAutoFit/>
          </a:bodyPr>
          <a:lstStyle/>
          <a:p>
            <a:pPr algn="l">
              <a:spcBef>
                <a:spcPts val="200"/>
              </a:spcBef>
            </a:pPr>
            <a:r>
              <a:rPr sz="1300" b="1">
                <a:solidFill>
                  <a:srgbClr val="00FFC8"/>
                </a:solidFill>
              </a:rPr>
              <a:t>Research Context</a:t>
            </a:r>
          </a:p>
          <a:p>
            <a:pPr algn="l">
              <a:spcBef>
                <a:spcPts val="200"/>
              </a:spcBef>
            </a:pPr>
            <a:r>
              <a:rPr sz="1200" b="0">
                <a:solidFill>
                  <a:srgbClr val="FFFFFF"/>
                </a:solidFill>
              </a:rPr>
              <a:t>Phishing attacks are increasing rapidly through emails, SMS messages, and malicious URLs, posing serious cybersecurity threats to individuals, businesses, and government institutions worldwide.</a:t>
            </a:r>
          </a:p>
          <a:p>
            <a:pPr algn="l">
              <a:spcBef>
                <a:spcPts val="200"/>
              </a:spcBef>
            </a:pPr>
            <a:r>
              <a:rPr sz="700" b="0">
                <a:solidFill>
                  <a:srgbClr val="FFFFFF"/>
                </a:solidFill>
              </a:rPr>
              <a:t/>
            </a:r>
          </a:p>
          <a:p>
            <a:pPr algn="l">
              <a:spcBef>
                <a:spcPts val="200"/>
              </a:spcBef>
            </a:pPr>
            <a:r>
              <a:rPr sz="1300" b="1">
                <a:solidFill>
                  <a:srgbClr val="39FF14"/>
                </a:solidFill>
              </a:rPr>
              <a:t>The Problem</a:t>
            </a:r>
          </a:p>
          <a:p>
            <a:pPr algn="l">
              <a:spcBef>
                <a:spcPts val="200"/>
              </a:spcBef>
            </a:pPr>
            <a:r>
              <a:rPr sz="1200" b="0">
                <a:solidFill>
                  <a:srgbClr val="FFFFFF"/>
                </a:solidFill>
              </a:rPr>
              <a:t>Traditional phishing detection systems rely on single-channel analysis and rule-based blacklists, which are insufficient against modern, evolving phishing attacks that span multiple communication channels.</a:t>
            </a:r>
          </a:p>
          <a:p>
            <a:pPr algn="l">
              <a:spcBef>
                <a:spcPts val="200"/>
              </a:spcBef>
            </a:pPr>
            <a:r>
              <a:rPr sz="700" b="0">
                <a:solidFill>
                  <a:srgbClr val="FFFFFF"/>
                </a:solidFill>
              </a:rPr>
              <a:t/>
            </a:r>
          </a:p>
          <a:p>
            <a:pPr algn="l">
              <a:spcBef>
                <a:spcPts val="200"/>
              </a:spcBef>
            </a:pPr>
            <a:r>
              <a:rPr sz="1300" b="1">
                <a:solidFill>
                  <a:srgbClr val="FFCC00"/>
                </a:solidFill>
              </a:rPr>
              <a:t>Proposed Solution – PhishGuard</a:t>
            </a:r>
          </a:p>
          <a:p>
            <a:pPr algn="l">
              <a:spcBef>
                <a:spcPts val="200"/>
              </a:spcBef>
            </a:pPr>
            <a:r>
              <a:rPr sz="1200" b="0">
                <a:solidFill>
                  <a:srgbClr val="FFFFFF"/>
                </a:solidFill>
              </a:rPr>
              <a:t>This project proposes PhishGuard, an intelligent multi-channel phishing detection system combining DistilBERT (for semantic NLP analysis of emails and SMS) with XGBoost (for URL structural classification). The hybrid model improves accuracy, reduces false positives, and handles phishing across URLs, emails, and SMS simultaneously.</a:t>
            </a:r>
          </a:p>
        </p:txBody>
      </p:sp>
      <p:sp>
        <p:nvSpPr>
          <p:cNvPr id="12" name="Rectangle 11"/>
          <p:cNvSpPr/>
          <p:nvPr/>
        </p:nvSpPr>
        <p:spPr>
          <a:xfrm>
            <a:off x="274320" y="4480560"/>
            <a:ext cx="2743200" cy="19933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4480560"/>
            <a:ext cx="2743200"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617720"/>
            <a:ext cx="2743200" cy="804672"/>
          </a:xfrm>
          <a:prstGeom prst="rect">
            <a:avLst/>
          </a:prstGeom>
          <a:noFill/>
        </p:spPr>
        <p:txBody>
          <a:bodyPr wrap="square">
            <a:spAutoFit/>
          </a:bodyPr>
          <a:lstStyle/>
          <a:p>
            <a:pPr algn="ctr"/>
            <a:r>
              <a:rPr sz="3600" b="1" i="0">
                <a:solidFill>
                  <a:srgbClr val="39FF14"/>
                </a:solidFill>
              </a:rPr>
              <a:t>96%</a:t>
            </a:r>
          </a:p>
        </p:txBody>
      </p:sp>
      <p:sp>
        <p:nvSpPr>
          <p:cNvPr id="15" name="TextBox 14"/>
          <p:cNvSpPr txBox="1"/>
          <p:nvPr/>
        </p:nvSpPr>
        <p:spPr>
          <a:xfrm>
            <a:off x="274320" y="5394960"/>
            <a:ext cx="2743200" cy="777240"/>
          </a:xfrm>
          <a:prstGeom prst="rect">
            <a:avLst/>
          </a:prstGeom>
          <a:noFill/>
        </p:spPr>
        <p:txBody>
          <a:bodyPr wrap="square">
            <a:spAutoFit/>
          </a:bodyPr>
          <a:lstStyle/>
          <a:p>
            <a:pPr algn="ctr"/>
            <a:r>
              <a:rPr sz="1200" b="0" i="0">
                <a:solidFill>
                  <a:srgbClr val="B8D8F0"/>
                </a:solidFill>
              </a:rPr>
              <a:t>Hybrid Model
Accuracy</a:t>
            </a:r>
          </a:p>
        </p:txBody>
      </p:sp>
      <p:sp>
        <p:nvSpPr>
          <p:cNvPr id="16" name="Rectangle 15"/>
          <p:cNvSpPr/>
          <p:nvPr/>
        </p:nvSpPr>
        <p:spPr>
          <a:xfrm>
            <a:off x="3273551" y="4480560"/>
            <a:ext cx="2743200" cy="19933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73551" y="4480560"/>
            <a:ext cx="2743200"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73551" y="4617720"/>
            <a:ext cx="2743200" cy="804672"/>
          </a:xfrm>
          <a:prstGeom prst="rect">
            <a:avLst/>
          </a:prstGeom>
          <a:noFill/>
        </p:spPr>
        <p:txBody>
          <a:bodyPr wrap="square">
            <a:spAutoFit/>
          </a:bodyPr>
          <a:lstStyle/>
          <a:p>
            <a:pPr algn="ctr"/>
            <a:r>
              <a:rPr sz="3600" b="1" i="0">
                <a:solidFill>
                  <a:srgbClr val="00D4FF"/>
                </a:solidFill>
              </a:rPr>
              <a:t>94%</a:t>
            </a:r>
          </a:p>
        </p:txBody>
      </p:sp>
      <p:sp>
        <p:nvSpPr>
          <p:cNvPr id="19" name="TextBox 18"/>
          <p:cNvSpPr txBox="1"/>
          <p:nvPr/>
        </p:nvSpPr>
        <p:spPr>
          <a:xfrm>
            <a:off x="3273551" y="5394960"/>
            <a:ext cx="2743200" cy="777240"/>
          </a:xfrm>
          <a:prstGeom prst="rect">
            <a:avLst/>
          </a:prstGeom>
          <a:noFill/>
        </p:spPr>
        <p:txBody>
          <a:bodyPr wrap="square">
            <a:spAutoFit/>
          </a:bodyPr>
          <a:lstStyle/>
          <a:p>
            <a:pPr algn="ctr"/>
            <a:r>
              <a:rPr sz="1200" b="0" i="0">
                <a:solidFill>
                  <a:srgbClr val="B8D8F0"/>
                </a:solidFill>
              </a:rPr>
              <a:t>DistilBERT
Accuracy</a:t>
            </a:r>
          </a:p>
        </p:txBody>
      </p:sp>
      <p:sp>
        <p:nvSpPr>
          <p:cNvPr id="20" name="Rectangle 19"/>
          <p:cNvSpPr/>
          <p:nvPr/>
        </p:nvSpPr>
        <p:spPr>
          <a:xfrm>
            <a:off x="6272783" y="4480560"/>
            <a:ext cx="2743200" cy="19933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72783" y="4480560"/>
            <a:ext cx="2743200" cy="50292"/>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72783" y="4617720"/>
            <a:ext cx="2743200" cy="804672"/>
          </a:xfrm>
          <a:prstGeom prst="rect">
            <a:avLst/>
          </a:prstGeom>
          <a:noFill/>
        </p:spPr>
        <p:txBody>
          <a:bodyPr wrap="square">
            <a:spAutoFit/>
          </a:bodyPr>
          <a:lstStyle/>
          <a:p>
            <a:pPr algn="ctr"/>
            <a:r>
              <a:rPr sz="3600" b="1" i="0">
                <a:solidFill>
                  <a:srgbClr val="FFCC00"/>
                </a:solidFill>
              </a:rPr>
              <a:t>91%</a:t>
            </a:r>
          </a:p>
        </p:txBody>
      </p:sp>
      <p:sp>
        <p:nvSpPr>
          <p:cNvPr id="23" name="TextBox 22"/>
          <p:cNvSpPr txBox="1"/>
          <p:nvPr/>
        </p:nvSpPr>
        <p:spPr>
          <a:xfrm>
            <a:off x="6272783" y="5394960"/>
            <a:ext cx="2743200" cy="777240"/>
          </a:xfrm>
          <a:prstGeom prst="rect">
            <a:avLst/>
          </a:prstGeom>
          <a:noFill/>
        </p:spPr>
        <p:txBody>
          <a:bodyPr wrap="square">
            <a:spAutoFit/>
          </a:bodyPr>
          <a:lstStyle/>
          <a:p>
            <a:pPr algn="ctr"/>
            <a:r>
              <a:rPr sz="1200" b="0" i="0">
                <a:solidFill>
                  <a:srgbClr val="B8D8F0"/>
                </a:solidFill>
              </a:rPr>
              <a:t>XGBoost
Accuracy</a:t>
            </a:r>
          </a:p>
        </p:txBody>
      </p:sp>
      <p:sp>
        <p:nvSpPr>
          <p:cNvPr id="24" name="Rectangle 23"/>
          <p:cNvSpPr/>
          <p:nvPr/>
        </p:nvSpPr>
        <p:spPr>
          <a:xfrm>
            <a:off x="9272015" y="4480560"/>
            <a:ext cx="2743200" cy="19933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72015" y="4480560"/>
            <a:ext cx="2743200" cy="50292"/>
          </a:xfrm>
          <a:prstGeom prst="rect">
            <a:avLst/>
          </a:prstGeom>
          <a:solidFill>
            <a:srgbClr val="A0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72015" y="4617720"/>
            <a:ext cx="2743200" cy="804672"/>
          </a:xfrm>
          <a:prstGeom prst="rect">
            <a:avLst/>
          </a:prstGeom>
          <a:noFill/>
        </p:spPr>
        <p:txBody>
          <a:bodyPr wrap="square">
            <a:spAutoFit/>
          </a:bodyPr>
          <a:lstStyle/>
          <a:p>
            <a:pPr algn="ctr"/>
            <a:r>
              <a:rPr sz="3600" b="1" i="0">
                <a:solidFill>
                  <a:srgbClr val="A07EFF"/>
                </a:solidFill>
              </a:rPr>
              <a:t>0.96</a:t>
            </a:r>
          </a:p>
        </p:txBody>
      </p:sp>
      <p:sp>
        <p:nvSpPr>
          <p:cNvPr id="27" name="TextBox 26"/>
          <p:cNvSpPr txBox="1"/>
          <p:nvPr/>
        </p:nvSpPr>
        <p:spPr>
          <a:xfrm>
            <a:off x="9272015" y="5394960"/>
            <a:ext cx="2743200" cy="777240"/>
          </a:xfrm>
          <a:prstGeom prst="rect">
            <a:avLst/>
          </a:prstGeom>
          <a:noFill/>
        </p:spPr>
        <p:txBody>
          <a:bodyPr wrap="square">
            <a:spAutoFit/>
          </a:bodyPr>
          <a:lstStyle/>
          <a:p>
            <a:pPr algn="ctr"/>
            <a:r>
              <a:rPr sz="1200" b="0" i="0">
                <a:solidFill>
                  <a:srgbClr val="B8D8F0"/>
                </a:solidFill>
              </a:rPr>
              <a:t>Weighted
F1-Score</a:t>
            </a:r>
          </a:p>
        </p:txBody>
      </p:sp>
      <p:sp>
        <p:nvSpPr>
          <p:cNvPr id="28" name="TextBox 27"/>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2 / 13</a:t>
            </a:r>
          </a:p>
        </p:txBody>
      </p:sp>
      <p:sp>
        <p:nvSpPr>
          <p:cNvPr id="29" name="Rectangle 28"/>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The hybrid DistilBERT + XGBoost system outperforms all single-channel and traditional ML phishing detection approaches.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98755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 y="45720"/>
            <a:ext cx="10241280" cy="566928"/>
          </a:xfrm>
          <a:prstGeom prst="rect">
            <a:avLst/>
          </a:prstGeom>
          <a:noFill/>
        </p:spPr>
        <p:txBody>
          <a:bodyPr wrap="square">
            <a:spAutoFit/>
          </a:bodyPr>
          <a:lstStyle/>
          <a:p>
            <a:pPr algn="l"/>
            <a:r>
              <a:rPr sz="2800" b="1" i="0">
                <a:solidFill>
                  <a:srgbClr val="FFFFFF"/>
                </a:solidFill>
              </a:rPr>
              <a:t>Introduction</a:t>
            </a:r>
          </a:p>
        </p:txBody>
      </p:sp>
      <p:sp>
        <p:nvSpPr>
          <p:cNvPr id="7" name="TextBox 6"/>
          <p:cNvSpPr txBox="1"/>
          <p:nvPr/>
        </p:nvSpPr>
        <p:spPr>
          <a:xfrm>
            <a:off x="164592" y="603504"/>
            <a:ext cx="10241280" cy="329184"/>
          </a:xfrm>
          <a:prstGeom prst="rect">
            <a:avLst/>
          </a:prstGeom>
          <a:noFill/>
        </p:spPr>
        <p:txBody>
          <a:bodyPr wrap="square">
            <a:spAutoFit/>
          </a:bodyPr>
          <a:lstStyle/>
          <a:p>
            <a:pPr algn="l"/>
            <a:r>
              <a:rPr sz="1250" b="0" i="1">
                <a:solidFill>
                  <a:srgbClr val="39FF14"/>
                </a:solidFill>
              </a:rPr>
              <a:t>Background, Motivation &amp; Objectives</a:t>
            </a:r>
          </a:p>
        </p:txBody>
      </p:sp>
      <p:sp>
        <p:nvSpPr>
          <p:cNvPr id="8" name="TextBox 7"/>
          <p:cNvSpPr txBox="1"/>
          <p:nvPr/>
        </p:nvSpPr>
        <p:spPr>
          <a:xfrm>
            <a:off x="8046720" y="676656"/>
            <a:ext cx="4023360" cy="256032"/>
          </a:xfrm>
          <a:prstGeom prst="rect">
            <a:avLst/>
          </a:prstGeom>
          <a:noFill/>
        </p:spPr>
        <p:txBody>
          <a:bodyPr wrap="square">
            <a:spAutoFit/>
          </a:bodyPr>
          <a:lstStyle/>
          <a:p>
            <a:pPr algn="r"/>
            <a:r>
              <a:rPr sz="900" b="0" i="0">
                <a:solidFill>
                  <a:srgbClr val="B8D8F0"/>
                </a:solidFill>
              </a:rPr>
              <a:t>PhishGuard | AI-Powered Phishing Detection</a:t>
            </a:r>
          </a:p>
        </p:txBody>
      </p:sp>
      <p:sp>
        <p:nvSpPr>
          <p:cNvPr id="9" name="Rectangle 8"/>
          <p:cNvSpPr/>
          <p:nvPr/>
        </p:nvSpPr>
        <p:spPr>
          <a:xfrm>
            <a:off x="274320" y="1097280"/>
            <a:ext cx="5440680" cy="5376672"/>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097280"/>
            <a:ext cx="5440680" cy="502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170432"/>
            <a:ext cx="5166360" cy="365760"/>
          </a:xfrm>
          <a:prstGeom prst="rect">
            <a:avLst/>
          </a:prstGeom>
          <a:noFill/>
        </p:spPr>
        <p:txBody>
          <a:bodyPr wrap="square">
            <a:spAutoFit/>
          </a:bodyPr>
          <a:lstStyle/>
          <a:p>
            <a:pPr algn="l"/>
            <a:r>
              <a:rPr sz="1300" b="1" i="0">
                <a:solidFill>
                  <a:srgbClr val="FF6B35"/>
                </a:solidFill>
              </a:rPr>
              <a:t>⚠  Problem Statement</a:t>
            </a:r>
          </a:p>
        </p:txBody>
      </p:sp>
      <p:sp>
        <p:nvSpPr>
          <p:cNvPr id="12" name="TextBox 11"/>
          <p:cNvSpPr txBox="1"/>
          <p:nvPr/>
        </p:nvSpPr>
        <p:spPr>
          <a:xfrm>
            <a:off x="347472" y="1591056"/>
            <a:ext cx="256032" cy="274320"/>
          </a:xfrm>
          <a:prstGeom prst="rect">
            <a:avLst/>
          </a:prstGeom>
          <a:noFill/>
        </p:spPr>
        <p:txBody>
          <a:bodyPr wrap="square">
            <a:spAutoFit/>
          </a:bodyPr>
          <a:lstStyle/>
          <a:p>
            <a:pPr algn="l"/>
            <a:r>
              <a:rPr sz="1100" b="1" i="0">
                <a:solidFill>
                  <a:srgbClr val="FF6B35"/>
                </a:solidFill>
              </a:rPr>
              <a:t>●</a:t>
            </a:r>
          </a:p>
        </p:txBody>
      </p:sp>
      <p:sp>
        <p:nvSpPr>
          <p:cNvPr id="13" name="TextBox 12"/>
          <p:cNvSpPr txBox="1"/>
          <p:nvPr/>
        </p:nvSpPr>
        <p:spPr>
          <a:xfrm>
            <a:off x="621792" y="1609344"/>
            <a:ext cx="4919472" cy="512064"/>
          </a:xfrm>
          <a:prstGeom prst="rect">
            <a:avLst/>
          </a:prstGeom>
          <a:noFill/>
        </p:spPr>
        <p:txBody>
          <a:bodyPr wrap="square">
            <a:spAutoFit/>
          </a:bodyPr>
          <a:lstStyle/>
          <a:p>
            <a:pPr algn="l"/>
            <a:r>
              <a:rPr sz="1150" b="0" i="0">
                <a:solidFill>
                  <a:srgbClr val="FFFFFF"/>
                </a:solidFill>
              </a:rPr>
              <a:t>The internet is now critical for banking, e-commerce, and communication — making it a prime target for cybercrime.</a:t>
            </a:r>
          </a:p>
        </p:txBody>
      </p:sp>
      <p:sp>
        <p:nvSpPr>
          <p:cNvPr id="14" name="TextBox 13"/>
          <p:cNvSpPr txBox="1"/>
          <p:nvPr/>
        </p:nvSpPr>
        <p:spPr>
          <a:xfrm>
            <a:off x="347472" y="2139696"/>
            <a:ext cx="256032" cy="274320"/>
          </a:xfrm>
          <a:prstGeom prst="rect">
            <a:avLst/>
          </a:prstGeom>
          <a:noFill/>
        </p:spPr>
        <p:txBody>
          <a:bodyPr wrap="square">
            <a:spAutoFit/>
          </a:bodyPr>
          <a:lstStyle/>
          <a:p>
            <a:pPr algn="l"/>
            <a:r>
              <a:rPr sz="1100" b="1" i="0">
                <a:solidFill>
                  <a:srgbClr val="FF6B35"/>
                </a:solidFill>
              </a:rPr>
              <a:t>●</a:t>
            </a:r>
          </a:p>
        </p:txBody>
      </p:sp>
      <p:sp>
        <p:nvSpPr>
          <p:cNvPr id="15" name="TextBox 14"/>
          <p:cNvSpPr txBox="1"/>
          <p:nvPr/>
        </p:nvSpPr>
        <p:spPr>
          <a:xfrm>
            <a:off x="621792" y="2157984"/>
            <a:ext cx="4919472" cy="512064"/>
          </a:xfrm>
          <a:prstGeom prst="rect">
            <a:avLst/>
          </a:prstGeom>
          <a:noFill/>
        </p:spPr>
        <p:txBody>
          <a:bodyPr wrap="square">
            <a:spAutoFit/>
          </a:bodyPr>
          <a:lstStyle/>
          <a:p>
            <a:pPr algn="l"/>
            <a:r>
              <a:rPr sz="1150" b="0" i="0">
                <a:solidFill>
                  <a:srgbClr val="FFFFFF"/>
                </a:solidFill>
              </a:rPr>
              <a:t>Phishing attacks involve criminals impersonating trusted organizations to steal passwords, bank details, and personal data.</a:t>
            </a:r>
          </a:p>
        </p:txBody>
      </p:sp>
      <p:sp>
        <p:nvSpPr>
          <p:cNvPr id="16" name="TextBox 15"/>
          <p:cNvSpPr txBox="1"/>
          <p:nvPr/>
        </p:nvSpPr>
        <p:spPr>
          <a:xfrm>
            <a:off x="347472" y="2688336"/>
            <a:ext cx="256032" cy="274320"/>
          </a:xfrm>
          <a:prstGeom prst="rect">
            <a:avLst/>
          </a:prstGeom>
          <a:noFill/>
        </p:spPr>
        <p:txBody>
          <a:bodyPr wrap="square">
            <a:spAutoFit/>
          </a:bodyPr>
          <a:lstStyle/>
          <a:p>
            <a:pPr algn="l"/>
            <a:r>
              <a:rPr sz="1100" b="1" i="0">
                <a:solidFill>
                  <a:srgbClr val="FF6B35"/>
                </a:solidFill>
              </a:rPr>
              <a:t>●</a:t>
            </a:r>
          </a:p>
        </p:txBody>
      </p:sp>
      <p:sp>
        <p:nvSpPr>
          <p:cNvPr id="17" name="TextBox 16"/>
          <p:cNvSpPr txBox="1"/>
          <p:nvPr/>
        </p:nvSpPr>
        <p:spPr>
          <a:xfrm>
            <a:off x="621792" y="2706624"/>
            <a:ext cx="4919472" cy="512064"/>
          </a:xfrm>
          <a:prstGeom prst="rect">
            <a:avLst/>
          </a:prstGeom>
          <a:noFill/>
        </p:spPr>
        <p:txBody>
          <a:bodyPr wrap="square">
            <a:spAutoFit/>
          </a:bodyPr>
          <a:lstStyle/>
          <a:p>
            <a:pPr algn="l"/>
            <a:r>
              <a:rPr sz="1150" b="0" i="0">
                <a:solidFill>
                  <a:srgbClr val="FFFFFF"/>
                </a:solidFill>
              </a:rPr>
              <a:t>Attackers use fake emails, malicious URLs, SMS (smishing), and fraudulent websites to deceive victims.</a:t>
            </a:r>
          </a:p>
        </p:txBody>
      </p:sp>
      <p:sp>
        <p:nvSpPr>
          <p:cNvPr id="18" name="TextBox 17"/>
          <p:cNvSpPr txBox="1"/>
          <p:nvPr/>
        </p:nvSpPr>
        <p:spPr>
          <a:xfrm>
            <a:off x="347472" y="3236976"/>
            <a:ext cx="256032" cy="274320"/>
          </a:xfrm>
          <a:prstGeom prst="rect">
            <a:avLst/>
          </a:prstGeom>
          <a:noFill/>
        </p:spPr>
        <p:txBody>
          <a:bodyPr wrap="square">
            <a:spAutoFit/>
          </a:bodyPr>
          <a:lstStyle/>
          <a:p>
            <a:pPr algn="l"/>
            <a:r>
              <a:rPr sz="1100" b="1" i="0">
                <a:solidFill>
                  <a:srgbClr val="FF6B35"/>
                </a:solidFill>
              </a:rPr>
              <a:t>●</a:t>
            </a:r>
          </a:p>
        </p:txBody>
      </p:sp>
      <p:sp>
        <p:nvSpPr>
          <p:cNvPr id="19" name="TextBox 18"/>
          <p:cNvSpPr txBox="1"/>
          <p:nvPr/>
        </p:nvSpPr>
        <p:spPr>
          <a:xfrm>
            <a:off x="621792" y="3255264"/>
            <a:ext cx="4919472" cy="512064"/>
          </a:xfrm>
          <a:prstGeom prst="rect">
            <a:avLst/>
          </a:prstGeom>
          <a:noFill/>
        </p:spPr>
        <p:txBody>
          <a:bodyPr wrap="square">
            <a:spAutoFit/>
          </a:bodyPr>
          <a:lstStyle/>
          <a:p>
            <a:pPr algn="l"/>
            <a:r>
              <a:rPr sz="1150" b="0" i="0">
                <a:solidFill>
                  <a:srgbClr val="FFFFFF"/>
                </a:solidFill>
              </a:rPr>
              <a:t>Traditional defenses like blacklists and rule-based filters are ineffective against modern, dynamically evolving phishing.</a:t>
            </a:r>
          </a:p>
        </p:txBody>
      </p:sp>
      <p:sp>
        <p:nvSpPr>
          <p:cNvPr id="20" name="TextBox 19"/>
          <p:cNvSpPr txBox="1"/>
          <p:nvPr/>
        </p:nvSpPr>
        <p:spPr>
          <a:xfrm>
            <a:off x="347472" y="3785615"/>
            <a:ext cx="256032" cy="274320"/>
          </a:xfrm>
          <a:prstGeom prst="rect">
            <a:avLst/>
          </a:prstGeom>
          <a:noFill/>
        </p:spPr>
        <p:txBody>
          <a:bodyPr wrap="square">
            <a:spAutoFit/>
          </a:bodyPr>
          <a:lstStyle/>
          <a:p>
            <a:pPr algn="l"/>
            <a:r>
              <a:rPr sz="1100" b="1" i="0">
                <a:solidFill>
                  <a:srgbClr val="FF6B35"/>
                </a:solidFill>
              </a:rPr>
              <a:t>●</a:t>
            </a:r>
          </a:p>
        </p:txBody>
      </p:sp>
      <p:sp>
        <p:nvSpPr>
          <p:cNvPr id="21" name="TextBox 20"/>
          <p:cNvSpPr txBox="1"/>
          <p:nvPr/>
        </p:nvSpPr>
        <p:spPr>
          <a:xfrm>
            <a:off x="621792" y="3803904"/>
            <a:ext cx="4919472" cy="512064"/>
          </a:xfrm>
          <a:prstGeom prst="rect">
            <a:avLst/>
          </a:prstGeom>
          <a:noFill/>
        </p:spPr>
        <p:txBody>
          <a:bodyPr wrap="square">
            <a:spAutoFit/>
          </a:bodyPr>
          <a:lstStyle/>
          <a:p>
            <a:pPr algn="l"/>
            <a:r>
              <a:rPr sz="1150" b="0" i="0">
                <a:solidFill>
                  <a:srgbClr val="FFFFFF"/>
                </a:solidFill>
              </a:rPr>
              <a:t>Single-channel detection systems miss multi-vector phishing campaigns that combine URL, email, and SMS attacks.</a:t>
            </a:r>
          </a:p>
        </p:txBody>
      </p:sp>
      <p:sp>
        <p:nvSpPr>
          <p:cNvPr id="22" name="TextBox 21"/>
          <p:cNvSpPr txBox="1"/>
          <p:nvPr/>
        </p:nvSpPr>
        <p:spPr>
          <a:xfrm>
            <a:off x="347472" y="4334255"/>
            <a:ext cx="256032" cy="274320"/>
          </a:xfrm>
          <a:prstGeom prst="rect">
            <a:avLst/>
          </a:prstGeom>
          <a:noFill/>
        </p:spPr>
        <p:txBody>
          <a:bodyPr wrap="square">
            <a:spAutoFit/>
          </a:bodyPr>
          <a:lstStyle/>
          <a:p>
            <a:pPr algn="l"/>
            <a:r>
              <a:rPr sz="1100" b="1" i="0">
                <a:solidFill>
                  <a:srgbClr val="FF6B35"/>
                </a:solidFill>
              </a:rPr>
              <a:t>●</a:t>
            </a:r>
          </a:p>
        </p:txBody>
      </p:sp>
      <p:sp>
        <p:nvSpPr>
          <p:cNvPr id="23" name="TextBox 22"/>
          <p:cNvSpPr txBox="1"/>
          <p:nvPr/>
        </p:nvSpPr>
        <p:spPr>
          <a:xfrm>
            <a:off x="621792" y="4352544"/>
            <a:ext cx="4919472" cy="512064"/>
          </a:xfrm>
          <a:prstGeom prst="rect">
            <a:avLst/>
          </a:prstGeom>
          <a:noFill/>
        </p:spPr>
        <p:txBody>
          <a:bodyPr wrap="square">
            <a:spAutoFit/>
          </a:bodyPr>
          <a:lstStyle/>
          <a:p>
            <a:pPr algn="l"/>
            <a:r>
              <a:rPr sz="1150" b="0" i="0">
                <a:solidFill>
                  <a:srgbClr val="FFFFFF"/>
                </a:solidFill>
              </a:rPr>
              <a:t>Lack of real-time, intelligent detection creates security gaps exploited by sophisticated threat actors.</a:t>
            </a:r>
          </a:p>
        </p:txBody>
      </p:sp>
      <p:sp>
        <p:nvSpPr>
          <p:cNvPr id="24" name="Rectangle 23"/>
          <p:cNvSpPr/>
          <p:nvPr/>
        </p:nvSpPr>
        <p:spPr>
          <a:xfrm>
            <a:off x="6035040" y="1097280"/>
            <a:ext cx="5852160" cy="5376672"/>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35040" y="1097280"/>
            <a:ext cx="5852160"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1170432"/>
            <a:ext cx="5577840" cy="365760"/>
          </a:xfrm>
          <a:prstGeom prst="rect">
            <a:avLst/>
          </a:prstGeom>
          <a:noFill/>
        </p:spPr>
        <p:txBody>
          <a:bodyPr wrap="square">
            <a:spAutoFit/>
          </a:bodyPr>
          <a:lstStyle/>
          <a:p>
            <a:pPr algn="l"/>
            <a:r>
              <a:rPr sz="1300" b="1" i="0">
                <a:solidFill>
                  <a:srgbClr val="39FF14"/>
                </a:solidFill>
              </a:rPr>
              <a:t>✅  PhishGuard Objectives</a:t>
            </a:r>
          </a:p>
        </p:txBody>
      </p:sp>
      <p:sp>
        <p:nvSpPr>
          <p:cNvPr id="27" name="Rectangle 26"/>
          <p:cNvSpPr/>
          <p:nvPr/>
        </p:nvSpPr>
        <p:spPr>
          <a:xfrm>
            <a:off x="6108192" y="1627632"/>
            <a:ext cx="5669280" cy="877824"/>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08192" y="1627632"/>
            <a:ext cx="64008" cy="877824"/>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36208" y="1682496"/>
            <a:ext cx="1005840" cy="320040"/>
          </a:xfrm>
          <a:prstGeom prst="rect">
            <a:avLst/>
          </a:prstGeom>
          <a:noFill/>
        </p:spPr>
        <p:txBody>
          <a:bodyPr wrap="square">
            <a:spAutoFit/>
          </a:bodyPr>
          <a:lstStyle/>
          <a:p>
            <a:pPr algn="l"/>
            <a:r>
              <a:rPr sz="1100" b="1" i="0">
                <a:solidFill>
                  <a:srgbClr val="39FF14"/>
                </a:solidFill>
              </a:rPr>
              <a:t>Obj 1:</a:t>
            </a:r>
          </a:p>
        </p:txBody>
      </p:sp>
      <p:sp>
        <p:nvSpPr>
          <p:cNvPr id="30" name="TextBox 29"/>
          <p:cNvSpPr txBox="1"/>
          <p:nvPr/>
        </p:nvSpPr>
        <p:spPr>
          <a:xfrm>
            <a:off x="7278624" y="1682496"/>
            <a:ext cx="4297680" cy="749808"/>
          </a:xfrm>
          <a:prstGeom prst="rect">
            <a:avLst/>
          </a:prstGeom>
          <a:noFill/>
        </p:spPr>
        <p:txBody>
          <a:bodyPr wrap="square">
            <a:spAutoFit/>
          </a:bodyPr>
          <a:lstStyle/>
          <a:p>
            <a:pPr algn="l"/>
            <a:r>
              <a:rPr sz="1100" b="0" i="0">
                <a:solidFill>
                  <a:srgbClr val="FFFFFF"/>
                </a:solidFill>
              </a:rPr>
              <a:t>Develop an intelligent multi-channel phishing detection system using hybrid AI models.</a:t>
            </a:r>
          </a:p>
        </p:txBody>
      </p:sp>
      <p:sp>
        <p:nvSpPr>
          <p:cNvPr id="31" name="Rectangle 30"/>
          <p:cNvSpPr/>
          <p:nvPr/>
        </p:nvSpPr>
        <p:spPr>
          <a:xfrm>
            <a:off x="6108192" y="2596896"/>
            <a:ext cx="5669280" cy="877824"/>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08192" y="2596896"/>
            <a:ext cx="64008" cy="877824"/>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36208" y="2651760"/>
            <a:ext cx="1005840" cy="320040"/>
          </a:xfrm>
          <a:prstGeom prst="rect">
            <a:avLst/>
          </a:prstGeom>
          <a:noFill/>
        </p:spPr>
        <p:txBody>
          <a:bodyPr wrap="square">
            <a:spAutoFit/>
          </a:bodyPr>
          <a:lstStyle/>
          <a:p>
            <a:pPr algn="l"/>
            <a:r>
              <a:rPr sz="1100" b="1" i="0">
                <a:solidFill>
                  <a:srgbClr val="39FF14"/>
                </a:solidFill>
              </a:rPr>
              <a:t>Obj 2:</a:t>
            </a:r>
          </a:p>
        </p:txBody>
      </p:sp>
      <p:sp>
        <p:nvSpPr>
          <p:cNvPr id="34" name="TextBox 33"/>
          <p:cNvSpPr txBox="1"/>
          <p:nvPr/>
        </p:nvSpPr>
        <p:spPr>
          <a:xfrm>
            <a:off x="7278624" y="2651760"/>
            <a:ext cx="4297680" cy="749808"/>
          </a:xfrm>
          <a:prstGeom prst="rect">
            <a:avLst/>
          </a:prstGeom>
          <a:noFill/>
        </p:spPr>
        <p:txBody>
          <a:bodyPr wrap="square">
            <a:spAutoFit/>
          </a:bodyPr>
          <a:lstStyle/>
          <a:p>
            <a:pPr algn="l"/>
            <a:r>
              <a:rPr sz="1100" b="0" i="0">
                <a:solidFill>
                  <a:srgbClr val="FFFFFF"/>
                </a:solidFill>
              </a:rPr>
              <a:t>Use DistilBERT to extract semantic NLP features from email and SMS phishing text.</a:t>
            </a:r>
          </a:p>
        </p:txBody>
      </p:sp>
      <p:sp>
        <p:nvSpPr>
          <p:cNvPr id="35" name="Rectangle 34"/>
          <p:cNvSpPr/>
          <p:nvPr/>
        </p:nvSpPr>
        <p:spPr>
          <a:xfrm>
            <a:off x="6108192" y="3566160"/>
            <a:ext cx="5669280" cy="877824"/>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08192" y="3566160"/>
            <a:ext cx="64008" cy="877824"/>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36208" y="3621024"/>
            <a:ext cx="1005840" cy="320040"/>
          </a:xfrm>
          <a:prstGeom prst="rect">
            <a:avLst/>
          </a:prstGeom>
          <a:noFill/>
        </p:spPr>
        <p:txBody>
          <a:bodyPr wrap="square">
            <a:spAutoFit/>
          </a:bodyPr>
          <a:lstStyle/>
          <a:p>
            <a:pPr algn="l"/>
            <a:r>
              <a:rPr sz="1100" b="1" i="0">
                <a:solidFill>
                  <a:srgbClr val="39FF14"/>
                </a:solidFill>
              </a:rPr>
              <a:t>Obj 3:</a:t>
            </a:r>
          </a:p>
        </p:txBody>
      </p:sp>
      <p:sp>
        <p:nvSpPr>
          <p:cNvPr id="38" name="TextBox 37"/>
          <p:cNvSpPr txBox="1"/>
          <p:nvPr/>
        </p:nvSpPr>
        <p:spPr>
          <a:xfrm>
            <a:off x="7278624" y="3621024"/>
            <a:ext cx="4297680" cy="749808"/>
          </a:xfrm>
          <a:prstGeom prst="rect">
            <a:avLst/>
          </a:prstGeom>
          <a:noFill/>
        </p:spPr>
        <p:txBody>
          <a:bodyPr wrap="square">
            <a:spAutoFit/>
          </a:bodyPr>
          <a:lstStyle/>
          <a:p>
            <a:pPr algn="l"/>
            <a:r>
              <a:rPr sz="1100" b="0" i="0">
                <a:solidFill>
                  <a:srgbClr val="FFFFFF"/>
                </a:solidFill>
              </a:rPr>
              <a:t>Use XGBoost to classify phishing URLs using structural and lexical features.</a:t>
            </a:r>
          </a:p>
        </p:txBody>
      </p:sp>
      <p:sp>
        <p:nvSpPr>
          <p:cNvPr id="39" name="Rectangle 38"/>
          <p:cNvSpPr/>
          <p:nvPr/>
        </p:nvSpPr>
        <p:spPr>
          <a:xfrm>
            <a:off x="6108192" y="4535424"/>
            <a:ext cx="5669280" cy="877824"/>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08192" y="4535424"/>
            <a:ext cx="64008" cy="877824"/>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36208" y="4590288"/>
            <a:ext cx="1005840" cy="320040"/>
          </a:xfrm>
          <a:prstGeom prst="rect">
            <a:avLst/>
          </a:prstGeom>
          <a:noFill/>
        </p:spPr>
        <p:txBody>
          <a:bodyPr wrap="square">
            <a:spAutoFit/>
          </a:bodyPr>
          <a:lstStyle/>
          <a:p>
            <a:pPr algn="l"/>
            <a:r>
              <a:rPr sz="1100" b="1" i="0">
                <a:solidFill>
                  <a:srgbClr val="39FF14"/>
                </a:solidFill>
              </a:rPr>
              <a:t>Obj 4:</a:t>
            </a:r>
          </a:p>
        </p:txBody>
      </p:sp>
      <p:sp>
        <p:nvSpPr>
          <p:cNvPr id="42" name="TextBox 41"/>
          <p:cNvSpPr txBox="1"/>
          <p:nvPr/>
        </p:nvSpPr>
        <p:spPr>
          <a:xfrm>
            <a:off x="7278624" y="4590288"/>
            <a:ext cx="4297680" cy="749808"/>
          </a:xfrm>
          <a:prstGeom prst="rect">
            <a:avLst/>
          </a:prstGeom>
          <a:noFill/>
        </p:spPr>
        <p:txBody>
          <a:bodyPr wrap="square">
            <a:spAutoFit/>
          </a:bodyPr>
          <a:lstStyle/>
          <a:p>
            <a:pPr algn="l"/>
            <a:r>
              <a:rPr sz="1100" b="0" i="0">
                <a:solidFill>
                  <a:srgbClr val="FFFFFF"/>
                </a:solidFill>
              </a:rPr>
              <a:t>Combine DistilBERT + XGBoost in a hybrid model to improve accuracy and reduce false positives.</a:t>
            </a:r>
          </a:p>
        </p:txBody>
      </p:sp>
      <p:sp>
        <p:nvSpPr>
          <p:cNvPr id="43" name="Rectangle 42"/>
          <p:cNvSpPr/>
          <p:nvPr/>
        </p:nvSpPr>
        <p:spPr>
          <a:xfrm>
            <a:off x="6108192" y="5504688"/>
            <a:ext cx="5669280" cy="877824"/>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08192" y="5504688"/>
            <a:ext cx="64008" cy="877824"/>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36208" y="5559551"/>
            <a:ext cx="1005840" cy="320040"/>
          </a:xfrm>
          <a:prstGeom prst="rect">
            <a:avLst/>
          </a:prstGeom>
          <a:noFill/>
        </p:spPr>
        <p:txBody>
          <a:bodyPr wrap="square">
            <a:spAutoFit/>
          </a:bodyPr>
          <a:lstStyle/>
          <a:p>
            <a:pPr algn="l"/>
            <a:r>
              <a:rPr sz="1100" b="1" i="0">
                <a:solidFill>
                  <a:srgbClr val="39FF14"/>
                </a:solidFill>
              </a:rPr>
              <a:t>Obj 5:</a:t>
            </a:r>
          </a:p>
        </p:txBody>
      </p:sp>
      <p:sp>
        <p:nvSpPr>
          <p:cNvPr id="46" name="TextBox 45"/>
          <p:cNvSpPr txBox="1"/>
          <p:nvPr/>
        </p:nvSpPr>
        <p:spPr>
          <a:xfrm>
            <a:off x="7278624" y="5559551"/>
            <a:ext cx="4297680" cy="749808"/>
          </a:xfrm>
          <a:prstGeom prst="rect">
            <a:avLst/>
          </a:prstGeom>
          <a:noFill/>
        </p:spPr>
        <p:txBody>
          <a:bodyPr wrap="square">
            <a:spAutoFit/>
          </a:bodyPr>
          <a:lstStyle/>
          <a:p>
            <a:pPr algn="l"/>
            <a:r>
              <a:rPr sz="1100" b="0" i="0">
                <a:solidFill>
                  <a:srgbClr val="FFFFFF"/>
                </a:solidFill>
              </a:rPr>
              <a:t>Enable detection across three channels: URLs, Emails, and SMS messages simultaneously.</a:t>
            </a:r>
          </a:p>
        </p:txBody>
      </p:sp>
      <p:sp>
        <p:nvSpPr>
          <p:cNvPr id="47" name="TextBox 46"/>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3 / 13</a:t>
            </a:r>
          </a:p>
        </p:txBody>
      </p:sp>
      <p:sp>
        <p:nvSpPr>
          <p:cNvPr id="48" name="Rectangle 47"/>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PhishGuard targets the gap: no existing system detects phishing simultaneously across URLs, emails, and SMS with semantic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98755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 y="45720"/>
            <a:ext cx="10241280" cy="566928"/>
          </a:xfrm>
          <a:prstGeom prst="rect">
            <a:avLst/>
          </a:prstGeom>
          <a:noFill/>
        </p:spPr>
        <p:txBody>
          <a:bodyPr wrap="square">
            <a:spAutoFit/>
          </a:bodyPr>
          <a:lstStyle/>
          <a:p>
            <a:pPr algn="l"/>
            <a:r>
              <a:rPr sz="2800" b="1" i="0">
                <a:solidFill>
                  <a:srgbClr val="FFFFFF"/>
                </a:solidFill>
              </a:rPr>
              <a:t>Existing System</a:t>
            </a:r>
          </a:p>
        </p:txBody>
      </p:sp>
      <p:sp>
        <p:nvSpPr>
          <p:cNvPr id="7" name="TextBox 6"/>
          <p:cNvSpPr txBox="1"/>
          <p:nvPr/>
        </p:nvSpPr>
        <p:spPr>
          <a:xfrm>
            <a:off x="164592" y="603504"/>
            <a:ext cx="10241280" cy="329184"/>
          </a:xfrm>
          <a:prstGeom prst="rect">
            <a:avLst/>
          </a:prstGeom>
          <a:noFill/>
        </p:spPr>
        <p:txBody>
          <a:bodyPr wrap="square">
            <a:spAutoFit/>
          </a:bodyPr>
          <a:lstStyle/>
          <a:p>
            <a:pPr algn="l"/>
            <a:r>
              <a:rPr sz="1250" b="0" i="1">
                <a:solidFill>
                  <a:srgbClr val="39FF14"/>
                </a:solidFill>
              </a:rPr>
              <a:t>Literature Survey &amp; Prior Phishing Detection Methods</a:t>
            </a:r>
          </a:p>
        </p:txBody>
      </p:sp>
      <p:sp>
        <p:nvSpPr>
          <p:cNvPr id="8" name="TextBox 7"/>
          <p:cNvSpPr txBox="1"/>
          <p:nvPr/>
        </p:nvSpPr>
        <p:spPr>
          <a:xfrm>
            <a:off x="8046720" y="676656"/>
            <a:ext cx="4023360" cy="256032"/>
          </a:xfrm>
          <a:prstGeom prst="rect">
            <a:avLst/>
          </a:prstGeom>
          <a:noFill/>
        </p:spPr>
        <p:txBody>
          <a:bodyPr wrap="square">
            <a:spAutoFit/>
          </a:bodyPr>
          <a:lstStyle/>
          <a:p>
            <a:pPr algn="r"/>
            <a:r>
              <a:rPr sz="900" b="0" i="0">
                <a:solidFill>
                  <a:srgbClr val="B8D8F0"/>
                </a:solidFill>
              </a:rPr>
              <a:t>PhishGuard | AI-Powered Phishing Detection</a:t>
            </a:r>
          </a:p>
        </p:txBody>
      </p:sp>
      <p:sp>
        <p:nvSpPr>
          <p:cNvPr id="9" name="Rectangle 8"/>
          <p:cNvSpPr/>
          <p:nvPr/>
        </p:nvSpPr>
        <p:spPr>
          <a:xfrm>
            <a:off x="274320" y="1097280"/>
            <a:ext cx="2176272" cy="33375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097280"/>
            <a:ext cx="2176272" cy="50292"/>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170432"/>
            <a:ext cx="2176272" cy="594360"/>
          </a:xfrm>
          <a:prstGeom prst="rect">
            <a:avLst/>
          </a:prstGeom>
          <a:noFill/>
        </p:spPr>
        <p:txBody>
          <a:bodyPr wrap="square">
            <a:spAutoFit/>
          </a:bodyPr>
          <a:lstStyle/>
          <a:p>
            <a:pPr algn="ctr"/>
            <a:r>
              <a:rPr sz="2800" b="0" i="0">
                <a:solidFill>
                  <a:srgbClr val="FFFFFF"/>
                </a:solidFill>
              </a:rPr>
              <a:t>🌐</a:t>
            </a:r>
          </a:p>
        </p:txBody>
      </p:sp>
      <p:sp>
        <p:nvSpPr>
          <p:cNvPr id="12" name="TextBox 11"/>
          <p:cNvSpPr txBox="1"/>
          <p:nvPr/>
        </p:nvSpPr>
        <p:spPr>
          <a:xfrm>
            <a:off x="274320" y="1737360"/>
            <a:ext cx="2176272" cy="566928"/>
          </a:xfrm>
          <a:prstGeom prst="rect">
            <a:avLst/>
          </a:prstGeom>
          <a:noFill/>
        </p:spPr>
        <p:txBody>
          <a:bodyPr wrap="square">
            <a:spAutoFit/>
          </a:bodyPr>
          <a:lstStyle/>
          <a:p>
            <a:pPr algn="ctr"/>
            <a:r>
              <a:rPr sz="1200" b="1" i="0">
                <a:solidFill>
                  <a:srgbClr val="FFCC00"/>
                </a:solidFill>
              </a:rPr>
              <a:t>XGBoost URL
Detection (2025)</a:t>
            </a:r>
          </a:p>
        </p:txBody>
      </p:sp>
      <p:sp>
        <p:nvSpPr>
          <p:cNvPr id="13" name="Rectangle 12"/>
          <p:cNvSpPr/>
          <p:nvPr/>
        </p:nvSpPr>
        <p:spPr>
          <a:xfrm>
            <a:off x="438912" y="2304288"/>
            <a:ext cx="1847088"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2395728"/>
            <a:ext cx="1956815" cy="1956816"/>
          </a:xfrm>
          <a:prstGeom prst="rect">
            <a:avLst/>
          </a:prstGeom>
          <a:noFill/>
        </p:spPr>
        <p:txBody>
          <a:bodyPr wrap="square">
            <a:spAutoFit/>
          </a:bodyPr>
          <a:lstStyle/>
          <a:p>
            <a:pPr algn="l"/>
            <a:r>
              <a:rPr sz="1150" b="0" i="0">
                <a:solidFill>
                  <a:srgbClr val="B8D8F0"/>
                </a:solidFill>
              </a:rPr>
              <a:t>Gradient boosting on structural &amp; lexical URL features. High URL accuracy (~97%) but no text/email analysis.</a:t>
            </a:r>
          </a:p>
        </p:txBody>
      </p:sp>
      <p:sp>
        <p:nvSpPr>
          <p:cNvPr id="15" name="Rectangle 14"/>
          <p:cNvSpPr/>
          <p:nvPr/>
        </p:nvSpPr>
        <p:spPr>
          <a:xfrm>
            <a:off x="2670048" y="1097280"/>
            <a:ext cx="2176272" cy="33375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70048" y="1097280"/>
            <a:ext cx="2176272"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70048" y="1170432"/>
            <a:ext cx="2176272" cy="594360"/>
          </a:xfrm>
          <a:prstGeom prst="rect">
            <a:avLst/>
          </a:prstGeom>
          <a:noFill/>
        </p:spPr>
        <p:txBody>
          <a:bodyPr wrap="square">
            <a:spAutoFit/>
          </a:bodyPr>
          <a:lstStyle/>
          <a:p>
            <a:pPr algn="ctr"/>
            <a:r>
              <a:rPr sz="2800" b="0" i="0">
                <a:solidFill>
                  <a:srgbClr val="FFFFFF"/>
                </a:solidFill>
              </a:rPr>
              <a:t>🤖</a:t>
            </a:r>
          </a:p>
        </p:txBody>
      </p:sp>
      <p:sp>
        <p:nvSpPr>
          <p:cNvPr id="18" name="TextBox 17"/>
          <p:cNvSpPr txBox="1"/>
          <p:nvPr/>
        </p:nvSpPr>
        <p:spPr>
          <a:xfrm>
            <a:off x="2670048" y="1737360"/>
            <a:ext cx="2176272" cy="566928"/>
          </a:xfrm>
          <a:prstGeom prst="rect">
            <a:avLst/>
          </a:prstGeom>
          <a:noFill/>
        </p:spPr>
        <p:txBody>
          <a:bodyPr wrap="square">
            <a:spAutoFit/>
          </a:bodyPr>
          <a:lstStyle/>
          <a:p>
            <a:pPr algn="ctr"/>
            <a:r>
              <a:rPr sz="1200" b="1" i="0">
                <a:solidFill>
                  <a:srgbClr val="00D4FF"/>
                </a:solidFill>
              </a:rPr>
              <a:t>Ensemble
Learning (2024)</a:t>
            </a:r>
          </a:p>
        </p:txBody>
      </p:sp>
      <p:sp>
        <p:nvSpPr>
          <p:cNvPr id="19" name="Rectangle 18"/>
          <p:cNvSpPr/>
          <p:nvPr/>
        </p:nvSpPr>
        <p:spPr>
          <a:xfrm>
            <a:off x="2834640" y="2304288"/>
            <a:ext cx="1847088"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79776" y="2395728"/>
            <a:ext cx="1956815" cy="1956816"/>
          </a:xfrm>
          <a:prstGeom prst="rect">
            <a:avLst/>
          </a:prstGeom>
          <a:noFill/>
        </p:spPr>
        <p:txBody>
          <a:bodyPr wrap="square">
            <a:spAutoFit/>
          </a:bodyPr>
          <a:lstStyle/>
          <a:p>
            <a:pPr algn="l"/>
            <a:r>
              <a:rPr sz="1150" b="0" i="0">
                <a:solidFill>
                  <a:srgbClr val="B8D8F0"/>
                </a:solidFill>
              </a:rPr>
              <a:t>Combines multiple ML algorithms for better classification. Improves accuracy but high computational cost.</a:t>
            </a:r>
          </a:p>
        </p:txBody>
      </p:sp>
      <p:sp>
        <p:nvSpPr>
          <p:cNvPr id="21" name="Rectangle 20"/>
          <p:cNvSpPr/>
          <p:nvPr/>
        </p:nvSpPr>
        <p:spPr>
          <a:xfrm>
            <a:off x="5065776" y="1097280"/>
            <a:ext cx="2176272" cy="33375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65776" y="1097280"/>
            <a:ext cx="2176272" cy="5029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65776" y="1170432"/>
            <a:ext cx="2176272" cy="594360"/>
          </a:xfrm>
          <a:prstGeom prst="rect">
            <a:avLst/>
          </a:prstGeom>
          <a:noFill/>
        </p:spPr>
        <p:txBody>
          <a:bodyPr wrap="square">
            <a:spAutoFit/>
          </a:bodyPr>
          <a:lstStyle/>
          <a:p>
            <a:pPr algn="ctr"/>
            <a:r>
              <a:rPr sz="2800" b="0" i="0">
                <a:solidFill>
                  <a:srgbClr val="FFFFFF"/>
                </a:solidFill>
              </a:rPr>
              <a:t>🧠</a:t>
            </a:r>
          </a:p>
        </p:txBody>
      </p:sp>
      <p:sp>
        <p:nvSpPr>
          <p:cNvPr id="24" name="TextBox 23"/>
          <p:cNvSpPr txBox="1"/>
          <p:nvPr/>
        </p:nvSpPr>
        <p:spPr>
          <a:xfrm>
            <a:off x="5065776" y="1737360"/>
            <a:ext cx="2176272" cy="566928"/>
          </a:xfrm>
          <a:prstGeom prst="rect">
            <a:avLst/>
          </a:prstGeom>
          <a:noFill/>
        </p:spPr>
        <p:txBody>
          <a:bodyPr wrap="square">
            <a:spAutoFit/>
          </a:bodyPr>
          <a:lstStyle/>
          <a:p>
            <a:pPr algn="ctr"/>
            <a:r>
              <a:rPr sz="1200" b="1" i="0">
                <a:solidFill>
                  <a:srgbClr val="00FFC8"/>
                </a:solidFill>
              </a:rPr>
              <a:t>BERT Email
Detection (2024)</a:t>
            </a:r>
          </a:p>
        </p:txBody>
      </p:sp>
      <p:sp>
        <p:nvSpPr>
          <p:cNvPr id="25" name="Rectangle 24"/>
          <p:cNvSpPr/>
          <p:nvPr/>
        </p:nvSpPr>
        <p:spPr>
          <a:xfrm>
            <a:off x="5230368" y="2304288"/>
            <a:ext cx="1847088" cy="36576"/>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75504" y="2395728"/>
            <a:ext cx="1956815" cy="1956816"/>
          </a:xfrm>
          <a:prstGeom prst="rect">
            <a:avLst/>
          </a:prstGeom>
          <a:noFill/>
        </p:spPr>
        <p:txBody>
          <a:bodyPr wrap="square">
            <a:spAutoFit/>
          </a:bodyPr>
          <a:lstStyle/>
          <a:p>
            <a:pPr algn="l"/>
            <a:r>
              <a:rPr sz="1150" b="0" i="0">
                <a:solidFill>
                  <a:srgbClr val="B8D8F0"/>
                </a:solidFill>
              </a:rPr>
              <a:t>Transformer-based contextual analysis of email content. Strong semantic understanding but large model size.</a:t>
            </a:r>
          </a:p>
        </p:txBody>
      </p:sp>
      <p:sp>
        <p:nvSpPr>
          <p:cNvPr id="27" name="Rectangle 26"/>
          <p:cNvSpPr/>
          <p:nvPr/>
        </p:nvSpPr>
        <p:spPr>
          <a:xfrm>
            <a:off x="7461504" y="1097280"/>
            <a:ext cx="2176272" cy="33375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61504" y="1097280"/>
            <a:ext cx="2176272" cy="50292"/>
          </a:xfrm>
          <a:prstGeom prst="rect">
            <a:avLst/>
          </a:prstGeom>
          <a:solidFill>
            <a:srgbClr val="A0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1504" y="1170432"/>
            <a:ext cx="2176272" cy="594360"/>
          </a:xfrm>
          <a:prstGeom prst="rect">
            <a:avLst/>
          </a:prstGeom>
          <a:noFill/>
        </p:spPr>
        <p:txBody>
          <a:bodyPr wrap="square">
            <a:spAutoFit/>
          </a:bodyPr>
          <a:lstStyle/>
          <a:p>
            <a:pPr algn="ctr"/>
            <a:r>
              <a:rPr sz="2800" b="0" i="0">
                <a:solidFill>
                  <a:srgbClr val="FFFFFF"/>
                </a:solidFill>
              </a:rPr>
              <a:t>🔗</a:t>
            </a:r>
          </a:p>
        </p:txBody>
      </p:sp>
      <p:sp>
        <p:nvSpPr>
          <p:cNvPr id="30" name="TextBox 29"/>
          <p:cNvSpPr txBox="1"/>
          <p:nvPr/>
        </p:nvSpPr>
        <p:spPr>
          <a:xfrm>
            <a:off x="7461504" y="1737360"/>
            <a:ext cx="2176272" cy="566928"/>
          </a:xfrm>
          <a:prstGeom prst="rect">
            <a:avLst/>
          </a:prstGeom>
          <a:noFill/>
        </p:spPr>
        <p:txBody>
          <a:bodyPr wrap="square">
            <a:spAutoFit/>
          </a:bodyPr>
          <a:lstStyle/>
          <a:p>
            <a:pPr algn="ctr"/>
            <a:r>
              <a:rPr sz="1200" b="1" i="0">
                <a:solidFill>
                  <a:srgbClr val="A07EFF"/>
                </a:solidFill>
              </a:rPr>
              <a:t>LSTM-CNN
Hybrid (2023)</a:t>
            </a:r>
          </a:p>
        </p:txBody>
      </p:sp>
      <p:sp>
        <p:nvSpPr>
          <p:cNvPr id="31" name="Rectangle 30"/>
          <p:cNvSpPr/>
          <p:nvPr/>
        </p:nvSpPr>
        <p:spPr>
          <a:xfrm>
            <a:off x="7626096" y="2304288"/>
            <a:ext cx="1847088" cy="36576"/>
          </a:xfrm>
          <a:prstGeom prst="rect">
            <a:avLst/>
          </a:prstGeom>
          <a:solidFill>
            <a:srgbClr val="A0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2395728"/>
            <a:ext cx="1956815" cy="1956816"/>
          </a:xfrm>
          <a:prstGeom prst="rect">
            <a:avLst/>
          </a:prstGeom>
          <a:noFill/>
        </p:spPr>
        <p:txBody>
          <a:bodyPr wrap="square">
            <a:spAutoFit/>
          </a:bodyPr>
          <a:lstStyle/>
          <a:p>
            <a:pPr algn="l"/>
            <a:r>
              <a:rPr sz="1150" b="0" i="0">
                <a:solidFill>
                  <a:srgbClr val="B8D8F0"/>
                </a:solidFill>
              </a:rPr>
              <a:t>Combines LSTM + CNN for sequential URL patterns. Better accuracy but complex training and high resources.</a:t>
            </a:r>
          </a:p>
        </p:txBody>
      </p:sp>
      <p:sp>
        <p:nvSpPr>
          <p:cNvPr id="33" name="Rectangle 32"/>
          <p:cNvSpPr/>
          <p:nvPr/>
        </p:nvSpPr>
        <p:spPr>
          <a:xfrm>
            <a:off x="9857232" y="1097280"/>
            <a:ext cx="2176272" cy="33375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857232" y="1097280"/>
            <a:ext cx="2176272" cy="502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57232" y="1170432"/>
            <a:ext cx="2176272" cy="594360"/>
          </a:xfrm>
          <a:prstGeom prst="rect">
            <a:avLst/>
          </a:prstGeom>
          <a:noFill/>
        </p:spPr>
        <p:txBody>
          <a:bodyPr wrap="square">
            <a:spAutoFit/>
          </a:bodyPr>
          <a:lstStyle/>
          <a:p>
            <a:pPr algn="ctr"/>
            <a:r>
              <a:rPr sz="2800" b="0" i="0">
                <a:solidFill>
                  <a:srgbClr val="FFFFFF"/>
                </a:solidFill>
              </a:rPr>
              <a:t>🌲</a:t>
            </a:r>
          </a:p>
        </p:txBody>
      </p:sp>
      <p:sp>
        <p:nvSpPr>
          <p:cNvPr id="36" name="TextBox 35"/>
          <p:cNvSpPr txBox="1"/>
          <p:nvPr/>
        </p:nvSpPr>
        <p:spPr>
          <a:xfrm>
            <a:off x="9857232" y="1737360"/>
            <a:ext cx="2176272" cy="566928"/>
          </a:xfrm>
          <a:prstGeom prst="rect">
            <a:avLst/>
          </a:prstGeom>
          <a:noFill/>
        </p:spPr>
        <p:txBody>
          <a:bodyPr wrap="square">
            <a:spAutoFit/>
          </a:bodyPr>
          <a:lstStyle/>
          <a:p>
            <a:pPr algn="ctr"/>
            <a:r>
              <a:rPr sz="1200" b="1" i="0">
                <a:solidFill>
                  <a:srgbClr val="FF6B35"/>
                </a:solidFill>
              </a:rPr>
              <a:t>Random Forest
&amp; SVM (2021)</a:t>
            </a:r>
          </a:p>
        </p:txBody>
      </p:sp>
      <p:sp>
        <p:nvSpPr>
          <p:cNvPr id="37" name="Rectangle 36"/>
          <p:cNvSpPr/>
          <p:nvPr/>
        </p:nvSpPr>
        <p:spPr>
          <a:xfrm>
            <a:off x="10021824" y="2304288"/>
            <a:ext cx="1847088"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966960" y="2395728"/>
            <a:ext cx="1956815" cy="1956816"/>
          </a:xfrm>
          <a:prstGeom prst="rect">
            <a:avLst/>
          </a:prstGeom>
          <a:noFill/>
        </p:spPr>
        <p:txBody>
          <a:bodyPr wrap="square">
            <a:spAutoFit/>
          </a:bodyPr>
          <a:lstStyle/>
          <a:p>
            <a:pPr algn="l"/>
            <a:r>
              <a:rPr sz="1150" b="0" i="0">
                <a:solidFill>
                  <a:srgbClr val="B8D8F0"/>
                </a:solidFill>
              </a:rPr>
              <a:t>Analyzes hyperlink and URL structure features. Simple and efficient but cannot handle semantic text patterns.</a:t>
            </a:r>
          </a:p>
        </p:txBody>
      </p:sp>
      <p:sp>
        <p:nvSpPr>
          <p:cNvPr id="39" name="Rectangle 38"/>
          <p:cNvSpPr/>
          <p:nvPr/>
        </p:nvSpPr>
        <p:spPr>
          <a:xfrm>
            <a:off x="274320" y="4572000"/>
            <a:ext cx="2880360"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 y="4617720"/>
            <a:ext cx="2788920" cy="219456"/>
          </a:xfrm>
          <a:prstGeom prst="rect">
            <a:avLst/>
          </a:prstGeom>
          <a:noFill/>
        </p:spPr>
        <p:txBody>
          <a:bodyPr wrap="square">
            <a:spAutoFit/>
          </a:bodyPr>
          <a:lstStyle/>
          <a:p>
            <a:pPr algn="ctr"/>
            <a:r>
              <a:rPr sz="1050" b="1" i="0">
                <a:solidFill>
                  <a:srgbClr val="070E1A"/>
                </a:solidFill>
              </a:rPr>
              <a:t>Paper / System</a:t>
            </a:r>
          </a:p>
        </p:txBody>
      </p:sp>
      <p:sp>
        <p:nvSpPr>
          <p:cNvPr id="41" name="Rectangle 40"/>
          <p:cNvSpPr/>
          <p:nvPr/>
        </p:nvSpPr>
        <p:spPr>
          <a:xfrm>
            <a:off x="3200400" y="4572000"/>
            <a:ext cx="4069080"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46120" y="4617720"/>
            <a:ext cx="3977640" cy="219456"/>
          </a:xfrm>
          <a:prstGeom prst="rect">
            <a:avLst/>
          </a:prstGeom>
          <a:noFill/>
        </p:spPr>
        <p:txBody>
          <a:bodyPr wrap="square">
            <a:spAutoFit/>
          </a:bodyPr>
          <a:lstStyle/>
          <a:p>
            <a:pPr algn="ctr"/>
            <a:r>
              <a:rPr sz="1050" b="1" i="0">
                <a:solidFill>
                  <a:srgbClr val="070E1A"/>
                </a:solidFill>
              </a:rPr>
              <a:t>Methodology</a:t>
            </a:r>
          </a:p>
        </p:txBody>
      </p:sp>
      <p:sp>
        <p:nvSpPr>
          <p:cNvPr id="43" name="Rectangle 42"/>
          <p:cNvSpPr/>
          <p:nvPr/>
        </p:nvSpPr>
        <p:spPr>
          <a:xfrm>
            <a:off x="7315200" y="4572000"/>
            <a:ext cx="1600200"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60920" y="4617720"/>
            <a:ext cx="1508760" cy="219456"/>
          </a:xfrm>
          <a:prstGeom prst="rect">
            <a:avLst/>
          </a:prstGeom>
          <a:noFill/>
        </p:spPr>
        <p:txBody>
          <a:bodyPr wrap="square">
            <a:spAutoFit/>
          </a:bodyPr>
          <a:lstStyle/>
          <a:p>
            <a:pPr algn="ctr"/>
            <a:r>
              <a:rPr sz="1050" b="1" i="0">
                <a:solidFill>
                  <a:srgbClr val="070E1A"/>
                </a:solidFill>
              </a:rPr>
              <a:t>Accuracy</a:t>
            </a:r>
          </a:p>
        </p:txBody>
      </p:sp>
      <p:sp>
        <p:nvSpPr>
          <p:cNvPr id="45" name="Rectangle 44"/>
          <p:cNvSpPr/>
          <p:nvPr/>
        </p:nvSpPr>
        <p:spPr>
          <a:xfrm>
            <a:off x="8961120" y="4572000"/>
            <a:ext cx="2926080"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06840" y="4617720"/>
            <a:ext cx="2834640" cy="219456"/>
          </a:xfrm>
          <a:prstGeom prst="rect">
            <a:avLst/>
          </a:prstGeom>
          <a:noFill/>
        </p:spPr>
        <p:txBody>
          <a:bodyPr wrap="square">
            <a:spAutoFit/>
          </a:bodyPr>
          <a:lstStyle/>
          <a:p>
            <a:pPr algn="ctr"/>
            <a:r>
              <a:rPr sz="1050" b="1" i="0">
                <a:solidFill>
                  <a:srgbClr val="070E1A"/>
                </a:solidFill>
              </a:rPr>
              <a:t>Limitation</a:t>
            </a:r>
          </a:p>
        </p:txBody>
      </p:sp>
      <p:sp>
        <p:nvSpPr>
          <p:cNvPr id="47" name="Rectangle 46"/>
          <p:cNvSpPr/>
          <p:nvPr/>
        </p:nvSpPr>
        <p:spPr>
          <a:xfrm>
            <a:off x="274320" y="4864608"/>
            <a:ext cx="288036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4901184"/>
            <a:ext cx="2788920" cy="237744"/>
          </a:xfrm>
          <a:prstGeom prst="rect">
            <a:avLst/>
          </a:prstGeom>
          <a:noFill/>
        </p:spPr>
        <p:txBody>
          <a:bodyPr wrap="square">
            <a:spAutoFit/>
          </a:bodyPr>
          <a:lstStyle/>
          <a:p>
            <a:pPr algn="l"/>
            <a:r>
              <a:rPr sz="1000" b="0" i="0">
                <a:solidFill>
                  <a:srgbClr val="39FF14"/>
                </a:solidFill>
              </a:rPr>
              <a:t>XGBoost URL Detection (2025)</a:t>
            </a:r>
          </a:p>
        </p:txBody>
      </p:sp>
      <p:sp>
        <p:nvSpPr>
          <p:cNvPr id="49" name="Rectangle 48"/>
          <p:cNvSpPr/>
          <p:nvPr/>
        </p:nvSpPr>
        <p:spPr>
          <a:xfrm>
            <a:off x="3200400" y="4864608"/>
            <a:ext cx="406908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46120" y="4901184"/>
            <a:ext cx="3977640" cy="237744"/>
          </a:xfrm>
          <a:prstGeom prst="rect">
            <a:avLst/>
          </a:prstGeom>
          <a:noFill/>
        </p:spPr>
        <p:txBody>
          <a:bodyPr wrap="square">
            <a:spAutoFit/>
          </a:bodyPr>
          <a:lstStyle/>
          <a:p>
            <a:pPr algn="l"/>
            <a:r>
              <a:rPr sz="1000" b="0" i="0">
                <a:solidFill>
                  <a:srgbClr val="FFFFFF"/>
                </a:solidFill>
              </a:rPr>
              <a:t>Gradient boosting on URL features</a:t>
            </a:r>
          </a:p>
        </p:txBody>
      </p:sp>
      <p:sp>
        <p:nvSpPr>
          <p:cNvPr id="51" name="Rectangle 50"/>
          <p:cNvSpPr/>
          <p:nvPr/>
        </p:nvSpPr>
        <p:spPr>
          <a:xfrm>
            <a:off x="7315200" y="4864608"/>
            <a:ext cx="160020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60920" y="4901184"/>
            <a:ext cx="1508760" cy="237744"/>
          </a:xfrm>
          <a:prstGeom prst="rect">
            <a:avLst/>
          </a:prstGeom>
          <a:noFill/>
        </p:spPr>
        <p:txBody>
          <a:bodyPr wrap="square">
            <a:spAutoFit/>
          </a:bodyPr>
          <a:lstStyle/>
          <a:p>
            <a:pPr algn="l"/>
            <a:r>
              <a:rPr sz="1000" b="0" i="0">
                <a:solidFill>
                  <a:srgbClr val="FFCC00"/>
                </a:solidFill>
              </a:rPr>
              <a:t>~97%</a:t>
            </a:r>
          </a:p>
        </p:txBody>
      </p:sp>
      <p:sp>
        <p:nvSpPr>
          <p:cNvPr id="53" name="Rectangle 52"/>
          <p:cNvSpPr/>
          <p:nvPr/>
        </p:nvSpPr>
        <p:spPr>
          <a:xfrm>
            <a:off x="8961120" y="4864608"/>
            <a:ext cx="292608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06840" y="4901184"/>
            <a:ext cx="2834640" cy="237744"/>
          </a:xfrm>
          <a:prstGeom prst="rect">
            <a:avLst/>
          </a:prstGeom>
          <a:noFill/>
        </p:spPr>
        <p:txBody>
          <a:bodyPr wrap="square">
            <a:spAutoFit/>
          </a:bodyPr>
          <a:lstStyle/>
          <a:p>
            <a:pPr algn="l"/>
            <a:r>
              <a:rPr sz="1000" b="0" i="0">
                <a:solidFill>
                  <a:srgbClr val="FFFFFF"/>
                </a:solidFill>
              </a:rPr>
              <a:t>No semantic/text analysis</a:t>
            </a:r>
          </a:p>
        </p:txBody>
      </p:sp>
      <p:sp>
        <p:nvSpPr>
          <p:cNvPr id="55" name="Rectangle 54"/>
          <p:cNvSpPr/>
          <p:nvPr/>
        </p:nvSpPr>
        <p:spPr>
          <a:xfrm>
            <a:off x="274320" y="5157216"/>
            <a:ext cx="2880360" cy="29260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0040" y="5193792"/>
            <a:ext cx="2788920" cy="237744"/>
          </a:xfrm>
          <a:prstGeom prst="rect">
            <a:avLst/>
          </a:prstGeom>
          <a:noFill/>
        </p:spPr>
        <p:txBody>
          <a:bodyPr wrap="square">
            <a:spAutoFit/>
          </a:bodyPr>
          <a:lstStyle/>
          <a:p>
            <a:pPr algn="l"/>
            <a:r>
              <a:rPr sz="1000" b="0" i="0">
                <a:solidFill>
                  <a:srgbClr val="39FF14"/>
                </a:solidFill>
              </a:rPr>
              <a:t>BERT Email Detection (2024)</a:t>
            </a:r>
          </a:p>
        </p:txBody>
      </p:sp>
      <p:sp>
        <p:nvSpPr>
          <p:cNvPr id="57" name="Rectangle 56"/>
          <p:cNvSpPr/>
          <p:nvPr/>
        </p:nvSpPr>
        <p:spPr>
          <a:xfrm>
            <a:off x="3200400" y="5157216"/>
            <a:ext cx="4069080" cy="29260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46120" y="5193792"/>
            <a:ext cx="3977640" cy="237744"/>
          </a:xfrm>
          <a:prstGeom prst="rect">
            <a:avLst/>
          </a:prstGeom>
          <a:noFill/>
        </p:spPr>
        <p:txBody>
          <a:bodyPr wrap="square">
            <a:spAutoFit/>
          </a:bodyPr>
          <a:lstStyle/>
          <a:p>
            <a:pPr algn="l"/>
            <a:r>
              <a:rPr sz="1000" b="0" i="0">
                <a:solidFill>
                  <a:srgbClr val="FFFFFF"/>
                </a:solidFill>
              </a:rPr>
              <a:t>Transformer contextual email analysis</a:t>
            </a:r>
          </a:p>
        </p:txBody>
      </p:sp>
      <p:sp>
        <p:nvSpPr>
          <p:cNvPr id="59" name="Rectangle 58"/>
          <p:cNvSpPr/>
          <p:nvPr/>
        </p:nvSpPr>
        <p:spPr>
          <a:xfrm>
            <a:off x="7315200" y="5157216"/>
            <a:ext cx="1600200" cy="29260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60920" y="5193792"/>
            <a:ext cx="1508760" cy="237744"/>
          </a:xfrm>
          <a:prstGeom prst="rect">
            <a:avLst/>
          </a:prstGeom>
          <a:noFill/>
        </p:spPr>
        <p:txBody>
          <a:bodyPr wrap="square">
            <a:spAutoFit/>
          </a:bodyPr>
          <a:lstStyle/>
          <a:p>
            <a:pPr algn="l"/>
            <a:r>
              <a:rPr sz="1000" b="0" i="0">
                <a:solidFill>
                  <a:srgbClr val="FFCC00"/>
                </a:solidFill>
              </a:rPr>
              <a:t>~95%</a:t>
            </a:r>
          </a:p>
        </p:txBody>
      </p:sp>
      <p:sp>
        <p:nvSpPr>
          <p:cNvPr id="61" name="Rectangle 60"/>
          <p:cNvSpPr/>
          <p:nvPr/>
        </p:nvSpPr>
        <p:spPr>
          <a:xfrm>
            <a:off x="8961120" y="5157216"/>
            <a:ext cx="2926080" cy="29260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006840" y="5193792"/>
            <a:ext cx="2834640" cy="237744"/>
          </a:xfrm>
          <a:prstGeom prst="rect">
            <a:avLst/>
          </a:prstGeom>
          <a:noFill/>
        </p:spPr>
        <p:txBody>
          <a:bodyPr wrap="square">
            <a:spAutoFit/>
          </a:bodyPr>
          <a:lstStyle/>
          <a:p>
            <a:pPr algn="l"/>
            <a:r>
              <a:rPr sz="1000" b="0" i="0">
                <a:solidFill>
                  <a:srgbClr val="FFFFFF"/>
                </a:solidFill>
              </a:rPr>
              <a:t>Large model; slow inference</a:t>
            </a:r>
          </a:p>
        </p:txBody>
      </p:sp>
      <p:sp>
        <p:nvSpPr>
          <p:cNvPr id="63" name="Rectangle 62"/>
          <p:cNvSpPr/>
          <p:nvPr/>
        </p:nvSpPr>
        <p:spPr>
          <a:xfrm>
            <a:off x="274320" y="5449824"/>
            <a:ext cx="288036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20040" y="5486400"/>
            <a:ext cx="2788920" cy="237744"/>
          </a:xfrm>
          <a:prstGeom prst="rect">
            <a:avLst/>
          </a:prstGeom>
          <a:noFill/>
        </p:spPr>
        <p:txBody>
          <a:bodyPr wrap="square">
            <a:spAutoFit/>
          </a:bodyPr>
          <a:lstStyle/>
          <a:p>
            <a:pPr algn="l"/>
            <a:r>
              <a:rPr sz="1000" b="0" i="0">
                <a:solidFill>
                  <a:srgbClr val="39FF14"/>
                </a:solidFill>
              </a:rPr>
              <a:t>LSTM-CNN Hybrid (2023)</a:t>
            </a:r>
          </a:p>
        </p:txBody>
      </p:sp>
      <p:sp>
        <p:nvSpPr>
          <p:cNvPr id="65" name="Rectangle 64"/>
          <p:cNvSpPr/>
          <p:nvPr/>
        </p:nvSpPr>
        <p:spPr>
          <a:xfrm>
            <a:off x="3200400" y="5449824"/>
            <a:ext cx="406908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46120" y="5486400"/>
            <a:ext cx="3977640" cy="237744"/>
          </a:xfrm>
          <a:prstGeom prst="rect">
            <a:avLst/>
          </a:prstGeom>
          <a:noFill/>
        </p:spPr>
        <p:txBody>
          <a:bodyPr wrap="square">
            <a:spAutoFit/>
          </a:bodyPr>
          <a:lstStyle/>
          <a:p>
            <a:pPr algn="l"/>
            <a:r>
              <a:rPr sz="1000" b="0" i="0">
                <a:solidFill>
                  <a:srgbClr val="FFFFFF"/>
                </a:solidFill>
              </a:rPr>
              <a:t>Sequential URL pattern learning</a:t>
            </a:r>
          </a:p>
        </p:txBody>
      </p:sp>
      <p:sp>
        <p:nvSpPr>
          <p:cNvPr id="67" name="Rectangle 66"/>
          <p:cNvSpPr/>
          <p:nvPr/>
        </p:nvSpPr>
        <p:spPr>
          <a:xfrm>
            <a:off x="7315200" y="5449824"/>
            <a:ext cx="160020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60920" y="5486400"/>
            <a:ext cx="1508760" cy="237744"/>
          </a:xfrm>
          <a:prstGeom prst="rect">
            <a:avLst/>
          </a:prstGeom>
          <a:noFill/>
        </p:spPr>
        <p:txBody>
          <a:bodyPr wrap="square">
            <a:spAutoFit/>
          </a:bodyPr>
          <a:lstStyle/>
          <a:p>
            <a:pPr algn="l"/>
            <a:r>
              <a:rPr sz="1000" b="0" i="0">
                <a:solidFill>
                  <a:srgbClr val="FFCC00"/>
                </a:solidFill>
              </a:rPr>
              <a:t>~93%</a:t>
            </a:r>
          </a:p>
        </p:txBody>
      </p:sp>
      <p:sp>
        <p:nvSpPr>
          <p:cNvPr id="69" name="Rectangle 68"/>
          <p:cNvSpPr/>
          <p:nvPr/>
        </p:nvSpPr>
        <p:spPr>
          <a:xfrm>
            <a:off x="8961120" y="5449824"/>
            <a:ext cx="292608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006840" y="5486400"/>
            <a:ext cx="2834640" cy="237744"/>
          </a:xfrm>
          <a:prstGeom prst="rect">
            <a:avLst/>
          </a:prstGeom>
          <a:noFill/>
        </p:spPr>
        <p:txBody>
          <a:bodyPr wrap="square">
            <a:spAutoFit/>
          </a:bodyPr>
          <a:lstStyle/>
          <a:p>
            <a:pPr algn="l"/>
            <a:r>
              <a:rPr sz="1000" b="0" i="0">
                <a:solidFill>
                  <a:srgbClr val="FFFFFF"/>
                </a:solidFill>
              </a:rPr>
              <a:t>High resource consumption</a:t>
            </a:r>
          </a:p>
        </p:txBody>
      </p:sp>
      <p:sp>
        <p:nvSpPr>
          <p:cNvPr id="71" name="Rectangle 70"/>
          <p:cNvSpPr/>
          <p:nvPr/>
        </p:nvSpPr>
        <p:spPr>
          <a:xfrm>
            <a:off x="274320" y="5742432"/>
            <a:ext cx="2880360" cy="29260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20040" y="5779008"/>
            <a:ext cx="2788920" cy="237744"/>
          </a:xfrm>
          <a:prstGeom prst="rect">
            <a:avLst/>
          </a:prstGeom>
          <a:noFill/>
        </p:spPr>
        <p:txBody>
          <a:bodyPr wrap="square">
            <a:spAutoFit/>
          </a:bodyPr>
          <a:lstStyle/>
          <a:p>
            <a:pPr algn="l"/>
            <a:r>
              <a:rPr sz="1000" b="0" i="0">
                <a:solidFill>
                  <a:srgbClr val="39FF14"/>
                </a:solidFill>
              </a:rPr>
              <a:t>Random Forest &amp; SVM (2021)</a:t>
            </a:r>
          </a:p>
        </p:txBody>
      </p:sp>
      <p:sp>
        <p:nvSpPr>
          <p:cNvPr id="73" name="Rectangle 72"/>
          <p:cNvSpPr/>
          <p:nvPr/>
        </p:nvSpPr>
        <p:spPr>
          <a:xfrm>
            <a:off x="3200400" y="5742432"/>
            <a:ext cx="4069080" cy="29260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46120" y="5779008"/>
            <a:ext cx="3977640" cy="237744"/>
          </a:xfrm>
          <a:prstGeom prst="rect">
            <a:avLst/>
          </a:prstGeom>
          <a:noFill/>
        </p:spPr>
        <p:txBody>
          <a:bodyPr wrap="square">
            <a:spAutoFit/>
          </a:bodyPr>
          <a:lstStyle/>
          <a:p>
            <a:pPr algn="l"/>
            <a:r>
              <a:rPr sz="1000" b="0" i="0">
                <a:solidFill>
                  <a:srgbClr val="FFFFFF"/>
                </a:solidFill>
              </a:rPr>
              <a:t>Hyperlink/URL structural classification</a:t>
            </a:r>
          </a:p>
        </p:txBody>
      </p:sp>
      <p:sp>
        <p:nvSpPr>
          <p:cNvPr id="75" name="Rectangle 74"/>
          <p:cNvSpPr/>
          <p:nvPr/>
        </p:nvSpPr>
        <p:spPr>
          <a:xfrm>
            <a:off x="7315200" y="5742432"/>
            <a:ext cx="1600200" cy="29260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360920" y="5779008"/>
            <a:ext cx="1508760" cy="237744"/>
          </a:xfrm>
          <a:prstGeom prst="rect">
            <a:avLst/>
          </a:prstGeom>
          <a:noFill/>
        </p:spPr>
        <p:txBody>
          <a:bodyPr wrap="square">
            <a:spAutoFit/>
          </a:bodyPr>
          <a:lstStyle/>
          <a:p>
            <a:pPr algn="l"/>
            <a:r>
              <a:rPr sz="1000" b="0" i="0">
                <a:solidFill>
                  <a:srgbClr val="FFCC00"/>
                </a:solidFill>
              </a:rPr>
              <a:t>~90%</a:t>
            </a:r>
          </a:p>
        </p:txBody>
      </p:sp>
      <p:sp>
        <p:nvSpPr>
          <p:cNvPr id="77" name="Rectangle 76"/>
          <p:cNvSpPr/>
          <p:nvPr/>
        </p:nvSpPr>
        <p:spPr>
          <a:xfrm>
            <a:off x="8961120" y="5742432"/>
            <a:ext cx="2926080" cy="29260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006840" y="5779008"/>
            <a:ext cx="2834640" cy="237744"/>
          </a:xfrm>
          <a:prstGeom prst="rect">
            <a:avLst/>
          </a:prstGeom>
          <a:noFill/>
        </p:spPr>
        <p:txBody>
          <a:bodyPr wrap="square">
            <a:spAutoFit/>
          </a:bodyPr>
          <a:lstStyle/>
          <a:p>
            <a:pPr algn="l"/>
            <a:r>
              <a:rPr sz="1000" b="0" i="0">
                <a:solidFill>
                  <a:srgbClr val="FFFFFF"/>
                </a:solidFill>
              </a:rPr>
              <a:t>No semantic pattern capture</a:t>
            </a:r>
          </a:p>
        </p:txBody>
      </p:sp>
      <p:sp>
        <p:nvSpPr>
          <p:cNvPr id="79" name="Rectangle 78"/>
          <p:cNvSpPr/>
          <p:nvPr/>
        </p:nvSpPr>
        <p:spPr>
          <a:xfrm>
            <a:off x="274320" y="6035040"/>
            <a:ext cx="288036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20040" y="6071616"/>
            <a:ext cx="2788920" cy="237744"/>
          </a:xfrm>
          <a:prstGeom prst="rect">
            <a:avLst/>
          </a:prstGeom>
          <a:noFill/>
        </p:spPr>
        <p:txBody>
          <a:bodyPr wrap="square">
            <a:spAutoFit/>
          </a:bodyPr>
          <a:lstStyle/>
          <a:p>
            <a:pPr algn="l"/>
            <a:r>
              <a:rPr sz="1000" b="0" i="0">
                <a:solidFill>
                  <a:srgbClr val="39FF14"/>
                </a:solidFill>
              </a:rPr>
              <a:t>CNN Detection (2021)</a:t>
            </a:r>
          </a:p>
        </p:txBody>
      </p:sp>
      <p:sp>
        <p:nvSpPr>
          <p:cNvPr id="81" name="Rectangle 80"/>
          <p:cNvSpPr/>
          <p:nvPr/>
        </p:nvSpPr>
        <p:spPr>
          <a:xfrm>
            <a:off x="3200400" y="6035040"/>
            <a:ext cx="406908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246120" y="6071616"/>
            <a:ext cx="3977640" cy="237744"/>
          </a:xfrm>
          <a:prstGeom prst="rect">
            <a:avLst/>
          </a:prstGeom>
          <a:noFill/>
        </p:spPr>
        <p:txBody>
          <a:bodyPr wrap="square">
            <a:spAutoFit/>
          </a:bodyPr>
          <a:lstStyle/>
          <a:p>
            <a:pPr algn="l"/>
            <a:r>
              <a:rPr sz="1000" b="0" i="0">
                <a:solidFill>
                  <a:srgbClr val="FFFFFF"/>
                </a:solidFill>
              </a:rPr>
              <a:t>Auto feature extraction from web pages</a:t>
            </a:r>
          </a:p>
        </p:txBody>
      </p:sp>
      <p:sp>
        <p:nvSpPr>
          <p:cNvPr id="83" name="Rectangle 82"/>
          <p:cNvSpPr/>
          <p:nvPr/>
        </p:nvSpPr>
        <p:spPr>
          <a:xfrm>
            <a:off x="7315200" y="6035040"/>
            <a:ext cx="160020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360920" y="6071616"/>
            <a:ext cx="1508760" cy="237744"/>
          </a:xfrm>
          <a:prstGeom prst="rect">
            <a:avLst/>
          </a:prstGeom>
          <a:noFill/>
        </p:spPr>
        <p:txBody>
          <a:bodyPr wrap="square">
            <a:spAutoFit/>
          </a:bodyPr>
          <a:lstStyle/>
          <a:p>
            <a:pPr algn="l"/>
            <a:r>
              <a:rPr sz="1000" b="0" i="0">
                <a:solidFill>
                  <a:srgbClr val="FFCC00"/>
                </a:solidFill>
              </a:rPr>
              <a:t>~92%</a:t>
            </a:r>
          </a:p>
        </p:txBody>
      </p:sp>
      <p:sp>
        <p:nvSpPr>
          <p:cNvPr id="85" name="Rectangle 84"/>
          <p:cNvSpPr/>
          <p:nvPr/>
        </p:nvSpPr>
        <p:spPr>
          <a:xfrm>
            <a:off x="8961120" y="6035040"/>
            <a:ext cx="2926080" cy="29260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006840" y="6071616"/>
            <a:ext cx="2834640" cy="237744"/>
          </a:xfrm>
          <a:prstGeom prst="rect">
            <a:avLst/>
          </a:prstGeom>
          <a:noFill/>
        </p:spPr>
        <p:txBody>
          <a:bodyPr wrap="square">
            <a:spAutoFit/>
          </a:bodyPr>
          <a:lstStyle/>
          <a:p>
            <a:pPr algn="l"/>
            <a:r>
              <a:rPr sz="1000" b="0" i="0">
                <a:solidFill>
                  <a:srgbClr val="FFFFFF"/>
                </a:solidFill>
              </a:rPr>
              <a:t>Needs large labelled data</a:t>
            </a:r>
          </a:p>
        </p:txBody>
      </p:sp>
      <p:sp>
        <p:nvSpPr>
          <p:cNvPr id="87" name="TextBox 86"/>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4 / 13</a:t>
            </a:r>
          </a:p>
        </p:txBody>
      </p:sp>
      <p:sp>
        <p:nvSpPr>
          <p:cNvPr id="88" name="Rectangle 87"/>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All existing systems are single-channel — none combine semantic NLP + structural URL analysis in a unified hybrid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98755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 y="45720"/>
            <a:ext cx="10241280" cy="566928"/>
          </a:xfrm>
          <a:prstGeom prst="rect">
            <a:avLst/>
          </a:prstGeom>
          <a:noFill/>
        </p:spPr>
        <p:txBody>
          <a:bodyPr wrap="square">
            <a:spAutoFit/>
          </a:bodyPr>
          <a:lstStyle/>
          <a:p>
            <a:pPr algn="l"/>
            <a:r>
              <a:rPr sz="2800" b="1" i="0">
                <a:solidFill>
                  <a:srgbClr val="FFFFFF"/>
                </a:solidFill>
              </a:rPr>
              <a:t>Existing System – Pros &amp; Cons</a:t>
            </a:r>
          </a:p>
        </p:txBody>
      </p:sp>
      <p:sp>
        <p:nvSpPr>
          <p:cNvPr id="7" name="TextBox 6"/>
          <p:cNvSpPr txBox="1"/>
          <p:nvPr/>
        </p:nvSpPr>
        <p:spPr>
          <a:xfrm>
            <a:off x="164592" y="603504"/>
            <a:ext cx="10241280" cy="329184"/>
          </a:xfrm>
          <a:prstGeom prst="rect">
            <a:avLst/>
          </a:prstGeom>
          <a:noFill/>
        </p:spPr>
        <p:txBody>
          <a:bodyPr wrap="square">
            <a:spAutoFit/>
          </a:bodyPr>
          <a:lstStyle/>
          <a:p>
            <a:pPr algn="l"/>
            <a:r>
              <a:rPr sz="1250" b="0" i="1">
                <a:solidFill>
                  <a:srgbClr val="39FF14"/>
                </a:solidFill>
              </a:rPr>
              <a:t>Critical Evaluation of Prior Phishing Detection Approaches</a:t>
            </a:r>
          </a:p>
        </p:txBody>
      </p:sp>
      <p:sp>
        <p:nvSpPr>
          <p:cNvPr id="8" name="TextBox 7"/>
          <p:cNvSpPr txBox="1"/>
          <p:nvPr/>
        </p:nvSpPr>
        <p:spPr>
          <a:xfrm>
            <a:off x="8046720" y="676656"/>
            <a:ext cx="4023360" cy="256032"/>
          </a:xfrm>
          <a:prstGeom prst="rect">
            <a:avLst/>
          </a:prstGeom>
          <a:noFill/>
        </p:spPr>
        <p:txBody>
          <a:bodyPr wrap="square">
            <a:spAutoFit/>
          </a:bodyPr>
          <a:lstStyle/>
          <a:p>
            <a:pPr algn="r"/>
            <a:r>
              <a:rPr sz="900" b="0" i="0">
                <a:solidFill>
                  <a:srgbClr val="B8D8F0"/>
                </a:solidFill>
              </a:rPr>
              <a:t>PhishGuard | AI-Powered Phishing Detection</a:t>
            </a:r>
          </a:p>
        </p:txBody>
      </p:sp>
      <p:sp>
        <p:nvSpPr>
          <p:cNvPr id="9" name="Rectangle 8"/>
          <p:cNvSpPr/>
          <p:nvPr/>
        </p:nvSpPr>
        <p:spPr>
          <a:xfrm>
            <a:off x="274320" y="1097280"/>
            <a:ext cx="5440680" cy="53949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097280"/>
            <a:ext cx="5440680" cy="457200"/>
          </a:xfrm>
          <a:prstGeom prst="rect">
            <a:avLst/>
          </a:prstGeom>
          <a:solidFill>
            <a:srgbClr val="004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161288"/>
            <a:ext cx="5166360" cy="347472"/>
          </a:xfrm>
          <a:prstGeom prst="rect">
            <a:avLst/>
          </a:prstGeom>
          <a:noFill/>
        </p:spPr>
        <p:txBody>
          <a:bodyPr wrap="square">
            <a:spAutoFit/>
          </a:bodyPr>
          <a:lstStyle/>
          <a:p>
            <a:pPr algn="l"/>
            <a:r>
              <a:rPr sz="1450" b="1" i="0">
                <a:solidFill>
                  <a:srgbClr val="00FFC8"/>
                </a:solidFill>
              </a:rPr>
              <a:t>✅   ADVANTAGES</a:t>
            </a:r>
          </a:p>
        </p:txBody>
      </p:sp>
      <p:sp>
        <p:nvSpPr>
          <p:cNvPr id="12" name="Rectangle 11"/>
          <p:cNvSpPr/>
          <p:nvPr/>
        </p:nvSpPr>
        <p:spPr>
          <a:xfrm>
            <a:off x="347472" y="1664208"/>
            <a:ext cx="525780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 y="1664208"/>
            <a:ext cx="54864" cy="71323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1709928"/>
            <a:ext cx="4983480" cy="274320"/>
          </a:xfrm>
          <a:prstGeom prst="rect">
            <a:avLst/>
          </a:prstGeom>
          <a:noFill/>
        </p:spPr>
        <p:txBody>
          <a:bodyPr wrap="square">
            <a:spAutoFit/>
          </a:bodyPr>
          <a:lstStyle/>
          <a:p>
            <a:pPr algn="l"/>
            <a:r>
              <a:rPr sz="1150" b="1" i="0">
                <a:solidFill>
                  <a:srgbClr val="00FFC8"/>
                </a:solidFill>
              </a:rPr>
              <a:t>High URL Accuracy</a:t>
            </a:r>
          </a:p>
        </p:txBody>
      </p:sp>
      <p:sp>
        <p:nvSpPr>
          <p:cNvPr id="15" name="TextBox 14"/>
          <p:cNvSpPr txBox="1"/>
          <p:nvPr/>
        </p:nvSpPr>
        <p:spPr>
          <a:xfrm>
            <a:off x="475488" y="1993392"/>
            <a:ext cx="4983480" cy="347472"/>
          </a:xfrm>
          <a:prstGeom prst="rect">
            <a:avLst/>
          </a:prstGeom>
          <a:noFill/>
        </p:spPr>
        <p:txBody>
          <a:bodyPr wrap="square">
            <a:spAutoFit/>
          </a:bodyPr>
          <a:lstStyle/>
          <a:p>
            <a:pPr algn="l"/>
            <a:r>
              <a:rPr sz="1050" b="0" i="0">
                <a:solidFill>
                  <a:srgbClr val="B8D8F0"/>
                </a:solidFill>
              </a:rPr>
              <a:t>XGBoost-based URL detection achieves ~97% accuracy on structured URL feature classification tasks.</a:t>
            </a:r>
          </a:p>
        </p:txBody>
      </p:sp>
      <p:sp>
        <p:nvSpPr>
          <p:cNvPr id="16" name="Rectangle 15"/>
          <p:cNvSpPr/>
          <p:nvPr/>
        </p:nvSpPr>
        <p:spPr>
          <a:xfrm>
            <a:off x="347472" y="2468880"/>
            <a:ext cx="525780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2468880"/>
            <a:ext cx="54864" cy="71323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2514600"/>
            <a:ext cx="4983480" cy="274320"/>
          </a:xfrm>
          <a:prstGeom prst="rect">
            <a:avLst/>
          </a:prstGeom>
          <a:noFill/>
        </p:spPr>
        <p:txBody>
          <a:bodyPr wrap="square">
            <a:spAutoFit/>
          </a:bodyPr>
          <a:lstStyle/>
          <a:p>
            <a:pPr algn="l"/>
            <a:r>
              <a:rPr sz="1150" b="1" i="0">
                <a:solidFill>
                  <a:srgbClr val="00FFC8"/>
                </a:solidFill>
              </a:rPr>
              <a:t>Semantic Understanding</a:t>
            </a:r>
          </a:p>
        </p:txBody>
      </p:sp>
      <p:sp>
        <p:nvSpPr>
          <p:cNvPr id="19" name="TextBox 18"/>
          <p:cNvSpPr txBox="1"/>
          <p:nvPr/>
        </p:nvSpPr>
        <p:spPr>
          <a:xfrm>
            <a:off x="475488" y="2798064"/>
            <a:ext cx="4983480" cy="347472"/>
          </a:xfrm>
          <a:prstGeom prst="rect">
            <a:avLst/>
          </a:prstGeom>
          <a:noFill/>
        </p:spPr>
        <p:txBody>
          <a:bodyPr wrap="square">
            <a:spAutoFit/>
          </a:bodyPr>
          <a:lstStyle/>
          <a:p>
            <a:pPr algn="l"/>
            <a:r>
              <a:rPr sz="1050" b="0" i="0">
                <a:solidFill>
                  <a:srgbClr val="B8D8F0"/>
                </a:solidFill>
              </a:rPr>
              <a:t>BERT-based models understand context and semantic meaning in email phishing text — going beyond keyword matching.</a:t>
            </a:r>
          </a:p>
        </p:txBody>
      </p:sp>
      <p:sp>
        <p:nvSpPr>
          <p:cNvPr id="20" name="Rectangle 19"/>
          <p:cNvSpPr/>
          <p:nvPr/>
        </p:nvSpPr>
        <p:spPr>
          <a:xfrm>
            <a:off x="347472" y="3273552"/>
            <a:ext cx="525780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7472" y="3273552"/>
            <a:ext cx="54864" cy="71323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3319272"/>
            <a:ext cx="4983480" cy="274320"/>
          </a:xfrm>
          <a:prstGeom prst="rect">
            <a:avLst/>
          </a:prstGeom>
          <a:noFill/>
        </p:spPr>
        <p:txBody>
          <a:bodyPr wrap="square">
            <a:spAutoFit/>
          </a:bodyPr>
          <a:lstStyle/>
          <a:p>
            <a:pPr algn="l"/>
            <a:r>
              <a:rPr sz="1150" b="1" i="0">
                <a:solidFill>
                  <a:srgbClr val="00FFC8"/>
                </a:solidFill>
              </a:rPr>
              <a:t>Sequential Learning</a:t>
            </a:r>
          </a:p>
        </p:txBody>
      </p:sp>
      <p:sp>
        <p:nvSpPr>
          <p:cNvPr id="23" name="TextBox 22"/>
          <p:cNvSpPr txBox="1"/>
          <p:nvPr/>
        </p:nvSpPr>
        <p:spPr>
          <a:xfrm>
            <a:off x="475488" y="3602736"/>
            <a:ext cx="4983480" cy="347472"/>
          </a:xfrm>
          <a:prstGeom prst="rect">
            <a:avLst/>
          </a:prstGeom>
          <a:noFill/>
        </p:spPr>
        <p:txBody>
          <a:bodyPr wrap="square">
            <a:spAutoFit/>
          </a:bodyPr>
          <a:lstStyle/>
          <a:p>
            <a:pPr algn="l"/>
            <a:r>
              <a:rPr sz="1050" b="0" i="0">
                <a:solidFill>
                  <a:srgbClr val="B8D8F0"/>
                </a:solidFill>
              </a:rPr>
              <a:t>LSTM-CNN hybrid captures sequential character-level and word-level patterns in URLs effectively.</a:t>
            </a:r>
          </a:p>
        </p:txBody>
      </p:sp>
      <p:sp>
        <p:nvSpPr>
          <p:cNvPr id="24" name="Rectangle 23"/>
          <p:cNvSpPr/>
          <p:nvPr/>
        </p:nvSpPr>
        <p:spPr>
          <a:xfrm>
            <a:off x="347472" y="4078224"/>
            <a:ext cx="525780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7472" y="4078224"/>
            <a:ext cx="54864" cy="71323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 y="4123944"/>
            <a:ext cx="4983480" cy="274320"/>
          </a:xfrm>
          <a:prstGeom prst="rect">
            <a:avLst/>
          </a:prstGeom>
          <a:noFill/>
        </p:spPr>
        <p:txBody>
          <a:bodyPr wrap="square">
            <a:spAutoFit/>
          </a:bodyPr>
          <a:lstStyle/>
          <a:p>
            <a:pPr algn="l"/>
            <a:r>
              <a:rPr sz="1150" b="1" i="0">
                <a:solidFill>
                  <a:srgbClr val="00FFC8"/>
                </a:solidFill>
              </a:rPr>
              <a:t>Fast &amp; Lightweight</a:t>
            </a:r>
          </a:p>
        </p:txBody>
      </p:sp>
      <p:sp>
        <p:nvSpPr>
          <p:cNvPr id="27" name="TextBox 26"/>
          <p:cNvSpPr txBox="1"/>
          <p:nvPr/>
        </p:nvSpPr>
        <p:spPr>
          <a:xfrm>
            <a:off x="475488" y="4407408"/>
            <a:ext cx="4983480" cy="347472"/>
          </a:xfrm>
          <a:prstGeom prst="rect">
            <a:avLst/>
          </a:prstGeom>
          <a:noFill/>
        </p:spPr>
        <p:txBody>
          <a:bodyPr wrap="square">
            <a:spAutoFit/>
          </a:bodyPr>
          <a:lstStyle/>
          <a:p>
            <a:pPr algn="l"/>
            <a:r>
              <a:rPr sz="1050" b="0" i="0">
                <a:solidFill>
                  <a:srgbClr val="B8D8F0"/>
                </a:solidFill>
              </a:rPr>
              <a:t>SVM and Random Forest models are simple, fast to train, and effective on structured URL/hyperlink datasets.</a:t>
            </a:r>
          </a:p>
        </p:txBody>
      </p:sp>
      <p:sp>
        <p:nvSpPr>
          <p:cNvPr id="28" name="Rectangle 27"/>
          <p:cNvSpPr/>
          <p:nvPr/>
        </p:nvSpPr>
        <p:spPr>
          <a:xfrm>
            <a:off x="347472" y="4882896"/>
            <a:ext cx="525780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7472" y="4882896"/>
            <a:ext cx="54864" cy="71323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4928616"/>
            <a:ext cx="4983480" cy="274320"/>
          </a:xfrm>
          <a:prstGeom prst="rect">
            <a:avLst/>
          </a:prstGeom>
          <a:noFill/>
        </p:spPr>
        <p:txBody>
          <a:bodyPr wrap="square">
            <a:spAutoFit/>
          </a:bodyPr>
          <a:lstStyle/>
          <a:p>
            <a:pPr algn="l"/>
            <a:r>
              <a:rPr sz="1150" b="1" i="0">
                <a:solidFill>
                  <a:srgbClr val="00FFC8"/>
                </a:solidFill>
              </a:rPr>
              <a:t>Auto Feature Extraction</a:t>
            </a:r>
          </a:p>
        </p:txBody>
      </p:sp>
      <p:sp>
        <p:nvSpPr>
          <p:cNvPr id="31" name="TextBox 30"/>
          <p:cNvSpPr txBox="1"/>
          <p:nvPr/>
        </p:nvSpPr>
        <p:spPr>
          <a:xfrm>
            <a:off x="475488" y="5212080"/>
            <a:ext cx="4983480" cy="347472"/>
          </a:xfrm>
          <a:prstGeom prst="rect">
            <a:avLst/>
          </a:prstGeom>
          <a:noFill/>
        </p:spPr>
        <p:txBody>
          <a:bodyPr wrap="square">
            <a:spAutoFit/>
          </a:bodyPr>
          <a:lstStyle/>
          <a:p>
            <a:pPr algn="l"/>
            <a:r>
              <a:rPr sz="1050" b="0" i="0">
                <a:solidFill>
                  <a:srgbClr val="B8D8F0"/>
                </a:solidFill>
              </a:rPr>
              <a:t>CNN-based systems automatically extract relevant features from web page content, reducing manual engineering.</a:t>
            </a:r>
          </a:p>
        </p:txBody>
      </p:sp>
      <p:sp>
        <p:nvSpPr>
          <p:cNvPr id="32" name="Rectangle 31"/>
          <p:cNvSpPr/>
          <p:nvPr/>
        </p:nvSpPr>
        <p:spPr>
          <a:xfrm>
            <a:off x="347472" y="5687568"/>
            <a:ext cx="525780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7472" y="5687568"/>
            <a:ext cx="54864" cy="71323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8" y="5733288"/>
            <a:ext cx="4983480" cy="274320"/>
          </a:xfrm>
          <a:prstGeom prst="rect">
            <a:avLst/>
          </a:prstGeom>
          <a:noFill/>
        </p:spPr>
        <p:txBody>
          <a:bodyPr wrap="square">
            <a:spAutoFit/>
          </a:bodyPr>
          <a:lstStyle/>
          <a:p>
            <a:pPr algn="l"/>
            <a:r>
              <a:rPr sz="1150" b="1" i="0">
                <a:solidFill>
                  <a:srgbClr val="00FFC8"/>
                </a:solidFill>
              </a:rPr>
              <a:t>Established Baselines</a:t>
            </a:r>
          </a:p>
        </p:txBody>
      </p:sp>
      <p:sp>
        <p:nvSpPr>
          <p:cNvPr id="35" name="TextBox 34"/>
          <p:cNvSpPr txBox="1"/>
          <p:nvPr/>
        </p:nvSpPr>
        <p:spPr>
          <a:xfrm>
            <a:off x="475488" y="6016752"/>
            <a:ext cx="4983480" cy="347472"/>
          </a:xfrm>
          <a:prstGeom prst="rect">
            <a:avLst/>
          </a:prstGeom>
          <a:noFill/>
        </p:spPr>
        <p:txBody>
          <a:bodyPr wrap="square">
            <a:spAutoFit/>
          </a:bodyPr>
          <a:lstStyle/>
          <a:p>
            <a:pPr algn="l"/>
            <a:r>
              <a:rPr sz="1050" b="0" i="0">
                <a:solidFill>
                  <a:srgbClr val="B8D8F0"/>
                </a:solidFill>
              </a:rPr>
              <a:t>Each approach has been validated on benchmark datasets and published in peer-reviewed venues.</a:t>
            </a:r>
          </a:p>
        </p:txBody>
      </p:sp>
      <p:sp>
        <p:nvSpPr>
          <p:cNvPr id="36" name="Rectangle 35"/>
          <p:cNvSpPr/>
          <p:nvPr/>
        </p:nvSpPr>
        <p:spPr>
          <a:xfrm>
            <a:off x="6080760" y="1097280"/>
            <a:ext cx="5806440" cy="53949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80760" y="1097280"/>
            <a:ext cx="5806440" cy="457200"/>
          </a:xfrm>
          <a:prstGeom prst="rect">
            <a:avLst/>
          </a:prstGeom>
          <a:solidFill>
            <a:srgbClr val="7A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0" y="1161288"/>
            <a:ext cx="5486400" cy="347472"/>
          </a:xfrm>
          <a:prstGeom prst="rect">
            <a:avLst/>
          </a:prstGeom>
          <a:noFill/>
        </p:spPr>
        <p:txBody>
          <a:bodyPr wrap="square">
            <a:spAutoFit/>
          </a:bodyPr>
          <a:lstStyle/>
          <a:p>
            <a:pPr algn="l"/>
            <a:r>
              <a:rPr sz="1450" b="1" i="0">
                <a:solidFill>
                  <a:srgbClr val="FF6B35"/>
                </a:solidFill>
              </a:rPr>
              <a:t>❌   LIMITATIONS</a:t>
            </a:r>
          </a:p>
        </p:txBody>
      </p:sp>
      <p:sp>
        <p:nvSpPr>
          <p:cNvPr id="39" name="Rectangle 38"/>
          <p:cNvSpPr/>
          <p:nvPr/>
        </p:nvSpPr>
        <p:spPr>
          <a:xfrm>
            <a:off x="6153912" y="1664208"/>
            <a:ext cx="562356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53912" y="1664208"/>
            <a:ext cx="54864" cy="71323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81928" y="1709928"/>
            <a:ext cx="5349240" cy="274320"/>
          </a:xfrm>
          <a:prstGeom prst="rect">
            <a:avLst/>
          </a:prstGeom>
          <a:noFill/>
        </p:spPr>
        <p:txBody>
          <a:bodyPr wrap="square">
            <a:spAutoFit/>
          </a:bodyPr>
          <a:lstStyle/>
          <a:p>
            <a:pPr algn="l"/>
            <a:r>
              <a:rPr sz="1150" b="1" i="0">
                <a:solidFill>
                  <a:srgbClr val="FF6B35"/>
                </a:solidFill>
              </a:rPr>
              <a:t>Single-Channel Only</a:t>
            </a:r>
          </a:p>
        </p:txBody>
      </p:sp>
      <p:sp>
        <p:nvSpPr>
          <p:cNvPr id="42" name="TextBox 41"/>
          <p:cNvSpPr txBox="1"/>
          <p:nvPr/>
        </p:nvSpPr>
        <p:spPr>
          <a:xfrm>
            <a:off x="6281928" y="1993392"/>
            <a:ext cx="5349240" cy="347472"/>
          </a:xfrm>
          <a:prstGeom prst="rect">
            <a:avLst/>
          </a:prstGeom>
          <a:noFill/>
        </p:spPr>
        <p:txBody>
          <a:bodyPr wrap="square">
            <a:spAutoFit/>
          </a:bodyPr>
          <a:lstStyle/>
          <a:p>
            <a:pPr algn="l"/>
            <a:r>
              <a:rPr sz="1050" b="0" i="0">
                <a:solidFill>
                  <a:srgbClr val="B8D8F0"/>
                </a:solidFill>
              </a:rPr>
              <a:t>Each existing system handles only one channel (URL OR email OR SMS) — none cover all three together.</a:t>
            </a:r>
          </a:p>
        </p:txBody>
      </p:sp>
      <p:sp>
        <p:nvSpPr>
          <p:cNvPr id="43" name="Rectangle 42"/>
          <p:cNvSpPr/>
          <p:nvPr/>
        </p:nvSpPr>
        <p:spPr>
          <a:xfrm>
            <a:off x="6153912" y="2377440"/>
            <a:ext cx="562356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53912" y="2377440"/>
            <a:ext cx="54864" cy="71323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81928" y="2423160"/>
            <a:ext cx="5349240" cy="274320"/>
          </a:xfrm>
          <a:prstGeom prst="rect">
            <a:avLst/>
          </a:prstGeom>
          <a:noFill/>
        </p:spPr>
        <p:txBody>
          <a:bodyPr wrap="square">
            <a:spAutoFit/>
          </a:bodyPr>
          <a:lstStyle/>
          <a:p>
            <a:pPr algn="l"/>
            <a:r>
              <a:rPr sz="1150" b="1" i="0">
                <a:solidFill>
                  <a:srgbClr val="FF6B35"/>
                </a:solidFill>
              </a:rPr>
              <a:t>No Semantic + Structural</a:t>
            </a:r>
          </a:p>
        </p:txBody>
      </p:sp>
      <p:sp>
        <p:nvSpPr>
          <p:cNvPr id="46" name="TextBox 45"/>
          <p:cNvSpPr txBox="1"/>
          <p:nvPr/>
        </p:nvSpPr>
        <p:spPr>
          <a:xfrm>
            <a:off x="6281928" y="2706624"/>
            <a:ext cx="5349240" cy="347472"/>
          </a:xfrm>
          <a:prstGeom prst="rect">
            <a:avLst/>
          </a:prstGeom>
          <a:noFill/>
        </p:spPr>
        <p:txBody>
          <a:bodyPr wrap="square">
            <a:spAutoFit/>
          </a:bodyPr>
          <a:lstStyle/>
          <a:p>
            <a:pPr algn="l"/>
            <a:r>
              <a:rPr sz="1050" b="0" i="0">
                <a:solidFill>
                  <a:srgbClr val="B8D8F0"/>
                </a:solidFill>
              </a:rPr>
              <a:t>URL-focused models miss semantic email patterns; NLP models miss structural URL features — a critical gap.</a:t>
            </a:r>
          </a:p>
        </p:txBody>
      </p:sp>
      <p:sp>
        <p:nvSpPr>
          <p:cNvPr id="47" name="Rectangle 46"/>
          <p:cNvSpPr/>
          <p:nvPr/>
        </p:nvSpPr>
        <p:spPr>
          <a:xfrm>
            <a:off x="6153912" y="3090672"/>
            <a:ext cx="562356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53912" y="3090672"/>
            <a:ext cx="54864" cy="71323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81928" y="3136391"/>
            <a:ext cx="5349240" cy="274320"/>
          </a:xfrm>
          <a:prstGeom prst="rect">
            <a:avLst/>
          </a:prstGeom>
          <a:noFill/>
        </p:spPr>
        <p:txBody>
          <a:bodyPr wrap="square">
            <a:spAutoFit/>
          </a:bodyPr>
          <a:lstStyle/>
          <a:p>
            <a:pPr algn="l"/>
            <a:r>
              <a:rPr sz="1150" b="1" i="0">
                <a:solidFill>
                  <a:srgbClr val="FF6B35"/>
                </a:solidFill>
              </a:rPr>
              <a:t>Feature Engineering</a:t>
            </a:r>
          </a:p>
        </p:txBody>
      </p:sp>
      <p:sp>
        <p:nvSpPr>
          <p:cNvPr id="50" name="TextBox 49"/>
          <p:cNvSpPr txBox="1"/>
          <p:nvPr/>
        </p:nvSpPr>
        <p:spPr>
          <a:xfrm>
            <a:off x="6281928" y="3419856"/>
            <a:ext cx="5349240" cy="347472"/>
          </a:xfrm>
          <a:prstGeom prst="rect">
            <a:avLst/>
          </a:prstGeom>
          <a:noFill/>
        </p:spPr>
        <p:txBody>
          <a:bodyPr wrap="square">
            <a:spAutoFit/>
          </a:bodyPr>
          <a:lstStyle/>
          <a:p>
            <a:pPr algn="l"/>
            <a:r>
              <a:rPr sz="1050" b="0" i="0">
                <a:solidFill>
                  <a:srgbClr val="B8D8F0"/>
                </a:solidFill>
              </a:rPr>
              <a:t>SVM/RF models require extensive manual feature engineering, limiting generalization to new attack patterns.</a:t>
            </a:r>
          </a:p>
        </p:txBody>
      </p:sp>
      <p:sp>
        <p:nvSpPr>
          <p:cNvPr id="51" name="Rectangle 50"/>
          <p:cNvSpPr/>
          <p:nvPr/>
        </p:nvSpPr>
        <p:spPr>
          <a:xfrm>
            <a:off x="6153912" y="3803904"/>
            <a:ext cx="562356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153912" y="3803904"/>
            <a:ext cx="54864" cy="71323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81928" y="3849624"/>
            <a:ext cx="5349240" cy="274320"/>
          </a:xfrm>
          <a:prstGeom prst="rect">
            <a:avLst/>
          </a:prstGeom>
          <a:noFill/>
        </p:spPr>
        <p:txBody>
          <a:bodyPr wrap="square">
            <a:spAutoFit/>
          </a:bodyPr>
          <a:lstStyle/>
          <a:p>
            <a:pPr algn="l"/>
            <a:r>
              <a:rPr sz="1150" b="1" i="0">
                <a:solidFill>
                  <a:srgbClr val="FF6B35"/>
                </a:solidFill>
              </a:rPr>
              <a:t>Large Model Size</a:t>
            </a:r>
          </a:p>
        </p:txBody>
      </p:sp>
      <p:sp>
        <p:nvSpPr>
          <p:cNvPr id="54" name="TextBox 53"/>
          <p:cNvSpPr txBox="1"/>
          <p:nvPr/>
        </p:nvSpPr>
        <p:spPr>
          <a:xfrm>
            <a:off x="6281928" y="4133088"/>
            <a:ext cx="5349240" cy="347472"/>
          </a:xfrm>
          <a:prstGeom prst="rect">
            <a:avLst/>
          </a:prstGeom>
          <a:noFill/>
        </p:spPr>
        <p:txBody>
          <a:bodyPr wrap="square">
            <a:spAutoFit/>
          </a:bodyPr>
          <a:lstStyle/>
          <a:p>
            <a:pPr algn="l"/>
            <a:r>
              <a:rPr sz="1050" b="0" i="0">
                <a:solidFill>
                  <a:srgbClr val="B8D8F0"/>
                </a:solidFill>
              </a:rPr>
              <a:t>BERT-based systems are slow and resource-intensive, making real-time deployment on edge devices impractical.</a:t>
            </a:r>
          </a:p>
        </p:txBody>
      </p:sp>
      <p:sp>
        <p:nvSpPr>
          <p:cNvPr id="55" name="Rectangle 54"/>
          <p:cNvSpPr/>
          <p:nvPr/>
        </p:nvSpPr>
        <p:spPr>
          <a:xfrm>
            <a:off x="6153912" y="4517136"/>
            <a:ext cx="562356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153912" y="4517136"/>
            <a:ext cx="54864" cy="71323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81928" y="4562856"/>
            <a:ext cx="5349240" cy="274320"/>
          </a:xfrm>
          <a:prstGeom prst="rect">
            <a:avLst/>
          </a:prstGeom>
          <a:noFill/>
        </p:spPr>
        <p:txBody>
          <a:bodyPr wrap="square">
            <a:spAutoFit/>
          </a:bodyPr>
          <a:lstStyle/>
          <a:p>
            <a:pPr algn="l"/>
            <a:r>
              <a:rPr sz="1150" b="1" i="0">
                <a:solidFill>
                  <a:srgbClr val="FF6B35"/>
                </a:solidFill>
              </a:rPr>
              <a:t>No Multi-Modal Fusion</a:t>
            </a:r>
          </a:p>
        </p:txBody>
      </p:sp>
      <p:sp>
        <p:nvSpPr>
          <p:cNvPr id="58" name="TextBox 57"/>
          <p:cNvSpPr txBox="1"/>
          <p:nvPr/>
        </p:nvSpPr>
        <p:spPr>
          <a:xfrm>
            <a:off x="6281928" y="4846320"/>
            <a:ext cx="5349240" cy="347472"/>
          </a:xfrm>
          <a:prstGeom prst="rect">
            <a:avLst/>
          </a:prstGeom>
          <a:noFill/>
        </p:spPr>
        <p:txBody>
          <a:bodyPr wrap="square">
            <a:spAutoFit/>
          </a:bodyPr>
          <a:lstStyle/>
          <a:p>
            <a:pPr algn="l"/>
            <a:r>
              <a:rPr sz="1050" b="0" i="0">
                <a:solidFill>
                  <a:srgbClr val="B8D8F0"/>
                </a:solidFill>
              </a:rPr>
              <a:t>No existing approach fuses NLP embeddings with structured URL features in a unified classification pipeline.</a:t>
            </a:r>
          </a:p>
        </p:txBody>
      </p:sp>
      <p:sp>
        <p:nvSpPr>
          <p:cNvPr id="59" name="Rectangle 58"/>
          <p:cNvSpPr/>
          <p:nvPr/>
        </p:nvSpPr>
        <p:spPr>
          <a:xfrm>
            <a:off x="6153912" y="5230368"/>
            <a:ext cx="562356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53912" y="5230368"/>
            <a:ext cx="54864" cy="71323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81928" y="5276088"/>
            <a:ext cx="5349240" cy="274320"/>
          </a:xfrm>
          <a:prstGeom prst="rect">
            <a:avLst/>
          </a:prstGeom>
          <a:noFill/>
        </p:spPr>
        <p:txBody>
          <a:bodyPr wrap="square">
            <a:spAutoFit/>
          </a:bodyPr>
          <a:lstStyle/>
          <a:p>
            <a:pPr algn="l"/>
            <a:r>
              <a:rPr sz="1150" b="1" i="0">
                <a:solidFill>
                  <a:srgbClr val="FF6B35"/>
                </a:solidFill>
              </a:rPr>
              <a:t>Poor on Evolving Attacks</a:t>
            </a:r>
          </a:p>
        </p:txBody>
      </p:sp>
      <p:sp>
        <p:nvSpPr>
          <p:cNvPr id="62" name="TextBox 61"/>
          <p:cNvSpPr txBox="1"/>
          <p:nvPr/>
        </p:nvSpPr>
        <p:spPr>
          <a:xfrm>
            <a:off x="6281928" y="5559552"/>
            <a:ext cx="5349240" cy="347472"/>
          </a:xfrm>
          <a:prstGeom prst="rect">
            <a:avLst/>
          </a:prstGeom>
          <a:noFill/>
        </p:spPr>
        <p:txBody>
          <a:bodyPr wrap="square">
            <a:spAutoFit/>
          </a:bodyPr>
          <a:lstStyle/>
          <a:p>
            <a:pPr algn="l"/>
            <a:r>
              <a:rPr sz="1050" b="0" i="0">
                <a:solidFill>
                  <a:srgbClr val="B8D8F0"/>
                </a:solidFill>
              </a:rPr>
              <a:t>Blacklist and rule-based hybrid systems fail against zero-day phishing attacks and obfuscated malicious URLs.</a:t>
            </a:r>
          </a:p>
        </p:txBody>
      </p:sp>
      <p:sp>
        <p:nvSpPr>
          <p:cNvPr id="63" name="Rectangle 62"/>
          <p:cNvSpPr/>
          <p:nvPr/>
        </p:nvSpPr>
        <p:spPr>
          <a:xfrm>
            <a:off x="6153912" y="5943600"/>
            <a:ext cx="5623560" cy="71323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53912" y="5943600"/>
            <a:ext cx="54864" cy="71323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81928" y="5989320"/>
            <a:ext cx="5349240" cy="274320"/>
          </a:xfrm>
          <a:prstGeom prst="rect">
            <a:avLst/>
          </a:prstGeom>
          <a:noFill/>
        </p:spPr>
        <p:txBody>
          <a:bodyPr wrap="square">
            <a:spAutoFit/>
          </a:bodyPr>
          <a:lstStyle/>
          <a:p>
            <a:pPr algn="l"/>
            <a:r>
              <a:rPr sz="1150" b="1" i="0">
                <a:solidFill>
                  <a:srgbClr val="FF6B35"/>
                </a:solidFill>
              </a:rPr>
              <a:t>High False Positives</a:t>
            </a:r>
          </a:p>
        </p:txBody>
      </p:sp>
      <p:sp>
        <p:nvSpPr>
          <p:cNvPr id="66" name="TextBox 65"/>
          <p:cNvSpPr txBox="1"/>
          <p:nvPr/>
        </p:nvSpPr>
        <p:spPr>
          <a:xfrm>
            <a:off x="6281928" y="6272784"/>
            <a:ext cx="5349240" cy="347472"/>
          </a:xfrm>
          <a:prstGeom prst="rect">
            <a:avLst/>
          </a:prstGeom>
          <a:noFill/>
        </p:spPr>
        <p:txBody>
          <a:bodyPr wrap="square">
            <a:spAutoFit/>
          </a:bodyPr>
          <a:lstStyle/>
          <a:p>
            <a:pPr algn="l"/>
            <a:r>
              <a:rPr sz="1050" b="0" i="0">
                <a:solidFill>
                  <a:srgbClr val="B8D8F0"/>
                </a:solidFill>
              </a:rPr>
              <a:t>Single-channel systems generate higher false positive rates, flagging legitimate communications as phishing.</a:t>
            </a:r>
          </a:p>
        </p:txBody>
      </p:sp>
      <p:sp>
        <p:nvSpPr>
          <p:cNvPr id="67" name="Rectangle 66"/>
          <p:cNvSpPr/>
          <p:nvPr/>
        </p:nvSpPr>
        <p:spPr>
          <a:xfrm>
            <a:off x="5989320" y="1097280"/>
            <a:ext cx="54864" cy="53949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5 / 13</a:t>
            </a:r>
          </a:p>
        </p:txBody>
      </p:sp>
      <p:sp>
        <p:nvSpPr>
          <p:cNvPr id="69" name="Rectangle 68"/>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Key Gap: No existing system simultaneously detects phishing across URLs, emails, AND SMS with hybrid NLP + ML classification.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98755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 y="45720"/>
            <a:ext cx="10241280" cy="566928"/>
          </a:xfrm>
          <a:prstGeom prst="rect">
            <a:avLst/>
          </a:prstGeom>
          <a:noFill/>
        </p:spPr>
        <p:txBody>
          <a:bodyPr wrap="square">
            <a:spAutoFit/>
          </a:bodyPr>
          <a:lstStyle/>
          <a:p>
            <a:pPr algn="l"/>
            <a:r>
              <a:rPr sz="2800" b="1" i="0">
                <a:solidFill>
                  <a:srgbClr val="FFFFFF"/>
                </a:solidFill>
              </a:rPr>
              <a:t>Proposed Model</a:t>
            </a:r>
          </a:p>
        </p:txBody>
      </p:sp>
      <p:sp>
        <p:nvSpPr>
          <p:cNvPr id="7" name="TextBox 6"/>
          <p:cNvSpPr txBox="1"/>
          <p:nvPr/>
        </p:nvSpPr>
        <p:spPr>
          <a:xfrm>
            <a:off x="164592" y="603504"/>
            <a:ext cx="10241280" cy="329184"/>
          </a:xfrm>
          <a:prstGeom prst="rect">
            <a:avLst/>
          </a:prstGeom>
          <a:noFill/>
        </p:spPr>
        <p:txBody>
          <a:bodyPr wrap="square">
            <a:spAutoFit/>
          </a:bodyPr>
          <a:lstStyle/>
          <a:p>
            <a:pPr algn="l"/>
            <a:r>
              <a:rPr sz="1250" b="0" i="1">
                <a:solidFill>
                  <a:srgbClr val="39FF14"/>
                </a:solidFill>
              </a:rPr>
              <a:t>PhishGuard – DistilBERT + XGBoost Hybrid Architecture</a:t>
            </a:r>
          </a:p>
        </p:txBody>
      </p:sp>
      <p:sp>
        <p:nvSpPr>
          <p:cNvPr id="8" name="TextBox 7"/>
          <p:cNvSpPr txBox="1"/>
          <p:nvPr/>
        </p:nvSpPr>
        <p:spPr>
          <a:xfrm>
            <a:off x="8046720" y="676656"/>
            <a:ext cx="4023360" cy="256032"/>
          </a:xfrm>
          <a:prstGeom prst="rect">
            <a:avLst/>
          </a:prstGeom>
          <a:noFill/>
        </p:spPr>
        <p:txBody>
          <a:bodyPr wrap="square">
            <a:spAutoFit/>
          </a:bodyPr>
          <a:lstStyle/>
          <a:p>
            <a:pPr algn="r"/>
            <a:r>
              <a:rPr sz="900" b="0" i="0">
                <a:solidFill>
                  <a:srgbClr val="B8D8F0"/>
                </a:solidFill>
              </a:rPr>
              <a:t>PhishGuard | AI-Powered Phishing Detection</a:t>
            </a:r>
          </a:p>
        </p:txBody>
      </p:sp>
      <p:sp>
        <p:nvSpPr>
          <p:cNvPr id="9" name="Rectangle 8"/>
          <p:cNvSpPr/>
          <p:nvPr/>
        </p:nvSpPr>
        <p:spPr>
          <a:xfrm>
            <a:off x="274320" y="1097280"/>
            <a:ext cx="1810512" cy="342900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097280"/>
            <a:ext cx="181051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170432"/>
            <a:ext cx="1810512" cy="548640"/>
          </a:xfrm>
          <a:prstGeom prst="rect">
            <a:avLst/>
          </a:prstGeom>
          <a:noFill/>
        </p:spPr>
        <p:txBody>
          <a:bodyPr wrap="square">
            <a:spAutoFit/>
          </a:bodyPr>
          <a:lstStyle/>
          <a:p>
            <a:pPr algn="ctr"/>
            <a:r>
              <a:rPr sz="2400" b="0" i="0">
                <a:solidFill>
                  <a:srgbClr val="FFFFFF"/>
                </a:solidFill>
              </a:rPr>
              <a:t>📨</a:t>
            </a:r>
          </a:p>
        </p:txBody>
      </p:sp>
      <p:sp>
        <p:nvSpPr>
          <p:cNvPr id="12" name="TextBox 11"/>
          <p:cNvSpPr txBox="1"/>
          <p:nvPr/>
        </p:nvSpPr>
        <p:spPr>
          <a:xfrm>
            <a:off x="274320" y="1691640"/>
            <a:ext cx="1810512" cy="530352"/>
          </a:xfrm>
          <a:prstGeom prst="rect">
            <a:avLst/>
          </a:prstGeom>
          <a:noFill/>
        </p:spPr>
        <p:txBody>
          <a:bodyPr wrap="square">
            <a:spAutoFit/>
          </a:bodyPr>
          <a:lstStyle/>
          <a:p>
            <a:pPr algn="ctr"/>
            <a:r>
              <a:rPr sz="1150" b="1" i="0">
                <a:solidFill>
                  <a:srgbClr val="39FF14"/>
                </a:solidFill>
              </a:rPr>
              <a:t>Multi-Channel
Input</a:t>
            </a:r>
          </a:p>
        </p:txBody>
      </p:sp>
      <p:sp>
        <p:nvSpPr>
          <p:cNvPr id="13" name="Rectangle 12"/>
          <p:cNvSpPr/>
          <p:nvPr/>
        </p:nvSpPr>
        <p:spPr>
          <a:xfrm>
            <a:off x="402336" y="2221992"/>
            <a:ext cx="1554480" cy="36576"/>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2313432"/>
            <a:ext cx="1627632" cy="2121408"/>
          </a:xfrm>
          <a:prstGeom prst="rect">
            <a:avLst/>
          </a:prstGeom>
          <a:noFill/>
        </p:spPr>
        <p:txBody>
          <a:bodyPr wrap="square">
            <a:spAutoFit/>
          </a:bodyPr>
          <a:lstStyle/>
          <a:p>
            <a:pPr algn="l"/>
            <a:r>
              <a:rPr sz="1050" b="0" i="0">
                <a:solidFill>
                  <a:srgbClr val="B8D8F0"/>
                </a:solidFill>
              </a:rPr>
              <a:t>Input sources: URLs, Email text, SMS messages. Multi-channel ingestion from all phishing vectors.</a:t>
            </a:r>
          </a:p>
        </p:txBody>
      </p:sp>
      <p:sp>
        <p:nvSpPr>
          <p:cNvPr id="15" name="TextBox 14"/>
          <p:cNvSpPr txBox="1"/>
          <p:nvPr/>
        </p:nvSpPr>
        <p:spPr>
          <a:xfrm>
            <a:off x="2084831" y="2377440"/>
            <a:ext cx="292608" cy="438912"/>
          </a:xfrm>
          <a:prstGeom prst="rect">
            <a:avLst/>
          </a:prstGeom>
          <a:noFill/>
        </p:spPr>
        <p:txBody>
          <a:bodyPr wrap="square">
            <a:spAutoFit/>
          </a:bodyPr>
          <a:lstStyle/>
          <a:p>
            <a:pPr algn="ctr"/>
            <a:r>
              <a:rPr sz="1600" b="0" i="0">
                <a:solidFill>
                  <a:srgbClr val="39FF14"/>
                </a:solidFill>
              </a:rPr>
              <a:t>-&gt;</a:t>
            </a:r>
          </a:p>
        </p:txBody>
      </p:sp>
      <p:sp>
        <p:nvSpPr>
          <p:cNvPr id="16" name="Rectangle 15"/>
          <p:cNvSpPr/>
          <p:nvPr/>
        </p:nvSpPr>
        <p:spPr>
          <a:xfrm>
            <a:off x="2377440" y="1097280"/>
            <a:ext cx="1810512" cy="342900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77440" y="1097280"/>
            <a:ext cx="1810512" cy="50292"/>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77440" y="1170432"/>
            <a:ext cx="1810512" cy="548640"/>
          </a:xfrm>
          <a:prstGeom prst="rect">
            <a:avLst/>
          </a:prstGeom>
          <a:noFill/>
        </p:spPr>
        <p:txBody>
          <a:bodyPr wrap="square">
            <a:spAutoFit/>
          </a:bodyPr>
          <a:lstStyle/>
          <a:p>
            <a:pPr algn="ctr"/>
            <a:r>
              <a:rPr sz="2400" b="0" i="0">
                <a:solidFill>
                  <a:srgbClr val="FFFFFF"/>
                </a:solidFill>
              </a:rPr>
              <a:t>🛠</a:t>
            </a:r>
          </a:p>
        </p:txBody>
      </p:sp>
      <p:sp>
        <p:nvSpPr>
          <p:cNvPr id="19" name="TextBox 18"/>
          <p:cNvSpPr txBox="1"/>
          <p:nvPr/>
        </p:nvSpPr>
        <p:spPr>
          <a:xfrm>
            <a:off x="2377440" y="1691640"/>
            <a:ext cx="1810512" cy="530352"/>
          </a:xfrm>
          <a:prstGeom prst="rect">
            <a:avLst/>
          </a:prstGeom>
          <a:noFill/>
        </p:spPr>
        <p:txBody>
          <a:bodyPr wrap="square">
            <a:spAutoFit/>
          </a:bodyPr>
          <a:lstStyle/>
          <a:p>
            <a:pPr algn="ctr"/>
            <a:r>
              <a:rPr sz="1150" b="1" i="0">
                <a:solidFill>
                  <a:srgbClr val="FFCC00"/>
                </a:solidFill>
              </a:rPr>
              <a:t>Pre-
processing</a:t>
            </a:r>
          </a:p>
        </p:txBody>
      </p:sp>
      <p:sp>
        <p:nvSpPr>
          <p:cNvPr id="20" name="Rectangle 19"/>
          <p:cNvSpPr/>
          <p:nvPr/>
        </p:nvSpPr>
        <p:spPr>
          <a:xfrm>
            <a:off x="2505456" y="2221992"/>
            <a:ext cx="15544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68880" y="2313432"/>
            <a:ext cx="1627632" cy="2121408"/>
          </a:xfrm>
          <a:prstGeom prst="rect">
            <a:avLst/>
          </a:prstGeom>
          <a:noFill/>
        </p:spPr>
        <p:txBody>
          <a:bodyPr wrap="square">
            <a:spAutoFit/>
          </a:bodyPr>
          <a:lstStyle/>
          <a:p>
            <a:pPr algn="l"/>
            <a:r>
              <a:rPr sz="1050" b="0" i="0">
                <a:solidFill>
                  <a:srgbClr val="B8D8F0"/>
                </a:solidFill>
              </a:rPr>
              <a:t>Tokenization, cleaning, normalization, duplicate removal, feature extraction (TF-IDF, URL structure).</a:t>
            </a:r>
          </a:p>
        </p:txBody>
      </p:sp>
      <p:sp>
        <p:nvSpPr>
          <p:cNvPr id="22" name="TextBox 21"/>
          <p:cNvSpPr txBox="1"/>
          <p:nvPr/>
        </p:nvSpPr>
        <p:spPr>
          <a:xfrm>
            <a:off x="4187952" y="2377440"/>
            <a:ext cx="292608" cy="438912"/>
          </a:xfrm>
          <a:prstGeom prst="rect">
            <a:avLst/>
          </a:prstGeom>
          <a:noFill/>
        </p:spPr>
        <p:txBody>
          <a:bodyPr wrap="square">
            <a:spAutoFit/>
          </a:bodyPr>
          <a:lstStyle/>
          <a:p>
            <a:pPr algn="ctr"/>
            <a:r>
              <a:rPr sz="1600" b="0" i="0">
                <a:solidFill>
                  <a:srgbClr val="39FF14"/>
                </a:solidFill>
              </a:rPr>
              <a:t>-&gt;</a:t>
            </a:r>
          </a:p>
        </p:txBody>
      </p:sp>
      <p:sp>
        <p:nvSpPr>
          <p:cNvPr id="23" name="Rectangle 22"/>
          <p:cNvSpPr/>
          <p:nvPr/>
        </p:nvSpPr>
        <p:spPr>
          <a:xfrm>
            <a:off x="4480560" y="1097280"/>
            <a:ext cx="1810512" cy="342900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60" y="1097280"/>
            <a:ext cx="1810512"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60" y="1170432"/>
            <a:ext cx="1810512" cy="548640"/>
          </a:xfrm>
          <a:prstGeom prst="rect">
            <a:avLst/>
          </a:prstGeom>
          <a:noFill/>
        </p:spPr>
        <p:txBody>
          <a:bodyPr wrap="square">
            <a:spAutoFit/>
          </a:bodyPr>
          <a:lstStyle/>
          <a:p>
            <a:pPr algn="ctr"/>
            <a:r>
              <a:rPr sz="2400" b="0" i="0">
                <a:solidFill>
                  <a:srgbClr val="FFFFFF"/>
                </a:solidFill>
              </a:rPr>
              <a:t>🧠</a:t>
            </a:r>
          </a:p>
        </p:txBody>
      </p:sp>
      <p:sp>
        <p:nvSpPr>
          <p:cNvPr id="26" name="TextBox 25"/>
          <p:cNvSpPr txBox="1"/>
          <p:nvPr/>
        </p:nvSpPr>
        <p:spPr>
          <a:xfrm>
            <a:off x="4480560" y="1691640"/>
            <a:ext cx="1810512" cy="530352"/>
          </a:xfrm>
          <a:prstGeom prst="rect">
            <a:avLst/>
          </a:prstGeom>
          <a:noFill/>
        </p:spPr>
        <p:txBody>
          <a:bodyPr wrap="square">
            <a:spAutoFit/>
          </a:bodyPr>
          <a:lstStyle/>
          <a:p>
            <a:pPr algn="ctr"/>
            <a:r>
              <a:rPr sz="1150" b="1" i="0">
                <a:solidFill>
                  <a:srgbClr val="00D4FF"/>
                </a:solidFill>
              </a:rPr>
              <a:t>DistilBERT
NLP Model</a:t>
            </a:r>
          </a:p>
        </p:txBody>
      </p:sp>
      <p:sp>
        <p:nvSpPr>
          <p:cNvPr id="27" name="Rectangle 26"/>
          <p:cNvSpPr/>
          <p:nvPr/>
        </p:nvSpPr>
        <p:spPr>
          <a:xfrm>
            <a:off x="4608576" y="2221992"/>
            <a:ext cx="155448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2313432"/>
            <a:ext cx="1627632" cy="2121408"/>
          </a:xfrm>
          <a:prstGeom prst="rect">
            <a:avLst/>
          </a:prstGeom>
          <a:noFill/>
        </p:spPr>
        <p:txBody>
          <a:bodyPr wrap="square">
            <a:spAutoFit/>
          </a:bodyPr>
          <a:lstStyle/>
          <a:p>
            <a:pPr algn="l"/>
            <a:r>
              <a:rPr sz="1050" b="0" i="0">
                <a:solidFill>
                  <a:srgbClr val="B8D8F0"/>
                </a:solidFill>
              </a:rPr>
              <a:t>Lightweight transformer. Generates contextual semantic embeddings from email &amp; SMS text for phishing patterns.</a:t>
            </a:r>
          </a:p>
        </p:txBody>
      </p:sp>
      <p:sp>
        <p:nvSpPr>
          <p:cNvPr id="29" name="TextBox 28"/>
          <p:cNvSpPr txBox="1"/>
          <p:nvPr/>
        </p:nvSpPr>
        <p:spPr>
          <a:xfrm>
            <a:off x="6291072" y="2377440"/>
            <a:ext cx="292608" cy="438912"/>
          </a:xfrm>
          <a:prstGeom prst="rect">
            <a:avLst/>
          </a:prstGeom>
          <a:noFill/>
        </p:spPr>
        <p:txBody>
          <a:bodyPr wrap="square">
            <a:spAutoFit/>
          </a:bodyPr>
          <a:lstStyle/>
          <a:p>
            <a:pPr algn="ctr"/>
            <a:r>
              <a:rPr sz="1600" b="0" i="0">
                <a:solidFill>
                  <a:srgbClr val="39FF14"/>
                </a:solidFill>
              </a:rPr>
              <a:t>-&gt;</a:t>
            </a:r>
          </a:p>
        </p:txBody>
      </p:sp>
      <p:sp>
        <p:nvSpPr>
          <p:cNvPr id="30" name="Rectangle 29"/>
          <p:cNvSpPr/>
          <p:nvPr/>
        </p:nvSpPr>
        <p:spPr>
          <a:xfrm>
            <a:off x="6583680" y="1097280"/>
            <a:ext cx="1810512" cy="342900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0" y="1097280"/>
            <a:ext cx="1810512" cy="5029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1170432"/>
            <a:ext cx="1810512" cy="548640"/>
          </a:xfrm>
          <a:prstGeom prst="rect">
            <a:avLst/>
          </a:prstGeom>
          <a:noFill/>
        </p:spPr>
        <p:txBody>
          <a:bodyPr wrap="square">
            <a:spAutoFit/>
          </a:bodyPr>
          <a:lstStyle/>
          <a:p>
            <a:pPr algn="ctr"/>
            <a:r>
              <a:rPr sz="2400" b="0" i="0">
                <a:solidFill>
                  <a:srgbClr val="FFFFFF"/>
                </a:solidFill>
              </a:rPr>
              <a:t>🌲</a:t>
            </a:r>
          </a:p>
        </p:txBody>
      </p:sp>
      <p:sp>
        <p:nvSpPr>
          <p:cNvPr id="33" name="TextBox 32"/>
          <p:cNvSpPr txBox="1"/>
          <p:nvPr/>
        </p:nvSpPr>
        <p:spPr>
          <a:xfrm>
            <a:off x="6583680" y="1691640"/>
            <a:ext cx="1810512" cy="530352"/>
          </a:xfrm>
          <a:prstGeom prst="rect">
            <a:avLst/>
          </a:prstGeom>
          <a:noFill/>
        </p:spPr>
        <p:txBody>
          <a:bodyPr wrap="square">
            <a:spAutoFit/>
          </a:bodyPr>
          <a:lstStyle/>
          <a:p>
            <a:pPr algn="ctr"/>
            <a:r>
              <a:rPr sz="1150" b="1" i="0">
                <a:solidFill>
                  <a:srgbClr val="00FFC8"/>
                </a:solidFill>
              </a:rPr>
              <a:t>XGBoost
Classifier</a:t>
            </a:r>
          </a:p>
        </p:txBody>
      </p:sp>
      <p:sp>
        <p:nvSpPr>
          <p:cNvPr id="34" name="Rectangle 33"/>
          <p:cNvSpPr/>
          <p:nvPr/>
        </p:nvSpPr>
        <p:spPr>
          <a:xfrm>
            <a:off x="6711696" y="2221992"/>
            <a:ext cx="1554480" cy="36576"/>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2313432"/>
            <a:ext cx="1627632" cy="2121408"/>
          </a:xfrm>
          <a:prstGeom prst="rect">
            <a:avLst/>
          </a:prstGeom>
          <a:noFill/>
        </p:spPr>
        <p:txBody>
          <a:bodyPr wrap="square">
            <a:spAutoFit/>
          </a:bodyPr>
          <a:lstStyle/>
          <a:p>
            <a:pPr algn="l"/>
            <a:r>
              <a:rPr sz="1050" b="0" i="0">
                <a:solidFill>
                  <a:srgbClr val="B8D8F0"/>
                </a:solidFill>
              </a:rPr>
              <a:t>Gradient boosting on URL structural/lexical features. Efficient, high-accuracy structured data classification.</a:t>
            </a:r>
          </a:p>
        </p:txBody>
      </p:sp>
      <p:sp>
        <p:nvSpPr>
          <p:cNvPr id="36" name="TextBox 35"/>
          <p:cNvSpPr txBox="1"/>
          <p:nvPr/>
        </p:nvSpPr>
        <p:spPr>
          <a:xfrm>
            <a:off x="8394192" y="2377440"/>
            <a:ext cx="292608" cy="438912"/>
          </a:xfrm>
          <a:prstGeom prst="rect">
            <a:avLst/>
          </a:prstGeom>
          <a:noFill/>
        </p:spPr>
        <p:txBody>
          <a:bodyPr wrap="square">
            <a:spAutoFit/>
          </a:bodyPr>
          <a:lstStyle/>
          <a:p>
            <a:pPr algn="ctr"/>
            <a:r>
              <a:rPr sz="1600" b="0" i="0">
                <a:solidFill>
                  <a:srgbClr val="39FF14"/>
                </a:solidFill>
              </a:rPr>
              <a:t>-&gt;</a:t>
            </a:r>
          </a:p>
        </p:txBody>
      </p:sp>
      <p:sp>
        <p:nvSpPr>
          <p:cNvPr id="37" name="Rectangle 36"/>
          <p:cNvSpPr/>
          <p:nvPr/>
        </p:nvSpPr>
        <p:spPr>
          <a:xfrm>
            <a:off x="8686800" y="1097280"/>
            <a:ext cx="1810512" cy="342900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686800" y="1097280"/>
            <a:ext cx="1810512" cy="50292"/>
          </a:xfrm>
          <a:prstGeom prst="rect">
            <a:avLst/>
          </a:prstGeom>
          <a:solidFill>
            <a:srgbClr val="A0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0" y="1170432"/>
            <a:ext cx="1810512" cy="548640"/>
          </a:xfrm>
          <a:prstGeom prst="rect">
            <a:avLst/>
          </a:prstGeom>
          <a:noFill/>
        </p:spPr>
        <p:txBody>
          <a:bodyPr wrap="square">
            <a:spAutoFit/>
          </a:bodyPr>
          <a:lstStyle/>
          <a:p>
            <a:pPr algn="ctr"/>
            <a:r>
              <a:rPr sz="2400" b="0" i="0">
                <a:solidFill>
                  <a:srgbClr val="FFFFFF"/>
                </a:solidFill>
              </a:rPr>
              <a:t>🔀</a:t>
            </a:r>
          </a:p>
        </p:txBody>
      </p:sp>
      <p:sp>
        <p:nvSpPr>
          <p:cNvPr id="40" name="TextBox 39"/>
          <p:cNvSpPr txBox="1"/>
          <p:nvPr/>
        </p:nvSpPr>
        <p:spPr>
          <a:xfrm>
            <a:off x="8686800" y="1691640"/>
            <a:ext cx="1810512" cy="530352"/>
          </a:xfrm>
          <a:prstGeom prst="rect">
            <a:avLst/>
          </a:prstGeom>
          <a:noFill/>
        </p:spPr>
        <p:txBody>
          <a:bodyPr wrap="square">
            <a:spAutoFit/>
          </a:bodyPr>
          <a:lstStyle/>
          <a:p>
            <a:pPr algn="ctr"/>
            <a:r>
              <a:rPr sz="1150" b="1" i="0">
                <a:solidFill>
                  <a:srgbClr val="A07EFF"/>
                </a:solidFill>
              </a:rPr>
              <a:t>Hybrid
Fusion</a:t>
            </a:r>
          </a:p>
        </p:txBody>
      </p:sp>
      <p:sp>
        <p:nvSpPr>
          <p:cNvPr id="41" name="Rectangle 40"/>
          <p:cNvSpPr/>
          <p:nvPr/>
        </p:nvSpPr>
        <p:spPr>
          <a:xfrm>
            <a:off x="8814816" y="2221992"/>
            <a:ext cx="1554480" cy="36576"/>
          </a:xfrm>
          <a:prstGeom prst="rect">
            <a:avLst/>
          </a:prstGeom>
          <a:solidFill>
            <a:srgbClr val="A0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78240" y="2313432"/>
            <a:ext cx="1627632" cy="2121408"/>
          </a:xfrm>
          <a:prstGeom prst="rect">
            <a:avLst/>
          </a:prstGeom>
          <a:noFill/>
        </p:spPr>
        <p:txBody>
          <a:bodyPr wrap="square">
            <a:spAutoFit/>
          </a:bodyPr>
          <a:lstStyle/>
          <a:p>
            <a:pPr algn="l"/>
            <a:r>
              <a:rPr sz="1050" b="0" i="0">
                <a:solidFill>
                  <a:srgbClr val="B8D8F0"/>
                </a:solidFill>
              </a:rPr>
              <a:t>Combines DistilBERT embeddings + XGBoost predictions. Weighted ensemble for final phishing classification.</a:t>
            </a:r>
          </a:p>
        </p:txBody>
      </p:sp>
      <p:sp>
        <p:nvSpPr>
          <p:cNvPr id="43" name="TextBox 42"/>
          <p:cNvSpPr txBox="1"/>
          <p:nvPr/>
        </p:nvSpPr>
        <p:spPr>
          <a:xfrm>
            <a:off x="10497312" y="2377440"/>
            <a:ext cx="292608" cy="438912"/>
          </a:xfrm>
          <a:prstGeom prst="rect">
            <a:avLst/>
          </a:prstGeom>
          <a:noFill/>
        </p:spPr>
        <p:txBody>
          <a:bodyPr wrap="square">
            <a:spAutoFit/>
          </a:bodyPr>
          <a:lstStyle/>
          <a:p>
            <a:pPr algn="ctr"/>
            <a:r>
              <a:rPr sz="1600" b="0" i="0">
                <a:solidFill>
                  <a:srgbClr val="39FF14"/>
                </a:solidFill>
              </a:rPr>
              <a:t>-&gt;</a:t>
            </a:r>
          </a:p>
        </p:txBody>
      </p:sp>
      <p:sp>
        <p:nvSpPr>
          <p:cNvPr id="44" name="Rectangle 43"/>
          <p:cNvSpPr/>
          <p:nvPr/>
        </p:nvSpPr>
        <p:spPr>
          <a:xfrm>
            <a:off x="10789920" y="1097280"/>
            <a:ext cx="1810512" cy="342900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789920" y="1097280"/>
            <a:ext cx="1810512" cy="502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789920" y="1170432"/>
            <a:ext cx="1810512" cy="548640"/>
          </a:xfrm>
          <a:prstGeom prst="rect">
            <a:avLst/>
          </a:prstGeom>
          <a:noFill/>
        </p:spPr>
        <p:txBody>
          <a:bodyPr wrap="square">
            <a:spAutoFit/>
          </a:bodyPr>
          <a:lstStyle/>
          <a:p>
            <a:pPr algn="ctr"/>
            <a:r>
              <a:rPr sz="2400" b="0" i="0">
                <a:solidFill>
                  <a:srgbClr val="FFFFFF"/>
                </a:solidFill>
              </a:rPr>
              <a:t>🚨</a:t>
            </a:r>
          </a:p>
        </p:txBody>
      </p:sp>
      <p:sp>
        <p:nvSpPr>
          <p:cNvPr id="47" name="TextBox 46"/>
          <p:cNvSpPr txBox="1"/>
          <p:nvPr/>
        </p:nvSpPr>
        <p:spPr>
          <a:xfrm>
            <a:off x="10789920" y="1691640"/>
            <a:ext cx="1810512" cy="530352"/>
          </a:xfrm>
          <a:prstGeom prst="rect">
            <a:avLst/>
          </a:prstGeom>
          <a:noFill/>
        </p:spPr>
        <p:txBody>
          <a:bodyPr wrap="square">
            <a:spAutoFit/>
          </a:bodyPr>
          <a:lstStyle/>
          <a:p>
            <a:pPr algn="ctr"/>
            <a:r>
              <a:rPr sz="1150" b="1" i="0">
                <a:solidFill>
                  <a:srgbClr val="FF6B35"/>
                </a:solidFill>
              </a:rPr>
              <a:t>Detection
Output</a:t>
            </a:r>
          </a:p>
        </p:txBody>
      </p:sp>
      <p:sp>
        <p:nvSpPr>
          <p:cNvPr id="48" name="Rectangle 47"/>
          <p:cNvSpPr/>
          <p:nvPr/>
        </p:nvSpPr>
        <p:spPr>
          <a:xfrm>
            <a:off x="10917936" y="2221992"/>
            <a:ext cx="155448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881360" y="2313432"/>
            <a:ext cx="1627632" cy="2121408"/>
          </a:xfrm>
          <a:prstGeom prst="rect">
            <a:avLst/>
          </a:prstGeom>
          <a:noFill/>
        </p:spPr>
        <p:txBody>
          <a:bodyPr wrap="square">
            <a:spAutoFit/>
          </a:bodyPr>
          <a:lstStyle/>
          <a:p>
            <a:pPr algn="l"/>
            <a:r>
              <a:rPr sz="1050" b="0" i="0">
                <a:solidFill>
                  <a:srgbClr val="B8D8F0"/>
                </a:solidFill>
              </a:rPr>
              <a:t>Binary output: Phishing (1) or Legitimate (0). Real-time alert with confidence score for each channel.</a:t>
            </a:r>
          </a:p>
        </p:txBody>
      </p:sp>
      <p:sp>
        <p:nvSpPr>
          <p:cNvPr id="50" name="Rectangle 49"/>
          <p:cNvSpPr/>
          <p:nvPr/>
        </p:nvSpPr>
        <p:spPr>
          <a:xfrm>
            <a:off x="274320" y="4663440"/>
            <a:ext cx="5577840" cy="1892807"/>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4320" y="4663440"/>
            <a:ext cx="5577840"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80" y="4727448"/>
            <a:ext cx="5303520" cy="347472"/>
          </a:xfrm>
          <a:prstGeom prst="rect">
            <a:avLst/>
          </a:prstGeom>
          <a:noFill/>
        </p:spPr>
        <p:txBody>
          <a:bodyPr wrap="square">
            <a:spAutoFit/>
          </a:bodyPr>
          <a:lstStyle/>
          <a:p>
            <a:pPr algn="l"/>
            <a:r>
              <a:rPr sz="1200" b="1" i="0">
                <a:solidFill>
                  <a:srgbClr val="00D4FF"/>
                </a:solidFill>
              </a:rPr>
              <a:t>DistilBERT Architecture Detail</a:t>
            </a:r>
          </a:p>
        </p:txBody>
      </p:sp>
      <p:sp>
        <p:nvSpPr>
          <p:cNvPr id="53" name="TextBox 52"/>
          <p:cNvSpPr txBox="1"/>
          <p:nvPr/>
        </p:nvSpPr>
        <p:spPr>
          <a:xfrm>
            <a:off x="365760" y="5102352"/>
            <a:ext cx="5303520" cy="274320"/>
          </a:xfrm>
          <a:prstGeom prst="rect">
            <a:avLst/>
          </a:prstGeom>
          <a:noFill/>
        </p:spPr>
        <p:txBody>
          <a:bodyPr wrap="square">
            <a:spAutoFit/>
          </a:bodyPr>
          <a:lstStyle/>
          <a:p>
            <a:pPr algn="l"/>
            <a:r>
              <a:rPr sz="1050" b="0" i="0">
                <a:solidFill>
                  <a:srgbClr val="FFFFFF"/>
                </a:solidFill>
              </a:rPr>
              <a:t>  -&gt; Input: Email/SMS text  -&gt;  WordPiece Tokenization (max 512 tokens)</a:t>
            </a:r>
          </a:p>
        </p:txBody>
      </p:sp>
      <p:sp>
        <p:nvSpPr>
          <p:cNvPr id="54" name="TextBox 53"/>
          <p:cNvSpPr txBox="1"/>
          <p:nvPr/>
        </p:nvSpPr>
        <p:spPr>
          <a:xfrm>
            <a:off x="365760" y="5422392"/>
            <a:ext cx="5303520" cy="274320"/>
          </a:xfrm>
          <a:prstGeom prst="rect">
            <a:avLst/>
          </a:prstGeom>
          <a:noFill/>
        </p:spPr>
        <p:txBody>
          <a:bodyPr wrap="square">
            <a:spAutoFit/>
          </a:bodyPr>
          <a:lstStyle/>
          <a:p>
            <a:pPr algn="l"/>
            <a:r>
              <a:rPr sz="1050" b="0" i="0">
                <a:solidFill>
                  <a:srgbClr val="FFFFFF"/>
                </a:solidFill>
              </a:rPr>
              <a:t>  -&gt; 6-layer Transformer Encoder with 12 attention heads (40% smaller than BERT)</a:t>
            </a:r>
          </a:p>
        </p:txBody>
      </p:sp>
      <p:sp>
        <p:nvSpPr>
          <p:cNvPr id="55" name="TextBox 54"/>
          <p:cNvSpPr txBox="1"/>
          <p:nvPr/>
        </p:nvSpPr>
        <p:spPr>
          <a:xfrm>
            <a:off x="365760" y="5742431"/>
            <a:ext cx="5303520" cy="274320"/>
          </a:xfrm>
          <a:prstGeom prst="rect">
            <a:avLst/>
          </a:prstGeom>
          <a:noFill/>
        </p:spPr>
        <p:txBody>
          <a:bodyPr wrap="square">
            <a:spAutoFit/>
          </a:bodyPr>
          <a:lstStyle/>
          <a:p>
            <a:pPr algn="l"/>
            <a:r>
              <a:rPr sz="1050" b="0" i="0">
                <a:solidFill>
                  <a:srgbClr val="FFFFFF"/>
                </a:solidFill>
              </a:rPr>
              <a:t>  -&gt; Contextual Embedding Output: 768-dim semantic feature vector per sample</a:t>
            </a:r>
          </a:p>
        </p:txBody>
      </p:sp>
      <p:sp>
        <p:nvSpPr>
          <p:cNvPr id="56" name="TextBox 55"/>
          <p:cNvSpPr txBox="1"/>
          <p:nvPr/>
        </p:nvSpPr>
        <p:spPr>
          <a:xfrm>
            <a:off x="365760" y="6062471"/>
            <a:ext cx="5303520" cy="274320"/>
          </a:xfrm>
          <a:prstGeom prst="rect">
            <a:avLst/>
          </a:prstGeom>
          <a:noFill/>
        </p:spPr>
        <p:txBody>
          <a:bodyPr wrap="square">
            <a:spAutoFit/>
          </a:bodyPr>
          <a:lstStyle/>
          <a:p>
            <a:pPr algn="l"/>
            <a:r>
              <a:rPr sz="1050" b="0" i="0">
                <a:solidFill>
                  <a:srgbClr val="FFFFFF"/>
                </a:solidFill>
              </a:rPr>
              <a:t>  -&gt; Classification Head: Dense(768) -&gt; Dropout(0.3) -&gt; Dense(1, Sigmoid)</a:t>
            </a:r>
          </a:p>
        </p:txBody>
      </p:sp>
      <p:sp>
        <p:nvSpPr>
          <p:cNvPr id="57" name="Rectangle 56"/>
          <p:cNvSpPr/>
          <p:nvPr/>
        </p:nvSpPr>
        <p:spPr>
          <a:xfrm>
            <a:off x="6217920" y="4663440"/>
            <a:ext cx="5669280" cy="1892807"/>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217920" y="4663440"/>
            <a:ext cx="5669280" cy="5029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55080" y="4727448"/>
            <a:ext cx="5394960" cy="347472"/>
          </a:xfrm>
          <a:prstGeom prst="rect">
            <a:avLst/>
          </a:prstGeom>
          <a:noFill/>
        </p:spPr>
        <p:txBody>
          <a:bodyPr wrap="square">
            <a:spAutoFit/>
          </a:bodyPr>
          <a:lstStyle/>
          <a:p>
            <a:pPr algn="l"/>
            <a:r>
              <a:rPr sz="1200" b="1" i="0">
                <a:solidFill>
                  <a:srgbClr val="00FFC8"/>
                </a:solidFill>
              </a:rPr>
              <a:t>XGBoost Feature Engineering Detail</a:t>
            </a:r>
          </a:p>
        </p:txBody>
      </p:sp>
      <p:sp>
        <p:nvSpPr>
          <p:cNvPr id="60" name="TextBox 59"/>
          <p:cNvSpPr txBox="1"/>
          <p:nvPr/>
        </p:nvSpPr>
        <p:spPr>
          <a:xfrm>
            <a:off x="6309360" y="5102352"/>
            <a:ext cx="5394960" cy="274320"/>
          </a:xfrm>
          <a:prstGeom prst="rect">
            <a:avLst/>
          </a:prstGeom>
          <a:noFill/>
        </p:spPr>
        <p:txBody>
          <a:bodyPr wrap="square">
            <a:spAutoFit/>
          </a:bodyPr>
          <a:lstStyle/>
          <a:p>
            <a:pPr algn="l"/>
            <a:r>
              <a:rPr sz="1050" b="0" i="0">
                <a:solidFill>
                  <a:srgbClr val="FFFFFF"/>
                </a:solidFill>
              </a:rPr>
              <a:t>  -&gt; URL features: length, dots, hyphens, special chars, TLD type, IP presence</a:t>
            </a:r>
          </a:p>
        </p:txBody>
      </p:sp>
      <p:sp>
        <p:nvSpPr>
          <p:cNvPr id="61" name="TextBox 60"/>
          <p:cNvSpPr txBox="1"/>
          <p:nvPr/>
        </p:nvSpPr>
        <p:spPr>
          <a:xfrm>
            <a:off x="6309360" y="5422392"/>
            <a:ext cx="5394960" cy="274320"/>
          </a:xfrm>
          <a:prstGeom prst="rect">
            <a:avLst/>
          </a:prstGeom>
          <a:noFill/>
        </p:spPr>
        <p:txBody>
          <a:bodyPr wrap="square">
            <a:spAutoFit/>
          </a:bodyPr>
          <a:lstStyle/>
          <a:p>
            <a:pPr algn="l"/>
            <a:r>
              <a:rPr sz="1050" b="0" i="0">
                <a:solidFill>
                  <a:srgbClr val="FFFFFF"/>
                </a:solidFill>
              </a:rPr>
              <a:t>  -&gt; Lexical: suspicious keywords, entropy, brand name spoofing patterns</a:t>
            </a:r>
          </a:p>
        </p:txBody>
      </p:sp>
      <p:sp>
        <p:nvSpPr>
          <p:cNvPr id="62" name="TextBox 61"/>
          <p:cNvSpPr txBox="1"/>
          <p:nvPr/>
        </p:nvSpPr>
        <p:spPr>
          <a:xfrm>
            <a:off x="6309360" y="5742431"/>
            <a:ext cx="5394960" cy="274320"/>
          </a:xfrm>
          <a:prstGeom prst="rect">
            <a:avLst/>
          </a:prstGeom>
          <a:noFill/>
        </p:spPr>
        <p:txBody>
          <a:bodyPr wrap="square">
            <a:spAutoFit/>
          </a:bodyPr>
          <a:lstStyle/>
          <a:p>
            <a:pPr algn="l"/>
            <a:r>
              <a:rPr sz="1050" b="0" i="0">
                <a:solidFill>
                  <a:srgbClr val="FFFFFF"/>
                </a:solidFill>
              </a:rPr>
              <a:t>  -&gt; Domain: WHOIS age, SSL certificate, redirect chain, subdomain count</a:t>
            </a:r>
          </a:p>
        </p:txBody>
      </p:sp>
      <p:sp>
        <p:nvSpPr>
          <p:cNvPr id="63" name="TextBox 62"/>
          <p:cNvSpPr txBox="1"/>
          <p:nvPr/>
        </p:nvSpPr>
        <p:spPr>
          <a:xfrm>
            <a:off x="6309360" y="6062471"/>
            <a:ext cx="5394960" cy="274320"/>
          </a:xfrm>
          <a:prstGeom prst="rect">
            <a:avLst/>
          </a:prstGeom>
          <a:noFill/>
        </p:spPr>
        <p:txBody>
          <a:bodyPr wrap="square">
            <a:spAutoFit/>
          </a:bodyPr>
          <a:lstStyle/>
          <a:p>
            <a:pPr algn="l"/>
            <a:r>
              <a:rPr sz="1050" b="0" i="0">
                <a:solidFill>
                  <a:srgbClr val="FFFFFF"/>
                </a:solidFill>
              </a:rPr>
              <a:t>  -&gt; XGBoost: 200 estimators, max_depth=6, learning_rate=0.1, scale_pos_weight=1</a:t>
            </a:r>
          </a:p>
        </p:txBody>
      </p:sp>
      <p:sp>
        <p:nvSpPr>
          <p:cNvPr id="64" name="TextBox 63"/>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6 / 13</a:t>
            </a:r>
          </a:p>
        </p:txBody>
      </p:sp>
      <p:sp>
        <p:nvSpPr>
          <p:cNvPr id="65" name="Rectangle 64"/>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Innovation: DistilBERT handles semantic text analysis; XGBoost handles structural URL features — fused for superior accuracy.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98755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 y="45720"/>
            <a:ext cx="10241280" cy="566928"/>
          </a:xfrm>
          <a:prstGeom prst="rect">
            <a:avLst/>
          </a:prstGeom>
          <a:noFill/>
        </p:spPr>
        <p:txBody>
          <a:bodyPr wrap="square">
            <a:spAutoFit/>
          </a:bodyPr>
          <a:lstStyle/>
          <a:p>
            <a:pPr algn="l"/>
            <a:r>
              <a:rPr sz="2800" b="1" i="0">
                <a:solidFill>
                  <a:srgbClr val="FFFFFF"/>
                </a:solidFill>
              </a:rPr>
              <a:t>Dataset Specifications</a:t>
            </a:r>
          </a:p>
        </p:txBody>
      </p:sp>
      <p:sp>
        <p:nvSpPr>
          <p:cNvPr id="7" name="TextBox 6"/>
          <p:cNvSpPr txBox="1"/>
          <p:nvPr/>
        </p:nvSpPr>
        <p:spPr>
          <a:xfrm>
            <a:off x="164592" y="603504"/>
            <a:ext cx="10241280" cy="329184"/>
          </a:xfrm>
          <a:prstGeom prst="rect">
            <a:avLst/>
          </a:prstGeom>
          <a:noFill/>
        </p:spPr>
        <p:txBody>
          <a:bodyPr wrap="square">
            <a:spAutoFit/>
          </a:bodyPr>
          <a:lstStyle/>
          <a:p>
            <a:pPr algn="l"/>
            <a:r>
              <a:rPr sz="1250" b="0" i="1">
                <a:solidFill>
                  <a:srgbClr val="39FF14"/>
                </a:solidFill>
              </a:rPr>
              <a:t>Phishing URL, Email, and SMS Spam/Smishing Datasets</a:t>
            </a:r>
          </a:p>
        </p:txBody>
      </p:sp>
      <p:sp>
        <p:nvSpPr>
          <p:cNvPr id="8" name="TextBox 7"/>
          <p:cNvSpPr txBox="1"/>
          <p:nvPr/>
        </p:nvSpPr>
        <p:spPr>
          <a:xfrm>
            <a:off x="8046720" y="676656"/>
            <a:ext cx="4023360" cy="256032"/>
          </a:xfrm>
          <a:prstGeom prst="rect">
            <a:avLst/>
          </a:prstGeom>
          <a:noFill/>
        </p:spPr>
        <p:txBody>
          <a:bodyPr wrap="square">
            <a:spAutoFit/>
          </a:bodyPr>
          <a:lstStyle/>
          <a:p>
            <a:pPr algn="r"/>
            <a:r>
              <a:rPr sz="900" b="0" i="0">
                <a:solidFill>
                  <a:srgbClr val="B8D8F0"/>
                </a:solidFill>
              </a:rPr>
              <a:t>PhishGuard | AI-Powered Phishing Detection</a:t>
            </a:r>
          </a:p>
        </p:txBody>
      </p:sp>
      <p:sp>
        <p:nvSpPr>
          <p:cNvPr id="9" name="Rectangle 8"/>
          <p:cNvSpPr/>
          <p:nvPr/>
        </p:nvSpPr>
        <p:spPr>
          <a:xfrm>
            <a:off x="274320" y="1097280"/>
            <a:ext cx="6583680" cy="548640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 y="1124712"/>
            <a:ext cx="6547104" cy="49377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1188720"/>
            <a:ext cx="2560320" cy="347472"/>
          </a:xfrm>
          <a:prstGeom prst="rect">
            <a:avLst/>
          </a:prstGeom>
          <a:noFill/>
        </p:spPr>
        <p:txBody>
          <a:bodyPr wrap="square">
            <a:spAutoFit/>
          </a:bodyPr>
          <a:lstStyle/>
          <a:p>
            <a:pPr algn="l"/>
            <a:r>
              <a:rPr sz="1150" b="0" i="0">
                <a:solidFill>
                  <a:srgbClr val="B8D8F0"/>
                </a:solidFill>
              </a:rPr>
              <a:t>Datasets Used</a:t>
            </a:r>
          </a:p>
        </p:txBody>
      </p:sp>
      <p:sp>
        <p:nvSpPr>
          <p:cNvPr id="12" name="Rectangle 11"/>
          <p:cNvSpPr/>
          <p:nvPr/>
        </p:nvSpPr>
        <p:spPr>
          <a:xfrm>
            <a:off x="2944368" y="1216152"/>
            <a:ext cx="36576"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54096" y="1188720"/>
            <a:ext cx="3657600" cy="347472"/>
          </a:xfrm>
          <a:prstGeom prst="rect">
            <a:avLst/>
          </a:prstGeom>
          <a:noFill/>
        </p:spPr>
        <p:txBody>
          <a:bodyPr wrap="square">
            <a:spAutoFit/>
          </a:bodyPr>
          <a:lstStyle/>
          <a:p>
            <a:pPr algn="l"/>
            <a:r>
              <a:rPr sz="1100" b="1" i="0">
                <a:solidFill>
                  <a:srgbClr val="39FF14"/>
                </a:solidFill>
              </a:rPr>
              <a:t>Phishing URL Dataset + Email Phishing Dataset + SMS Spam/Smishing Dataset</a:t>
            </a:r>
          </a:p>
        </p:txBody>
      </p:sp>
      <p:sp>
        <p:nvSpPr>
          <p:cNvPr id="14" name="Rectangle 13"/>
          <p:cNvSpPr/>
          <p:nvPr/>
        </p:nvSpPr>
        <p:spPr>
          <a:xfrm>
            <a:off x="292608" y="1636776"/>
            <a:ext cx="6547104" cy="49377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2560320" cy="347472"/>
          </a:xfrm>
          <a:prstGeom prst="rect">
            <a:avLst/>
          </a:prstGeom>
          <a:noFill/>
        </p:spPr>
        <p:txBody>
          <a:bodyPr wrap="square">
            <a:spAutoFit/>
          </a:bodyPr>
          <a:lstStyle/>
          <a:p>
            <a:pPr algn="l"/>
            <a:r>
              <a:rPr sz="1150" b="0" i="0">
                <a:solidFill>
                  <a:srgbClr val="B8D8F0"/>
                </a:solidFill>
              </a:rPr>
              <a:t>Total Data Types</a:t>
            </a:r>
          </a:p>
        </p:txBody>
      </p:sp>
      <p:sp>
        <p:nvSpPr>
          <p:cNvPr id="16" name="Rectangle 15"/>
          <p:cNvSpPr/>
          <p:nvPr/>
        </p:nvSpPr>
        <p:spPr>
          <a:xfrm>
            <a:off x="2944368" y="1728216"/>
            <a:ext cx="36576"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4096" y="1700784"/>
            <a:ext cx="3657600" cy="347472"/>
          </a:xfrm>
          <a:prstGeom prst="rect">
            <a:avLst/>
          </a:prstGeom>
          <a:noFill/>
        </p:spPr>
        <p:txBody>
          <a:bodyPr wrap="square">
            <a:spAutoFit/>
          </a:bodyPr>
          <a:lstStyle/>
          <a:p>
            <a:pPr algn="l"/>
            <a:r>
              <a:rPr sz="1100" b="1" i="0">
                <a:solidFill>
                  <a:srgbClr val="00D4FF"/>
                </a:solidFill>
              </a:rPr>
              <a:t>Text data (emails, SMS) + Structured data (URLs, domain features)</a:t>
            </a:r>
          </a:p>
        </p:txBody>
      </p:sp>
      <p:sp>
        <p:nvSpPr>
          <p:cNvPr id="18" name="Rectangle 17"/>
          <p:cNvSpPr/>
          <p:nvPr/>
        </p:nvSpPr>
        <p:spPr>
          <a:xfrm>
            <a:off x="292608" y="2148840"/>
            <a:ext cx="6547104" cy="49377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2212848"/>
            <a:ext cx="2560320" cy="347472"/>
          </a:xfrm>
          <a:prstGeom prst="rect">
            <a:avLst/>
          </a:prstGeom>
          <a:noFill/>
        </p:spPr>
        <p:txBody>
          <a:bodyPr wrap="square">
            <a:spAutoFit/>
          </a:bodyPr>
          <a:lstStyle/>
          <a:p>
            <a:pPr algn="l"/>
            <a:r>
              <a:rPr sz="1150" b="0" i="0">
                <a:solidFill>
                  <a:srgbClr val="B8D8F0"/>
                </a:solidFill>
              </a:rPr>
              <a:t>Label Format</a:t>
            </a:r>
          </a:p>
        </p:txBody>
      </p:sp>
      <p:sp>
        <p:nvSpPr>
          <p:cNvPr id="20" name="Rectangle 19"/>
          <p:cNvSpPr/>
          <p:nvPr/>
        </p:nvSpPr>
        <p:spPr>
          <a:xfrm>
            <a:off x="2944368" y="2240280"/>
            <a:ext cx="36576"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212848"/>
            <a:ext cx="3657600" cy="347472"/>
          </a:xfrm>
          <a:prstGeom prst="rect">
            <a:avLst/>
          </a:prstGeom>
          <a:noFill/>
        </p:spPr>
        <p:txBody>
          <a:bodyPr wrap="square">
            <a:spAutoFit/>
          </a:bodyPr>
          <a:lstStyle/>
          <a:p>
            <a:pPr algn="l"/>
            <a:r>
              <a:rPr sz="1100" b="1" i="0">
                <a:solidFill>
                  <a:srgbClr val="FFCC00"/>
                </a:solidFill>
              </a:rPr>
              <a:t>Binary: Phishing = 1  |  Legitimate = 0 (CSV labeled samples)</a:t>
            </a:r>
          </a:p>
        </p:txBody>
      </p:sp>
      <p:sp>
        <p:nvSpPr>
          <p:cNvPr id="22" name="Rectangle 21"/>
          <p:cNvSpPr/>
          <p:nvPr/>
        </p:nvSpPr>
        <p:spPr>
          <a:xfrm>
            <a:off x="292608" y="2660904"/>
            <a:ext cx="6547104" cy="49377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2724912"/>
            <a:ext cx="2560320" cy="347472"/>
          </a:xfrm>
          <a:prstGeom prst="rect">
            <a:avLst/>
          </a:prstGeom>
          <a:noFill/>
        </p:spPr>
        <p:txBody>
          <a:bodyPr wrap="square">
            <a:spAutoFit/>
          </a:bodyPr>
          <a:lstStyle/>
          <a:p>
            <a:pPr algn="l"/>
            <a:r>
              <a:rPr sz="1150" b="0" i="0">
                <a:solidFill>
                  <a:srgbClr val="B8D8F0"/>
                </a:solidFill>
              </a:rPr>
              <a:t>URL Features</a:t>
            </a:r>
          </a:p>
        </p:txBody>
      </p:sp>
      <p:sp>
        <p:nvSpPr>
          <p:cNvPr id="24" name="Rectangle 23"/>
          <p:cNvSpPr/>
          <p:nvPr/>
        </p:nvSpPr>
        <p:spPr>
          <a:xfrm>
            <a:off x="2944368" y="2752344"/>
            <a:ext cx="36576"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54096" y="2724912"/>
            <a:ext cx="3657600" cy="347472"/>
          </a:xfrm>
          <a:prstGeom prst="rect">
            <a:avLst/>
          </a:prstGeom>
          <a:noFill/>
        </p:spPr>
        <p:txBody>
          <a:bodyPr wrap="square">
            <a:spAutoFit/>
          </a:bodyPr>
          <a:lstStyle/>
          <a:p>
            <a:pPr algn="l"/>
            <a:r>
              <a:rPr sz="1100" b="1" i="0">
                <a:solidFill>
                  <a:srgbClr val="B8D8F0"/>
                </a:solidFill>
              </a:rPr>
              <a:t>URL length, dots, hyphens, special chars, IP address, domain age, TLD</a:t>
            </a:r>
          </a:p>
        </p:txBody>
      </p:sp>
      <p:sp>
        <p:nvSpPr>
          <p:cNvPr id="26" name="Rectangle 25"/>
          <p:cNvSpPr/>
          <p:nvPr/>
        </p:nvSpPr>
        <p:spPr>
          <a:xfrm>
            <a:off x="292608" y="3172968"/>
            <a:ext cx="6547104" cy="49377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236976"/>
            <a:ext cx="2560320" cy="347472"/>
          </a:xfrm>
          <a:prstGeom prst="rect">
            <a:avLst/>
          </a:prstGeom>
          <a:noFill/>
        </p:spPr>
        <p:txBody>
          <a:bodyPr wrap="square">
            <a:spAutoFit/>
          </a:bodyPr>
          <a:lstStyle/>
          <a:p>
            <a:pPr algn="l"/>
            <a:r>
              <a:rPr sz="1150" b="0" i="0">
                <a:solidFill>
                  <a:srgbClr val="B8D8F0"/>
                </a:solidFill>
              </a:rPr>
              <a:t>Email/SMS Features</a:t>
            </a:r>
          </a:p>
        </p:txBody>
      </p:sp>
      <p:sp>
        <p:nvSpPr>
          <p:cNvPr id="28" name="Rectangle 27"/>
          <p:cNvSpPr/>
          <p:nvPr/>
        </p:nvSpPr>
        <p:spPr>
          <a:xfrm>
            <a:off x="2944368" y="3264408"/>
            <a:ext cx="36576"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54096" y="3236976"/>
            <a:ext cx="3657600" cy="347472"/>
          </a:xfrm>
          <a:prstGeom prst="rect">
            <a:avLst/>
          </a:prstGeom>
          <a:noFill/>
        </p:spPr>
        <p:txBody>
          <a:bodyPr wrap="square">
            <a:spAutoFit/>
          </a:bodyPr>
          <a:lstStyle/>
          <a:p>
            <a:pPr algn="l"/>
            <a:r>
              <a:rPr sz="1100" b="1" i="0">
                <a:solidFill>
                  <a:srgbClr val="B8D8F0"/>
                </a:solidFill>
              </a:rPr>
              <a:t>TF-IDF vectors, semantic embeddings, suspicious keywords, sender patterns</a:t>
            </a:r>
          </a:p>
        </p:txBody>
      </p:sp>
      <p:sp>
        <p:nvSpPr>
          <p:cNvPr id="30" name="Rectangle 29"/>
          <p:cNvSpPr/>
          <p:nvPr/>
        </p:nvSpPr>
        <p:spPr>
          <a:xfrm>
            <a:off x="292608" y="3685032"/>
            <a:ext cx="6547104" cy="49377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3749040"/>
            <a:ext cx="2560320" cy="347472"/>
          </a:xfrm>
          <a:prstGeom prst="rect">
            <a:avLst/>
          </a:prstGeom>
          <a:noFill/>
        </p:spPr>
        <p:txBody>
          <a:bodyPr wrap="square">
            <a:spAutoFit/>
          </a:bodyPr>
          <a:lstStyle/>
          <a:p>
            <a:pPr algn="l"/>
            <a:r>
              <a:rPr sz="1150" b="0" i="0">
                <a:solidFill>
                  <a:srgbClr val="B8D8F0"/>
                </a:solidFill>
              </a:rPr>
              <a:t>Domain Features</a:t>
            </a:r>
          </a:p>
        </p:txBody>
      </p:sp>
      <p:sp>
        <p:nvSpPr>
          <p:cNvPr id="32" name="Rectangle 31"/>
          <p:cNvSpPr/>
          <p:nvPr/>
        </p:nvSpPr>
        <p:spPr>
          <a:xfrm>
            <a:off x="2944368" y="3776472"/>
            <a:ext cx="36576"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54096" y="3749040"/>
            <a:ext cx="3657600" cy="347472"/>
          </a:xfrm>
          <a:prstGeom prst="rect">
            <a:avLst/>
          </a:prstGeom>
          <a:noFill/>
        </p:spPr>
        <p:txBody>
          <a:bodyPr wrap="square">
            <a:spAutoFit/>
          </a:bodyPr>
          <a:lstStyle/>
          <a:p>
            <a:pPr algn="l"/>
            <a:r>
              <a:rPr sz="1100" b="1" i="0">
                <a:solidFill>
                  <a:srgbClr val="B8D8F0"/>
                </a:solidFill>
              </a:rPr>
              <a:t>WHOIS info, SSL certificate, redirect count, subdomain structure</a:t>
            </a:r>
          </a:p>
        </p:txBody>
      </p:sp>
      <p:sp>
        <p:nvSpPr>
          <p:cNvPr id="34" name="Rectangle 33"/>
          <p:cNvSpPr/>
          <p:nvPr/>
        </p:nvSpPr>
        <p:spPr>
          <a:xfrm>
            <a:off x="292608" y="4197096"/>
            <a:ext cx="6547104" cy="49377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048" y="4261104"/>
            <a:ext cx="2560320" cy="347472"/>
          </a:xfrm>
          <a:prstGeom prst="rect">
            <a:avLst/>
          </a:prstGeom>
          <a:noFill/>
        </p:spPr>
        <p:txBody>
          <a:bodyPr wrap="square">
            <a:spAutoFit/>
          </a:bodyPr>
          <a:lstStyle/>
          <a:p>
            <a:pPr algn="l"/>
            <a:r>
              <a:rPr sz="1150" b="0" i="0">
                <a:solidFill>
                  <a:srgbClr val="B8D8F0"/>
                </a:solidFill>
              </a:rPr>
              <a:t>Preprocessing Steps</a:t>
            </a:r>
          </a:p>
        </p:txBody>
      </p:sp>
      <p:sp>
        <p:nvSpPr>
          <p:cNvPr id="36" name="Rectangle 35"/>
          <p:cNvSpPr/>
          <p:nvPr/>
        </p:nvSpPr>
        <p:spPr>
          <a:xfrm>
            <a:off x="2944368" y="4288536"/>
            <a:ext cx="36576"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54096" y="4261104"/>
            <a:ext cx="3657600" cy="347472"/>
          </a:xfrm>
          <a:prstGeom prst="rect">
            <a:avLst/>
          </a:prstGeom>
          <a:noFill/>
        </p:spPr>
        <p:txBody>
          <a:bodyPr wrap="square">
            <a:spAutoFit/>
          </a:bodyPr>
          <a:lstStyle/>
          <a:p>
            <a:pPr algn="l"/>
            <a:r>
              <a:rPr sz="1100" b="1" i="0">
                <a:solidFill>
                  <a:srgbClr val="B8D8F0"/>
                </a:solidFill>
              </a:rPr>
              <a:t>Data cleaning, duplicate removal, tokenization, normalization, feature extract</a:t>
            </a:r>
          </a:p>
        </p:txBody>
      </p:sp>
      <p:sp>
        <p:nvSpPr>
          <p:cNvPr id="38" name="Rectangle 37"/>
          <p:cNvSpPr/>
          <p:nvPr/>
        </p:nvSpPr>
        <p:spPr>
          <a:xfrm>
            <a:off x="292608" y="4709160"/>
            <a:ext cx="6547104" cy="49377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4048" y="4773168"/>
            <a:ext cx="2560320" cy="347472"/>
          </a:xfrm>
          <a:prstGeom prst="rect">
            <a:avLst/>
          </a:prstGeom>
          <a:noFill/>
        </p:spPr>
        <p:txBody>
          <a:bodyPr wrap="square">
            <a:spAutoFit/>
          </a:bodyPr>
          <a:lstStyle/>
          <a:p>
            <a:pPr algn="l"/>
            <a:r>
              <a:rPr sz="1150" b="0" i="0">
                <a:solidFill>
                  <a:srgbClr val="B8D8F0"/>
                </a:solidFill>
              </a:rPr>
              <a:t>Train / Val / Test</a:t>
            </a:r>
          </a:p>
        </p:txBody>
      </p:sp>
      <p:sp>
        <p:nvSpPr>
          <p:cNvPr id="40" name="Rectangle 39"/>
          <p:cNvSpPr/>
          <p:nvPr/>
        </p:nvSpPr>
        <p:spPr>
          <a:xfrm>
            <a:off x="2944368" y="4800600"/>
            <a:ext cx="36576"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54096" y="4773168"/>
            <a:ext cx="3657600" cy="347472"/>
          </a:xfrm>
          <a:prstGeom prst="rect">
            <a:avLst/>
          </a:prstGeom>
          <a:noFill/>
        </p:spPr>
        <p:txBody>
          <a:bodyPr wrap="square">
            <a:spAutoFit/>
          </a:bodyPr>
          <a:lstStyle/>
          <a:p>
            <a:pPr algn="l"/>
            <a:r>
              <a:rPr sz="1100" b="1" i="0">
                <a:solidFill>
                  <a:srgbClr val="00D4FF"/>
                </a:solidFill>
              </a:rPr>
              <a:t>70% Training  |  15% Validation  |  15% Test</a:t>
            </a:r>
          </a:p>
        </p:txBody>
      </p:sp>
      <p:sp>
        <p:nvSpPr>
          <p:cNvPr id="42" name="Rectangle 41"/>
          <p:cNvSpPr/>
          <p:nvPr/>
        </p:nvSpPr>
        <p:spPr>
          <a:xfrm>
            <a:off x="292608" y="5221224"/>
            <a:ext cx="6547104" cy="49377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4048" y="5285232"/>
            <a:ext cx="2560320" cy="347472"/>
          </a:xfrm>
          <a:prstGeom prst="rect">
            <a:avLst/>
          </a:prstGeom>
          <a:noFill/>
        </p:spPr>
        <p:txBody>
          <a:bodyPr wrap="square">
            <a:spAutoFit/>
          </a:bodyPr>
          <a:lstStyle/>
          <a:p>
            <a:pPr algn="l"/>
            <a:r>
              <a:rPr sz="1150" b="0" i="0">
                <a:solidFill>
                  <a:srgbClr val="B8D8F0"/>
                </a:solidFill>
              </a:rPr>
              <a:t>Augmentation / Balancing</a:t>
            </a:r>
          </a:p>
        </p:txBody>
      </p:sp>
      <p:sp>
        <p:nvSpPr>
          <p:cNvPr id="44" name="Rectangle 43"/>
          <p:cNvSpPr/>
          <p:nvPr/>
        </p:nvSpPr>
        <p:spPr>
          <a:xfrm>
            <a:off x="2944368" y="5312664"/>
            <a:ext cx="36576"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054096" y="5285232"/>
            <a:ext cx="3657600" cy="347472"/>
          </a:xfrm>
          <a:prstGeom prst="rect">
            <a:avLst/>
          </a:prstGeom>
          <a:noFill/>
        </p:spPr>
        <p:txBody>
          <a:bodyPr wrap="square">
            <a:spAutoFit/>
          </a:bodyPr>
          <a:lstStyle/>
          <a:p>
            <a:pPr algn="l"/>
            <a:r>
              <a:rPr sz="1100" b="1" i="0">
                <a:solidFill>
                  <a:srgbClr val="B8D8F0"/>
                </a:solidFill>
              </a:rPr>
              <a:t>Class balancing using oversampling (SMOTE) and random undersampling</a:t>
            </a:r>
          </a:p>
        </p:txBody>
      </p:sp>
      <p:sp>
        <p:nvSpPr>
          <p:cNvPr id="46" name="Rectangle 45"/>
          <p:cNvSpPr/>
          <p:nvPr/>
        </p:nvSpPr>
        <p:spPr>
          <a:xfrm>
            <a:off x="292608" y="5733288"/>
            <a:ext cx="6547104" cy="49377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4048" y="5797296"/>
            <a:ext cx="2560320" cy="347472"/>
          </a:xfrm>
          <a:prstGeom prst="rect">
            <a:avLst/>
          </a:prstGeom>
          <a:noFill/>
        </p:spPr>
        <p:txBody>
          <a:bodyPr wrap="square">
            <a:spAutoFit/>
          </a:bodyPr>
          <a:lstStyle/>
          <a:p>
            <a:pPr algn="l"/>
            <a:r>
              <a:rPr sz="1150" b="0" i="0">
                <a:solidFill>
                  <a:srgbClr val="B8D8F0"/>
                </a:solidFill>
              </a:rPr>
              <a:t>Dataset Format</a:t>
            </a:r>
          </a:p>
        </p:txBody>
      </p:sp>
      <p:sp>
        <p:nvSpPr>
          <p:cNvPr id="48" name="Rectangle 47"/>
          <p:cNvSpPr/>
          <p:nvPr/>
        </p:nvSpPr>
        <p:spPr>
          <a:xfrm>
            <a:off x="2944368" y="5824728"/>
            <a:ext cx="36576" cy="2926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054096" y="5797296"/>
            <a:ext cx="3657600" cy="347472"/>
          </a:xfrm>
          <a:prstGeom prst="rect">
            <a:avLst/>
          </a:prstGeom>
          <a:noFill/>
        </p:spPr>
        <p:txBody>
          <a:bodyPr wrap="square">
            <a:spAutoFit/>
          </a:bodyPr>
          <a:lstStyle/>
          <a:p>
            <a:pPr algn="l"/>
            <a:r>
              <a:rPr sz="1100" b="1" i="0">
                <a:solidFill>
                  <a:srgbClr val="B8D8F0"/>
                </a:solidFill>
              </a:rPr>
              <a:t>CSV files with feature columns + binary label column</a:t>
            </a:r>
          </a:p>
        </p:txBody>
      </p:sp>
      <p:sp>
        <p:nvSpPr>
          <p:cNvPr id="50" name="Rectangle 49"/>
          <p:cNvSpPr/>
          <p:nvPr/>
        </p:nvSpPr>
        <p:spPr>
          <a:xfrm>
            <a:off x="7178040" y="1097280"/>
            <a:ext cx="4709160" cy="2633472"/>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178040" y="1097280"/>
            <a:ext cx="4709160" cy="502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0" y="1161288"/>
            <a:ext cx="4434840" cy="347472"/>
          </a:xfrm>
          <a:prstGeom prst="rect">
            <a:avLst/>
          </a:prstGeom>
          <a:noFill/>
        </p:spPr>
        <p:txBody>
          <a:bodyPr wrap="square">
            <a:spAutoFit/>
          </a:bodyPr>
          <a:lstStyle/>
          <a:p>
            <a:pPr algn="l"/>
            <a:r>
              <a:rPr sz="1250" b="1" i="0">
                <a:solidFill>
                  <a:srgbClr val="FF6B35"/>
                </a:solidFill>
              </a:rPr>
              <a:t>Dataset Channel Breakdown</a:t>
            </a:r>
          </a:p>
        </p:txBody>
      </p:sp>
      <p:sp>
        <p:nvSpPr>
          <p:cNvPr id="53" name="Rectangle 52"/>
          <p:cNvSpPr/>
          <p:nvPr/>
        </p:nvSpPr>
        <p:spPr>
          <a:xfrm>
            <a:off x="7251192" y="1572768"/>
            <a:ext cx="4526280" cy="640080"/>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251192" y="1572768"/>
            <a:ext cx="54864" cy="6400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79208" y="1618488"/>
            <a:ext cx="4251960" cy="274320"/>
          </a:xfrm>
          <a:prstGeom prst="rect">
            <a:avLst/>
          </a:prstGeom>
          <a:noFill/>
        </p:spPr>
        <p:txBody>
          <a:bodyPr wrap="square">
            <a:spAutoFit/>
          </a:bodyPr>
          <a:lstStyle/>
          <a:p>
            <a:pPr algn="l"/>
            <a:r>
              <a:rPr sz="1150" b="1" i="0">
                <a:solidFill>
                  <a:srgbClr val="FF6B35"/>
                </a:solidFill>
              </a:rPr>
              <a:t>Phishing URL Dataset</a:t>
            </a:r>
          </a:p>
        </p:txBody>
      </p:sp>
      <p:sp>
        <p:nvSpPr>
          <p:cNvPr id="56" name="TextBox 55"/>
          <p:cNvSpPr txBox="1"/>
          <p:nvPr/>
        </p:nvSpPr>
        <p:spPr>
          <a:xfrm>
            <a:off x="7379208" y="1901952"/>
            <a:ext cx="4251960" cy="256032"/>
          </a:xfrm>
          <a:prstGeom prst="rect">
            <a:avLst/>
          </a:prstGeom>
          <a:noFill/>
        </p:spPr>
        <p:txBody>
          <a:bodyPr wrap="square">
            <a:spAutoFit/>
          </a:bodyPr>
          <a:lstStyle/>
          <a:p>
            <a:pPr algn="l"/>
            <a:r>
              <a:rPr sz="1050" b="0" i="0">
                <a:solidFill>
                  <a:srgbClr val="B8D8F0"/>
                </a:solidFill>
              </a:rPr>
              <a:t>Malicious &amp; legitimate URLs with structural/lexical features extracted</a:t>
            </a:r>
          </a:p>
        </p:txBody>
      </p:sp>
      <p:sp>
        <p:nvSpPr>
          <p:cNvPr id="57" name="Rectangle 56"/>
          <p:cNvSpPr/>
          <p:nvPr/>
        </p:nvSpPr>
        <p:spPr>
          <a:xfrm>
            <a:off x="7251192" y="2322576"/>
            <a:ext cx="4526280" cy="640080"/>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251192" y="2322576"/>
            <a:ext cx="54864" cy="6400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79208" y="2368296"/>
            <a:ext cx="4251960" cy="274320"/>
          </a:xfrm>
          <a:prstGeom prst="rect">
            <a:avLst/>
          </a:prstGeom>
          <a:noFill/>
        </p:spPr>
        <p:txBody>
          <a:bodyPr wrap="square">
            <a:spAutoFit/>
          </a:bodyPr>
          <a:lstStyle/>
          <a:p>
            <a:pPr algn="l"/>
            <a:r>
              <a:rPr sz="1150" b="1" i="0">
                <a:solidFill>
                  <a:srgbClr val="00D4FF"/>
                </a:solidFill>
              </a:rPr>
              <a:t>Email Phishing Dataset</a:t>
            </a:r>
          </a:p>
        </p:txBody>
      </p:sp>
      <p:sp>
        <p:nvSpPr>
          <p:cNvPr id="60" name="TextBox 59"/>
          <p:cNvSpPr txBox="1"/>
          <p:nvPr/>
        </p:nvSpPr>
        <p:spPr>
          <a:xfrm>
            <a:off x="7379208" y="2651760"/>
            <a:ext cx="4251960" cy="256032"/>
          </a:xfrm>
          <a:prstGeom prst="rect">
            <a:avLst/>
          </a:prstGeom>
          <a:noFill/>
        </p:spPr>
        <p:txBody>
          <a:bodyPr wrap="square">
            <a:spAutoFit/>
          </a:bodyPr>
          <a:lstStyle/>
          <a:p>
            <a:pPr algn="l"/>
            <a:r>
              <a:rPr sz="1050" b="0" i="0">
                <a:solidFill>
                  <a:srgbClr val="B8D8F0"/>
                </a:solidFill>
              </a:rPr>
              <a:t>Phishing &amp; legitimate email text with header and body content</a:t>
            </a:r>
          </a:p>
        </p:txBody>
      </p:sp>
      <p:sp>
        <p:nvSpPr>
          <p:cNvPr id="61" name="Rectangle 60"/>
          <p:cNvSpPr/>
          <p:nvPr/>
        </p:nvSpPr>
        <p:spPr>
          <a:xfrm>
            <a:off x="7251192" y="3072384"/>
            <a:ext cx="4526280" cy="640080"/>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251192" y="3072384"/>
            <a:ext cx="54864" cy="6400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79208" y="3118103"/>
            <a:ext cx="4251960" cy="274320"/>
          </a:xfrm>
          <a:prstGeom prst="rect">
            <a:avLst/>
          </a:prstGeom>
          <a:noFill/>
        </p:spPr>
        <p:txBody>
          <a:bodyPr wrap="square">
            <a:spAutoFit/>
          </a:bodyPr>
          <a:lstStyle/>
          <a:p>
            <a:pPr algn="l"/>
            <a:r>
              <a:rPr sz="1150" b="1" i="0">
                <a:solidFill>
                  <a:srgbClr val="FFCC00"/>
                </a:solidFill>
              </a:rPr>
              <a:t>SMS Smishing Dataset</a:t>
            </a:r>
          </a:p>
        </p:txBody>
      </p:sp>
      <p:sp>
        <p:nvSpPr>
          <p:cNvPr id="64" name="TextBox 63"/>
          <p:cNvSpPr txBox="1"/>
          <p:nvPr/>
        </p:nvSpPr>
        <p:spPr>
          <a:xfrm>
            <a:off x="7379208" y="3401568"/>
            <a:ext cx="4251960" cy="256032"/>
          </a:xfrm>
          <a:prstGeom prst="rect">
            <a:avLst/>
          </a:prstGeom>
          <a:noFill/>
        </p:spPr>
        <p:txBody>
          <a:bodyPr wrap="square">
            <a:spAutoFit/>
          </a:bodyPr>
          <a:lstStyle/>
          <a:p>
            <a:pPr algn="l"/>
            <a:r>
              <a:rPr sz="1050" b="0" i="0">
                <a:solidFill>
                  <a:srgbClr val="B8D8F0"/>
                </a:solidFill>
              </a:rPr>
              <a:t>Spam/phishing SMS messages alongside legitimate SMS samples</a:t>
            </a:r>
          </a:p>
        </p:txBody>
      </p:sp>
      <p:sp>
        <p:nvSpPr>
          <p:cNvPr id="65" name="Rectangle 64"/>
          <p:cNvSpPr/>
          <p:nvPr/>
        </p:nvSpPr>
        <p:spPr>
          <a:xfrm>
            <a:off x="7178040" y="3840480"/>
            <a:ext cx="4709160" cy="274320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178040" y="3840480"/>
            <a:ext cx="4709160"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315200" y="3904487"/>
            <a:ext cx="4434840" cy="347472"/>
          </a:xfrm>
          <a:prstGeom prst="rect">
            <a:avLst/>
          </a:prstGeom>
          <a:noFill/>
        </p:spPr>
        <p:txBody>
          <a:bodyPr wrap="square">
            <a:spAutoFit/>
          </a:bodyPr>
          <a:lstStyle/>
          <a:p>
            <a:pPr algn="l"/>
            <a:r>
              <a:rPr sz="1250" b="1" i="0">
                <a:solidFill>
                  <a:srgbClr val="00D4FF"/>
                </a:solidFill>
              </a:rPr>
              <a:t>Feature Extraction Pipeline</a:t>
            </a:r>
          </a:p>
        </p:txBody>
      </p:sp>
      <p:sp>
        <p:nvSpPr>
          <p:cNvPr id="68" name="Rectangle 67"/>
          <p:cNvSpPr/>
          <p:nvPr/>
        </p:nvSpPr>
        <p:spPr>
          <a:xfrm>
            <a:off x="7251192" y="4297680"/>
            <a:ext cx="4526280" cy="420624"/>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379208" y="4334256"/>
            <a:ext cx="1828800" cy="219456"/>
          </a:xfrm>
          <a:prstGeom prst="rect">
            <a:avLst/>
          </a:prstGeom>
          <a:noFill/>
        </p:spPr>
        <p:txBody>
          <a:bodyPr wrap="square">
            <a:spAutoFit/>
          </a:bodyPr>
          <a:lstStyle/>
          <a:p>
            <a:pPr algn="l"/>
            <a:r>
              <a:rPr sz="1100" b="1" i="0">
                <a:solidFill>
                  <a:srgbClr val="39FF14"/>
                </a:solidFill>
              </a:rPr>
              <a:t>URL Features</a:t>
            </a:r>
          </a:p>
        </p:txBody>
      </p:sp>
      <p:sp>
        <p:nvSpPr>
          <p:cNvPr id="70" name="TextBox 69"/>
          <p:cNvSpPr txBox="1"/>
          <p:nvPr/>
        </p:nvSpPr>
        <p:spPr>
          <a:xfrm>
            <a:off x="9208008" y="4334256"/>
            <a:ext cx="2514600" cy="329184"/>
          </a:xfrm>
          <a:prstGeom prst="rect">
            <a:avLst/>
          </a:prstGeom>
          <a:noFill/>
        </p:spPr>
        <p:txBody>
          <a:bodyPr wrap="square">
            <a:spAutoFit/>
          </a:bodyPr>
          <a:lstStyle/>
          <a:p>
            <a:pPr algn="l"/>
            <a:r>
              <a:rPr sz="1050" b="0" i="0">
                <a:solidFill>
                  <a:srgbClr val="B8D8F0"/>
                </a:solidFill>
              </a:rPr>
              <a:t>Length, dots, hyphens, IP, HTTPS, suspicious keywords, TLD</a:t>
            </a:r>
          </a:p>
        </p:txBody>
      </p:sp>
      <p:sp>
        <p:nvSpPr>
          <p:cNvPr id="71" name="Rectangle 70"/>
          <p:cNvSpPr/>
          <p:nvPr/>
        </p:nvSpPr>
        <p:spPr>
          <a:xfrm>
            <a:off x="7251192" y="4754880"/>
            <a:ext cx="4526280" cy="420624"/>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379208" y="4791456"/>
            <a:ext cx="1828800" cy="219456"/>
          </a:xfrm>
          <a:prstGeom prst="rect">
            <a:avLst/>
          </a:prstGeom>
          <a:noFill/>
        </p:spPr>
        <p:txBody>
          <a:bodyPr wrap="square">
            <a:spAutoFit/>
          </a:bodyPr>
          <a:lstStyle/>
          <a:p>
            <a:pPr algn="l"/>
            <a:r>
              <a:rPr sz="1100" b="1" i="0">
                <a:solidFill>
                  <a:srgbClr val="39FF14"/>
                </a:solidFill>
              </a:rPr>
              <a:t>Lexical</a:t>
            </a:r>
          </a:p>
        </p:txBody>
      </p:sp>
      <p:sp>
        <p:nvSpPr>
          <p:cNvPr id="73" name="TextBox 72"/>
          <p:cNvSpPr txBox="1"/>
          <p:nvPr/>
        </p:nvSpPr>
        <p:spPr>
          <a:xfrm>
            <a:off x="9208008" y="4791456"/>
            <a:ext cx="2514600" cy="329184"/>
          </a:xfrm>
          <a:prstGeom prst="rect">
            <a:avLst/>
          </a:prstGeom>
          <a:noFill/>
        </p:spPr>
        <p:txBody>
          <a:bodyPr wrap="square">
            <a:spAutoFit/>
          </a:bodyPr>
          <a:lstStyle/>
          <a:p>
            <a:pPr algn="l"/>
            <a:r>
              <a:rPr sz="1050" b="0" i="0">
                <a:solidFill>
                  <a:srgbClr val="B8D8F0"/>
                </a:solidFill>
              </a:rPr>
              <a:t>Entropy, brand spoofing, random string patterns, redirect count</a:t>
            </a:r>
          </a:p>
        </p:txBody>
      </p:sp>
      <p:sp>
        <p:nvSpPr>
          <p:cNvPr id="74" name="Rectangle 73"/>
          <p:cNvSpPr/>
          <p:nvPr/>
        </p:nvSpPr>
        <p:spPr>
          <a:xfrm>
            <a:off x="7251192" y="5212080"/>
            <a:ext cx="4526280" cy="420624"/>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379208" y="5248656"/>
            <a:ext cx="1828800" cy="219456"/>
          </a:xfrm>
          <a:prstGeom prst="rect">
            <a:avLst/>
          </a:prstGeom>
          <a:noFill/>
        </p:spPr>
        <p:txBody>
          <a:bodyPr wrap="square">
            <a:spAutoFit/>
          </a:bodyPr>
          <a:lstStyle/>
          <a:p>
            <a:pPr algn="l"/>
            <a:r>
              <a:rPr sz="1100" b="1" i="0">
                <a:solidFill>
                  <a:srgbClr val="39FF14"/>
                </a:solidFill>
              </a:rPr>
              <a:t>TF-IDF</a:t>
            </a:r>
          </a:p>
        </p:txBody>
      </p:sp>
      <p:sp>
        <p:nvSpPr>
          <p:cNvPr id="76" name="TextBox 75"/>
          <p:cNvSpPr txBox="1"/>
          <p:nvPr/>
        </p:nvSpPr>
        <p:spPr>
          <a:xfrm>
            <a:off x="9208008" y="5248656"/>
            <a:ext cx="2514600" cy="329184"/>
          </a:xfrm>
          <a:prstGeom prst="rect">
            <a:avLst/>
          </a:prstGeom>
          <a:noFill/>
        </p:spPr>
        <p:txBody>
          <a:bodyPr wrap="square">
            <a:spAutoFit/>
          </a:bodyPr>
          <a:lstStyle/>
          <a:p>
            <a:pPr algn="l"/>
            <a:r>
              <a:rPr sz="1050" b="0" i="0">
                <a:solidFill>
                  <a:srgbClr val="B8D8F0"/>
                </a:solidFill>
              </a:rPr>
              <a:t>Top-N weighted text features from email/SMS corpus</a:t>
            </a:r>
          </a:p>
        </p:txBody>
      </p:sp>
      <p:sp>
        <p:nvSpPr>
          <p:cNvPr id="77" name="Rectangle 76"/>
          <p:cNvSpPr/>
          <p:nvPr/>
        </p:nvSpPr>
        <p:spPr>
          <a:xfrm>
            <a:off x="7251192" y="5669280"/>
            <a:ext cx="4526280" cy="420624"/>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79208" y="5705856"/>
            <a:ext cx="1828800" cy="219456"/>
          </a:xfrm>
          <a:prstGeom prst="rect">
            <a:avLst/>
          </a:prstGeom>
          <a:noFill/>
        </p:spPr>
        <p:txBody>
          <a:bodyPr wrap="square">
            <a:spAutoFit/>
          </a:bodyPr>
          <a:lstStyle/>
          <a:p>
            <a:pPr algn="l"/>
            <a:r>
              <a:rPr sz="1100" b="1" i="0">
                <a:solidFill>
                  <a:srgbClr val="39FF14"/>
                </a:solidFill>
              </a:rPr>
              <a:t>DistilBERT Embeddings</a:t>
            </a:r>
          </a:p>
        </p:txBody>
      </p:sp>
      <p:sp>
        <p:nvSpPr>
          <p:cNvPr id="79" name="TextBox 78"/>
          <p:cNvSpPr txBox="1"/>
          <p:nvPr/>
        </p:nvSpPr>
        <p:spPr>
          <a:xfrm>
            <a:off x="9208008" y="5705856"/>
            <a:ext cx="2514600" cy="329184"/>
          </a:xfrm>
          <a:prstGeom prst="rect">
            <a:avLst/>
          </a:prstGeom>
          <a:noFill/>
        </p:spPr>
        <p:txBody>
          <a:bodyPr wrap="square">
            <a:spAutoFit/>
          </a:bodyPr>
          <a:lstStyle/>
          <a:p>
            <a:pPr algn="l"/>
            <a:r>
              <a:rPr sz="1050" b="0" i="0">
                <a:solidFill>
                  <a:srgbClr val="B8D8F0"/>
                </a:solidFill>
              </a:rPr>
              <a:t>768-dim contextual vectors from transformer encoder</a:t>
            </a:r>
          </a:p>
        </p:txBody>
      </p:sp>
      <p:sp>
        <p:nvSpPr>
          <p:cNvPr id="80" name="Rectangle 79"/>
          <p:cNvSpPr/>
          <p:nvPr/>
        </p:nvSpPr>
        <p:spPr>
          <a:xfrm>
            <a:off x="7251192" y="6126480"/>
            <a:ext cx="4526280" cy="420624"/>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379208" y="6163056"/>
            <a:ext cx="1828800" cy="219456"/>
          </a:xfrm>
          <a:prstGeom prst="rect">
            <a:avLst/>
          </a:prstGeom>
          <a:noFill/>
        </p:spPr>
        <p:txBody>
          <a:bodyPr wrap="square">
            <a:spAutoFit/>
          </a:bodyPr>
          <a:lstStyle/>
          <a:p>
            <a:pPr algn="l"/>
            <a:r>
              <a:rPr sz="1100" b="1" i="0">
                <a:solidFill>
                  <a:srgbClr val="39FF14"/>
                </a:solidFill>
              </a:rPr>
              <a:t>Domain Intelligence</a:t>
            </a:r>
          </a:p>
        </p:txBody>
      </p:sp>
      <p:sp>
        <p:nvSpPr>
          <p:cNvPr id="82" name="TextBox 81"/>
          <p:cNvSpPr txBox="1"/>
          <p:nvPr/>
        </p:nvSpPr>
        <p:spPr>
          <a:xfrm>
            <a:off x="9208008" y="6163056"/>
            <a:ext cx="2514600" cy="329184"/>
          </a:xfrm>
          <a:prstGeom prst="rect">
            <a:avLst/>
          </a:prstGeom>
          <a:noFill/>
        </p:spPr>
        <p:txBody>
          <a:bodyPr wrap="square">
            <a:spAutoFit/>
          </a:bodyPr>
          <a:lstStyle/>
          <a:p>
            <a:pPr algn="l"/>
            <a:r>
              <a:rPr sz="1050" b="0" i="0">
                <a:solidFill>
                  <a:srgbClr val="B8D8F0"/>
                </a:solidFill>
              </a:rPr>
              <a:t>WHOIS age, SSL validity, hosting country, ASN data</a:t>
            </a:r>
          </a:p>
        </p:txBody>
      </p:sp>
      <p:sp>
        <p:nvSpPr>
          <p:cNvPr id="83" name="TextBox 82"/>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7 / 13</a:t>
            </a:r>
          </a:p>
        </p:txBody>
      </p:sp>
      <p:sp>
        <p:nvSpPr>
          <p:cNvPr id="84" name="Rectangle 83"/>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Three-dataset pipeline covers all major phishing vectors: malicious URLs, phishing emails, and SMS smishing attacks.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98755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 y="45720"/>
            <a:ext cx="10241280" cy="566928"/>
          </a:xfrm>
          <a:prstGeom prst="rect">
            <a:avLst/>
          </a:prstGeom>
          <a:noFill/>
        </p:spPr>
        <p:txBody>
          <a:bodyPr wrap="square">
            <a:spAutoFit/>
          </a:bodyPr>
          <a:lstStyle/>
          <a:p>
            <a:pPr algn="l"/>
            <a:r>
              <a:rPr sz="2800" b="1" i="0">
                <a:solidFill>
                  <a:srgbClr val="FFFFFF"/>
                </a:solidFill>
              </a:rPr>
              <a:t>Proposed Model Results</a:t>
            </a:r>
          </a:p>
        </p:txBody>
      </p:sp>
      <p:sp>
        <p:nvSpPr>
          <p:cNvPr id="7" name="TextBox 6"/>
          <p:cNvSpPr txBox="1"/>
          <p:nvPr/>
        </p:nvSpPr>
        <p:spPr>
          <a:xfrm>
            <a:off x="164592" y="603504"/>
            <a:ext cx="10241280" cy="329184"/>
          </a:xfrm>
          <a:prstGeom prst="rect">
            <a:avLst/>
          </a:prstGeom>
          <a:noFill/>
        </p:spPr>
        <p:txBody>
          <a:bodyPr wrap="square">
            <a:spAutoFit/>
          </a:bodyPr>
          <a:lstStyle/>
          <a:p>
            <a:pPr algn="l"/>
            <a:r>
              <a:rPr sz="1250" b="0" i="1">
                <a:solidFill>
                  <a:srgbClr val="39FF14"/>
                </a:solidFill>
              </a:rPr>
              <a:t>Performance Evaluation – PhishGuard Hybrid System</a:t>
            </a:r>
          </a:p>
        </p:txBody>
      </p:sp>
      <p:sp>
        <p:nvSpPr>
          <p:cNvPr id="8" name="TextBox 7"/>
          <p:cNvSpPr txBox="1"/>
          <p:nvPr/>
        </p:nvSpPr>
        <p:spPr>
          <a:xfrm>
            <a:off x="8046720" y="676656"/>
            <a:ext cx="4023360" cy="256032"/>
          </a:xfrm>
          <a:prstGeom prst="rect">
            <a:avLst/>
          </a:prstGeom>
          <a:noFill/>
        </p:spPr>
        <p:txBody>
          <a:bodyPr wrap="square">
            <a:spAutoFit/>
          </a:bodyPr>
          <a:lstStyle/>
          <a:p>
            <a:pPr algn="r"/>
            <a:r>
              <a:rPr sz="900" b="0" i="0">
                <a:solidFill>
                  <a:srgbClr val="B8D8F0"/>
                </a:solidFill>
              </a:rPr>
              <a:t>PhishGuard | AI-Powered Phishing Detection</a:t>
            </a:r>
          </a:p>
        </p:txBody>
      </p:sp>
      <p:sp>
        <p:nvSpPr>
          <p:cNvPr id="9" name="Rectangle 8"/>
          <p:cNvSpPr/>
          <p:nvPr/>
        </p:nvSpPr>
        <p:spPr>
          <a:xfrm>
            <a:off x="274320" y="1097280"/>
            <a:ext cx="2231136" cy="157276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097280"/>
            <a:ext cx="2231136"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225296"/>
            <a:ext cx="2231136" cy="749808"/>
          </a:xfrm>
          <a:prstGeom prst="rect">
            <a:avLst/>
          </a:prstGeom>
          <a:noFill/>
        </p:spPr>
        <p:txBody>
          <a:bodyPr wrap="square">
            <a:spAutoFit/>
          </a:bodyPr>
          <a:lstStyle/>
          <a:p>
            <a:pPr algn="ctr"/>
            <a:r>
              <a:rPr sz="3300" b="1" i="0">
                <a:solidFill>
                  <a:srgbClr val="39FF14"/>
                </a:solidFill>
              </a:rPr>
              <a:t>96%</a:t>
            </a:r>
          </a:p>
        </p:txBody>
      </p:sp>
      <p:sp>
        <p:nvSpPr>
          <p:cNvPr id="12" name="TextBox 11"/>
          <p:cNvSpPr txBox="1"/>
          <p:nvPr/>
        </p:nvSpPr>
        <p:spPr>
          <a:xfrm>
            <a:off x="274320" y="1956816"/>
            <a:ext cx="2231136" cy="640080"/>
          </a:xfrm>
          <a:prstGeom prst="rect">
            <a:avLst/>
          </a:prstGeom>
          <a:noFill/>
        </p:spPr>
        <p:txBody>
          <a:bodyPr wrap="square">
            <a:spAutoFit/>
          </a:bodyPr>
          <a:lstStyle/>
          <a:p>
            <a:pPr algn="ctr"/>
            <a:r>
              <a:rPr sz="1150" b="0" i="0">
                <a:solidFill>
                  <a:srgbClr val="B8D8F0"/>
                </a:solidFill>
              </a:rPr>
              <a:t>Hybrid Model
Accuracy</a:t>
            </a:r>
          </a:p>
        </p:txBody>
      </p:sp>
      <p:sp>
        <p:nvSpPr>
          <p:cNvPr id="13" name="Rectangle 12"/>
          <p:cNvSpPr/>
          <p:nvPr/>
        </p:nvSpPr>
        <p:spPr>
          <a:xfrm>
            <a:off x="2660903" y="1097280"/>
            <a:ext cx="2231136" cy="157276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60903" y="1097280"/>
            <a:ext cx="2231136"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60903" y="1225296"/>
            <a:ext cx="2231136" cy="749808"/>
          </a:xfrm>
          <a:prstGeom prst="rect">
            <a:avLst/>
          </a:prstGeom>
          <a:noFill/>
        </p:spPr>
        <p:txBody>
          <a:bodyPr wrap="square">
            <a:spAutoFit/>
          </a:bodyPr>
          <a:lstStyle/>
          <a:p>
            <a:pPr algn="ctr"/>
            <a:r>
              <a:rPr sz="3300" b="1" i="0">
                <a:solidFill>
                  <a:srgbClr val="00D4FF"/>
                </a:solidFill>
              </a:rPr>
              <a:t>94%</a:t>
            </a:r>
          </a:p>
        </p:txBody>
      </p:sp>
      <p:sp>
        <p:nvSpPr>
          <p:cNvPr id="16" name="TextBox 15"/>
          <p:cNvSpPr txBox="1"/>
          <p:nvPr/>
        </p:nvSpPr>
        <p:spPr>
          <a:xfrm>
            <a:off x="2660903" y="1956816"/>
            <a:ext cx="2231136" cy="640080"/>
          </a:xfrm>
          <a:prstGeom prst="rect">
            <a:avLst/>
          </a:prstGeom>
          <a:noFill/>
        </p:spPr>
        <p:txBody>
          <a:bodyPr wrap="square">
            <a:spAutoFit/>
          </a:bodyPr>
          <a:lstStyle/>
          <a:p>
            <a:pPr algn="ctr"/>
            <a:r>
              <a:rPr sz="1150" b="0" i="0">
                <a:solidFill>
                  <a:srgbClr val="B8D8F0"/>
                </a:solidFill>
              </a:rPr>
              <a:t>DistilBERT
Accuracy</a:t>
            </a:r>
          </a:p>
        </p:txBody>
      </p:sp>
      <p:sp>
        <p:nvSpPr>
          <p:cNvPr id="17" name="Rectangle 16"/>
          <p:cNvSpPr/>
          <p:nvPr/>
        </p:nvSpPr>
        <p:spPr>
          <a:xfrm>
            <a:off x="5047488" y="1097280"/>
            <a:ext cx="2231136" cy="157276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7488" y="1097280"/>
            <a:ext cx="2231136" cy="50292"/>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7488" y="1225296"/>
            <a:ext cx="2231136" cy="749808"/>
          </a:xfrm>
          <a:prstGeom prst="rect">
            <a:avLst/>
          </a:prstGeom>
          <a:noFill/>
        </p:spPr>
        <p:txBody>
          <a:bodyPr wrap="square">
            <a:spAutoFit/>
          </a:bodyPr>
          <a:lstStyle/>
          <a:p>
            <a:pPr algn="ctr"/>
            <a:r>
              <a:rPr sz="3300" b="1" i="0">
                <a:solidFill>
                  <a:srgbClr val="FFCC00"/>
                </a:solidFill>
              </a:rPr>
              <a:t>91%</a:t>
            </a:r>
          </a:p>
        </p:txBody>
      </p:sp>
      <p:sp>
        <p:nvSpPr>
          <p:cNvPr id="20" name="TextBox 19"/>
          <p:cNvSpPr txBox="1"/>
          <p:nvPr/>
        </p:nvSpPr>
        <p:spPr>
          <a:xfrm>
            <a:off x="5047488" y="1956816"/>
            <a:ext cx="2231136" cy="640080"/>
          </a:xfrm>
          <a:prstGeom prst="rect">
            <a:avLst/>
          </a:prstGeom>
          <a:noFill/>
        </p:spPr>
        <p:txBody>
          <a:bodyPr wrap="square">
            <a:spAutoFit/>
          </a:bodyPr>
          <a:lstStyle/>
          <a:p>
            <a:pPr algn="ctr"/>
            <a:r>
              <a:rPr sz="1150" b="0" i="0">
                <a:solidFill>
                  <a:srgbClr val="B8D8F0"/>
                </a:solidFill>
              </a:rPr>
              <a:t>XGBoost
Accuracy</a:t>
            </a:r>
          </a:p>
        </p:txBody>
      </p:sp>
      <p:sp>
        <p:nvSpPr>
          <p:cNvPr id="21" name="Rectangle 20"/>
          <p:cNvSpPr/>
          <p:nvPr/>
        </p:nvSpPr>
        <p:spPr>
          <a:xfrm>
            <a:off x="7434071" y="1097280"/>
            <a:ext cx="2231136" cy="157276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34071" y="1097280"/>
            <a:ext cx="2231136" cy="5029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34071" y="1225296"/>
            <a:ext cx="2231136" cy="749808"/>
          </a:xfrm>
          <a:prstGeom prst="rect">
            <a:avLst/>
          </a:prstGeom>
          <a:noFill/>
        </p:spPr>
        <p:txBody>
          <a:bodyPr wrap="square">
            <a:spAutoFit/>
          </a:bodyPr>
          <a:lstStyle/>
          <a:p>
            <a:pPr algn="ctr"/>
            <a:r>
              <a:rPr sz="3300" b="1" i="0">
                <a:solidFill>
                  <a:srgbClr val="00FFC8"/>
                </a:solidFill>
              </a:rPr>
              <a:t>0.97</a:t>
            </a:r>
          </a:p>
        </p:txBody>
      </p:sp>
      <p:sp>
        <p:nvSpPr>
          <p:cNvPr id="24" name="TextBox 23"/>
          <p:cNvSpPr txBox="1"/>
          <p:nvPr/>
        </p:nvSpPr>
        <p:spPr>
          <a:xfrm>
            <a:off x="7434071" y="1956816"/>
            <a:ext cx="2231136" cy="640080"/>
          </a:xfrm>
          <a:prstGeom prst="rect">
            <a:avLst/>
          </a:prstGeom>
          <a:noFill/>
        </p:spPr>
        <p:txBody>
          <a:bodyPr wrap="square">
            <a:spAutoFit/>
          </a:bodyPr>
          <a:lstStyle/>
          <a:p>
            <a:pPr algn="ctr"/>
            <a:r>
              <a:rPr sz="1150" b="0" i="0">
                <a:solidFill>
                  <a:srgbClr val="B8D8F0"/>
                </a:solidFill>
              </a:rPr>
              <a:t>Hybrid
Precision (Class 1)</a:t>
            </a:r>
          </a:p>
        </p:txBody>
      </p:sp>
      <p:sp>
        <p:nvSpPr>
          <p:cNvPr id="25" name="Rectangle 24"/>
          <p:cNvSpPr/>
          <p:nvPr/>
        </p:nvSpPr>
        <p:spPr>
          <a:xfrm>
            <a:off x="9820655" y="1097280"/>
            <a:ext cx="2231136" cy="157276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820655" y="1097280"/>
            <a:ext cx="2231136" cy="50292"/>
          </a:xfrm>
          <a:prstGeom prst="rect">
            <a:avLst/>
          </a:prstGeom>
          <a:solidFill>
            <a:srgbClr val="A0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20655" y="1225296"/>
            <a:ext cx="2231136" cy="749808"/>
          </a:xfrm>
          <a:prstGeom prst="rect">
            <a:avLst/>
          </a:prstGeom>
          <a:noFill/>
        </p:spPr>
        <p:txBody>
          <a:bodyPr wrap="square">
            <a:spAutoFit/>
          </a:bodyPr>
          <a:lstStyle/>
          <a:p>
            <a:pPr algn="ctr"/>
            <a:r>
              <a:rPr sz="3300" b="1" i="0">
                <a:solidFill>
                  <a:srgbClr val="A07EFF"/>
                </a:solidFill>
              </a:rPr>
              <a:t>0.96</a:t>
            </a:r>
          </a:p>
        </p:txBody>
      </p:sp>
      <p:sp>
        <p:nvSpPr>
          <p:cNvPr id="28" name="TextBox 27"/>
          <p:cNvSpPr txBox="1"/>
          <p:nvPr/>
        </p:nvSpPr>
        <p:spPr>
          <a:xfrm>
            <a:off x="9820655" y="1956816"/>
            <a:ext cx="2231136" cy="640080"/>
          </a:xfrm>
          <a:prstGeom prst="rect">
            <a:avLst/>
          </a:prstGeom>
          <a:noFill/>
        </p:spPr>
        <p:txBody>
          <a:bodyPr wrap="square">
            <a:spAutoFit/>
          </a:bodyPr>
          <a:lstStyle/>
          <a:p>
            <a:pPr algn="ctr"/>
            <a:r>
              <a:rPr sz="1150" b="0" i="0">
                <a:solidFill>
                  <a:srgbClr val="B8D8F0"/>
                </a:solidFill>
              </a:rPr>
              <a:t>Weighted
F1-Score</a:t>
            </a:r>
          </a:p>
        </p:txBody>
      </p:sp>
      <p:sp>
        <p:nvSpPr>
          <p:cNvPr id="29" name="Rectangle 28"/>
          <p:cNvSpPr/>
          <p:nvPr/>
        </p:nvSpPr>
        <p:spPr>
          <a:xfrm>
            <a:off x="274320" y="2834640"/>
            <a:ext cx="11640312" cy="370332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2898648"/>
            <a:ext cx="11247120" cy="347472"/>
          </a:xfrm>
          <a:prstGeom prst="rect">
            <a:avLst/>
          </a:prstGeom>
          <a:noFill/>
        </p:spPr>
        <p:txBody>
          <a:bodyPr wrap="square">
            <a:spAutoFit/>
          </a:bodyPr>
          <a:lstStyle/>
          <a:p>
            <a:pPr algn="l"/>
            <a:r>
              <a:rPr sz="1250" b="1" i="0">
                <a:solidFill>
                  <a:srgbClr val="39FF14"/>
                </a:solidFill>
              </a:rPr>
              <a:t>Detailed Classification Results by Model</a:t>
            </a:r>
          </a:p>
        </p:txBody>
      </p:sp>
      <p:sp>
        <p:nvSpPr>
          <p:cNvPr id="31" name="Rectangle 30"/>
          <p:cNvSpPr/>
          <p:nvPr/>
        </p:nvSpPr>
        <p:spPr>
          <a:xfrm>
            <a:off x="274320" y="3218688"/>
            <a:ext cx="11640312" cy="36576"/>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2608" y="3246120"/>
            <a:ext cx="1600200" cy="38404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8328" y="3273552"/>
            <a:ext cx="1508760" cy="329184"/>
          </a:xfrm>
          <a:prstGeom prst="rect">
            <a:avLst/>
          </a:prstGeom>
          <a:noFill/>
        </p:spPr>
        <p:txBody>
          <a:bodyPr wrap="square">
            <a:spAutoFit/>
          </a:bodyPr>
          <a:lstStyle/>
          <a:p>
            <a:pPr algn="ctr"/>
            <a:r>
              <a:rPr sz="1000" b="1" i="0">
                <a:solidFill>
                  <a:srgbClr val="39FF14"/>
                </a:solidFill>
              </a:rPr>
              <a:t>Model</a:t>
            </a:r>
          </a:p>
        </p:txBody>
      </p:sp>
      <p:sp>
        <p:nvSpPr>
          <p:cNvPr id="34" name="Rectangle 33"/>
          <p:cNvSpPr/>
          <p:nvPr/>
        </p:nvSpPr>
        <p:spPr>
          <a:xfrm>
            <a:off x="1920240" y="3246120"/>
            <a:ext cx="1051560" cy="38404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965960" y="3273552"/>
            <a:ext cx="960119" cy="329184"/>
          </a:xfrm>
          <a:prstGeom prst="rect">
            <a:avLst/>
          </a:prstGeom>
          <a:noFill/>
        </p:spPr>
        <p:txBody>
          <a:bodyPr wrap="square">
            <a:spAutoFit/>
          </a:bodyPr>
          <a:lstStyle/>
          <a:p>
            <a:pPr algn="ctr"/>
            <a:r>
              <a:rPr sz="1000" b="1" i="0">
                <a:solidFill>
                  <a:srgbClr val="39FF14"/>
                </a:solidFill>
              </a:rPr>
              <a:t>Accuracy</a:t>
            </a:r>
          </a:p>
        </p:txBody>
      </p:sp>
      <p:sp>
        <p:nvSpPr>
          <p:cNvPr id="36" name="Rectangle 35"/>
          <p:cNvSpPr/>
          <p:nvPr/>
        </p:nvSpPr>
        <p:spPr>
          <a:xfrm>
            <a:off x="3017520" y="3246120"/>
            <a:ext cx="1097280" cy="38404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63239" y="3273552"/>
            <a:ext cx="1005839" cy="329184"/>
          </a:xfrm>
          <a:prstGeom prst="rect">
            <a:avLst/>
          </a:prstGeom>
          <a:noFill/>
        </p:spPr>
        <p:txBody>
          <a:bodyPr wrap="square">
            <a:spAutoFit/>
          </a:bodyPr>
          <a:lstStyle/>
          <a:p>
            <a:pPr algn="ctr"/>
            <a:r>
              <a:rPr sz="1000" b="1" i="0">
                <a:solidFill>
                  <a:srgbClr val="39FF14"/>
                </a:solidFill>
              </a:rPr>
              <a:t>Prec (C0)</a:t>
            </a:r>
          </a:p>
        </p:txBody>
      </p:sp>
      <p:sp>
        <p:nvSpPr>
          <p:cNvPr id="38" name="Rectangle 37"/>
          <p:cNvSpPr/>
          <p:nvPr/>
        </p:nvSpPr>
        <p:spPr>
          <a:xfrm>
            <a:off x="4160520" y="3246120"/>
            <a:ext cx="1097280" cy="38404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06240" y="3273552"/>
            <a:ext cx="1005839" cy="329184"/>
          </a:xfrm>
          <a:prstGeom prst="rect">
            <a:avLst/>
          </a:prstGeom>
          <a:noFill/>
        </p:spPr>
        <p:txBody>
          <a:bodyPr wrap="square">
            <a:spAutoFit/>
          </a:bodyPr>
          <a:lstStyle/>
          <a:p>
            <a:pPr algn="ctr"/>
            <a:r>
              <a:rPr sz="1000" b="1" i="0">
                <a:solidFill>
                  <a:srgbClr val="39FF14"/>
                </a:solidFill>
              </a:rPr>
              <a:t>Prec (C1)</a:t>
            </a:r>
          </a:p>
        </p:txBody>
      </p:sp>
      <p:sp>
        <p:nvSpPr>
          <p:cNvPr id="40" name="Rectangle 39"/>
          <p:cNvSpPr/>
          <p:nvPr/>
        </p:nvSpPr>
        <p:spPr>
          <a:xfrm>
            <a:off x="5303520" y="3246120"/>
            <a:ext cx="1097280" cy="38404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49240" y="3273552"/>
            <a:ext cx="1005839" cy="329184"/>
          </a:xfrm>
          <a:prstGeom prst="rect">
            <a:avLst/>
          </a:prstGeom>
          <a:noFill/>
        </p:spPr>
        <p:txBody>
          <a:bodyPr wrap="square">
            <a:spAutoFit/>
          </a:bodyPr>
          <a:lstStyle/>
          <a:p>
            <a:pPr algn="ctr"/>
            <a:r>
              <a:rPr sz="1000" b="1" i="0">
                <a:solidFill>
                  <a:srgbClr val="39FF14"/>
                </a:solidFill>
              </a:rPr>
              <a:t>Rec (C0)</a:t>
            </a:r>
          </a:p>
        </p:txBody>
      </p:sp>
      <p:sp>
        <p:nvSpPr>
          <p:cNvPr id="42" name="Rectangle 41"/>
          <p:cNvSpPr/>
          <p:nvPr/>
        </p:nvSpPr>
        <p:spPr>
          <a:xfrm>
            <a:off x="6446520" y="3246120"/>
            <a:ext cx="1097280" cy="38404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92240" y="3273552"/>
            <a:ext cx="1005839" cy="329184"/>
          </a:xfrm>
          <a:prstGeom prst="rect">
            <a:avLst/>
          </a:prstGeom>
          <a:noFill/>
        </p:spPr>
        <p:txBody>
          <a:bodyPr wrap="square">
            <a:spAutoFit/>
          </a:bodyPr>
          <a:lstStyle/>
          <a:p>
            <a:pPr algn="ctr"/>
            <a:r>
              <a:rPr sz="1000" b="1" i="0">
                <a:solidFill>
                  <a:srgbClr val="39FF14"/>
                </a:solidFill>
              </a:rPr>
              <a:t>Rec (C1)</a:t>
            </a:r>
          </a:p>
        </p:txBody>
      </p:sp>
      <p:sp>
        <p:nvSpPr>
          <p:cNvPr id="44" name="Rectangle 43"/>
          <p:cNvSpPr/>
          <p:nvPr/>
        </p:nvSpPr>
        <p:spPr>
          <a:xfrm>
            <a:off x="7571231" y="3246120"/>
            <a:ext cx="1097280" cy="38404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16952" y="3273552"/>
            <a:ext cx="1005839" cy="329184"/>
          </a:xfrm>
          <a:prstGeom prst="rect">
            <a:avLst/>
          </a:prstGeom>
          <a:noFill/>
        </p:spPr>
        <p:txBody>
          <a:bodyPr wrap="square">
            <a:spAutoFit/>
          </a:bodyPr>
          <a:lstStyle/>
          <a:p>
            <a:pPr algn="ctr"/>
            <a:r>
              <a:rPr sz="1000" b="1" i="0">
                <a:solidFill>
                  <a:srgbClr val="39FF14"/>
                </a:solidFill>
              </a:rPr>
              <a:t>F1 (C0)</a:t>
            </a:r>
          </a:p>
        </p:txBody>
      </p:sp>
      <p:sp>
        <p:nvSpPr>
          <p:cNvPr id="46" name="Rectangle 45"/>
          <p:cNvSpPr/>
          <p:nvPr/>
        </p:nvSpPr>
        <p:spPr>
          <a:xfrm>
            <a:off x="8705088" y="3246120"/>
            <a:ext cx="1097280" cy="38404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50808" y="3273552"/>
            <a:ext cx="1005839" cy="329184"/>
          </a:xfrm>
          <a:prstGeom prst="rect">
            <a:avLst/>
          </a:prstGeom>
          <a:noFill/>
        </p:spPr>
        <p:txBody>
          <a:bodyPr wrap="square">
            <a:spAutoFit/>
          </a:bodyPr>
          <a:lstStyle/>
          <a:p>
            <a:pPr algn="ctr"/>
            <a:r>
              <a:rPr sz="1000" b="1" i="0">
                <a:solidFill>
                  <a:srgbClr val="39FF14"/>
                </a:solidFill>
              </a:rPr>
              <a:t>F1 (C1)</a:t>
            </a:r>
          </a:p>
        </p:txBody>
      </p:sp>
      <p:sp>
        <p:nvSpPr>
          <p:cNvPr id="48" name="Rectangle 47"/>
          <p:cNvSpPr/>
          <p:nvPr/>
        </p:nvSpPr>
        <p:spPr>
          <a:xfrm>
            <a:off x="9829800" y="3246120"/>
            <a:ext cx="1371600" cy="38404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75520" y="3273552"/>
            <a:ext cx="1280160" cy="329184"/>
          </a:xfrm>
          <a:prstGeom prst="rect">
            <a:avLst/>
          </a:prstGeom>
          <a:noFill/>
        </p:spPr>
        <p:txBody>
          <a:bodyPr wrap="square">
            <a:spAutoFit/>
          </a:bodyPr>
          <a:lstStyle/>
          <a:p>
            <a:pPr algn="ctr"/>
            <a:r>
              <a:rPr sz="1000" b="1" i="0">
                <a:solidFill>
                  <a:srgbClr val="39FF14"/>
                </a:solidFill>
              </a:rPr>
              <a:t>Wt F1</a:t>
            </a:r>
          </a:p>
        </p:txBody>
      </p:sp>
      <p:sp>
        <p:nvSpPr>
          <p:cNvPr id="50" name="Rectangle 49"/>
          <p:cNvSpPr/>
          <p:nvPr/>
        </p:nvSpPr>
        <p:spPr>
          <a:xfrm>
            <a:off x="292608" y="3630168"/>
            <a:ext cx="1600200" cy="47548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9184" y="3721608"/>
            <a:ext cx="1527048" cy="292608"/>
          </a:xfrm>
          <a:prstGeom prst="rect">
            <a:avLst/>
          </a:prstGeom>
          <a:noFill/>
        </p:spPr>
        <p:txBody>
          <a:bodyPr wrap="square">
            <a:spAutoFit/>
          </a:bodyPr>
          <a:lstStyle/>
          <a:p>
            <a:pPr algn="ctr"/>
            <a:r>
              <a:rPr sz="1100" b="0" i="0">
                <a:solidFill>
                  <a:srgbClr val="00D4FF"/>
                </a:solidFill>
              </a:rPr>
              <a:t>DistilBERT</a:t>
            </a:r>
          </a:p>
        </p:txBody>
      </p:sp>
      <p:sp>
        <p:nvSpPr>
          <p:cNvPr id="52" name="Rectangle 51"/>
          <p:cNvSpPr/>
          <p:nvPr/>
        </p:nvSpPr>
        <p:spPr>
          <a:xfrm>
            <a:off x="1920240" y="3630168"/>
            <a:ext cx="1051560" cy="47548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956816" y="3721608"/>
            <a:ext cx="978407" cy="292608"/>
          </a:xfrm>
          <a:prstGeom prst="rect">
            <a:avLst/>
          </a:prstGeom>
          <a:noFill/>
        </p:spPr>
        <p:txBody>
          <a:bodyPr wrap="square">
            <a:spAutoFit/>
          </a:bodyPr>
          <a:lstStyle/>
          <a:p>
            <a:pPr algn="ctr"/>
            <a:r>
              <a:rPr sz="1100" b="0" i="0">
                <a:solidFill>
                  <a:srgbClr val="B8D8F0"/>
                </a:solidFill>
              </a:rPr>
              <a:t>94%</a:t>
            </a:r>
          </a:p>
        </p:txBody>
      </p:sp>
      <p:sp>
        <p:nvSpPr>
          <p:cNvPr id="54" name="Rectangle 53"/>
          <p:cNvSpPr/>
          <p:nvPr/>
        </p:nvSpPr>
        <p:spPr>
          <a:xfrm>
            <a:off x="3017520" y="3630168"/>
            <a:ext cx="1097280" cy="47548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054096" y="3721608"/>
            <a:ext cx="1024127" cy="292608"/>
          </a:xfrm>
          <a:prstGeom prst="rect">
            <a:avLst/>
          </a:prstGeom>
          <a:noFill/>
        </p:spPr>
        <p:txBody>
          <a:bodyPr wrap="square">
            <a:spAutoFit/>
          </a:bodyPr>
          <a:lstStyle/>
          <a:p>
            <a:pPr algn="ctr"/>
            <a:r>
              <a:rPr sz="1100" b="0" i="0">
                <a:solidFill>
                  <a:srgbClr val="00FFC8"/>
                </a:solidFill>
              </a:rPr>
              <a:t>93%</a:t>
            </a:r>
          </a:p>
        </p:txBody>
      </p:sp>
      <p:sp>
        <p:nvSpPr>
          <p:cNvPr id="56" name="Rectangle 55"/>
          <p:cNvSpPr/>
          <p:nvPr/>
        </p:nvSpPr>
        <p:spPr>
          <a:xfrm>
            <a:off x="4160520" y="3630168"/>
            <a:ext cx="1097280" cy="47548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97096" y="3721608"/>
            <a:ext cx="1024127" cy="292608"/>
          </a:xfrm>
          <a:prstGeom prst="rect">
            <a:avLst/>
          </a:prstGeom>
          <a:noFill/>
        </p:spPr>
        <p:txBody>
          <a:bodyPr wrap="square">
            <a:spAutoFit/>
          </a:bodyPr>
          <a:lstStyle/>
          <a:p>
            <a:pPr algn="ctr"/>
            <a:r>
              <a:rPr sz="1100" b="0" i="0">
                <a:solidFill>
                  <a:srgbClr val="00FFC8"/>
                </a:solidFill>
              </a:rPr>
              <a:t>95%</a:t>
            </a:r>
          </a:p>
        </p:txBody>
      </p:sp>
      <p:sp>
        <p:nvSpPr>
          <p:cNvPr id="58" name="Rectangle 57"/>
          <p:cNvSpPr/>
          <p:nvPr/>
        </p:nvSpPr>
        <p:spPr>
          <a:xfrm>
            <a:off x="5303520" y="3630168"/>
            <a:ext cx="1097280" cy="47548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340096" y="3721608"/>
            <a:ext cx="1024127" cy="292608"/>
          </a:xfrm>
          <a:prstGeom prst="rect">
            <a:avLst/>
          </a:prstGeom>
          <a:noFill/>
        </p:spPr>
        <p:txBody>
          <a:bodyPr wrap="square">
            <a:spAutoFit/>
          </a:bodyPr>
          <a:lstStyle/>
          <a:p>
            <a:pPr algn="ctr"/>
            <a:r>
              <a:rPr sz="1100" b="0" i="0">
                <a:solidFill>
                  <a:srgbClr val="00FFC8"/>
                </a:solidFill>
              </a:rPr>
              <a:t>92%</a:t>
            </a:r>
          </a:p>
        </p:txBody>
      </p:sp>
      <p:sp>
        <p:nvSpPr>
          <p:cNvPr id="60" name="Rectangle 59"/>
          <p:cNvSpPr/>
          <p:nvPr/>
        </p:nvSpPr>
        <p:spPr>
          <a:xfrm>
            <a:off x="6446520" y="3630168"/>
            <a:ext cx="1097280" cy="47548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83096" y="3721608"/>
            <a:ext cx="1024127" cy="292608"/>
          </a:xfrm>
          <a:prstGeom prst="rect">
            <a:avLst/>
          </a:prstGeom>
          <a:noFill/>
        </p:spPr>
        <p:txBody>
          <a:bodyPr wrap="square">
            <a:spAutoFit/>
          </a:bodyPr>
          <a:lstStyle/>
          <a:p>
            <a:pPr algn="ctr"/>
            <a:r>
              <a:rPr sz="1100" b="0" i="0">
                <a:solidFill>
                  <a:srgbClr val="00FFC8"/>
                </a:solidFill>
              </a:rPr>
              <a:t>96%</a:t>
            </a:r>
          </a:p>
        </p:txBody>
      </p:sp>
      <p:sp>
        <p:nvSpPr>
          <p:cNvPr id="62" name="Rectangle 61"/>
          <p:cNvSpPr/>
          <p:nvPr/>
        </p:nvSpPr>
        <p:spPr>
          <a:xfrm>
            <a:off x="7571231" y="3630168"/>
            <a:ext cx="1097280" cy="47548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07807" y="3721608"/>
            <a:ext cx="1024127" cy="292608"/>
          </a:xfrm>
          <a:prstGeom prst="rect">
            <a:avLst/>
          </a:prstGeom>
          <a:noFill/>
        </p:spPr>
        <p:txBody>
          <a:bodyPr wrap="square">
            <a:spAutoFit/>
          </a:bodyPr>
          <a:lstStyle/>
          <a:p>
            <a:pPr algn="ctr"/>
            <a:r>
              <a:rPr sz="1100" b="0" i="0">
                <a:solidFill>
                  <a:srgbClr val="00FFC8"/>
                </a:solidFill>
              </a:rPr>
              <a:t>92%</a:t>
            </a:r>
          </a:p>
        </p:txBody>
      </p:sp>
      <p:sp>
        <p:nvSpPr>
          <p:cNvPr id="64" name="Rectangle 63"/>
          <p:cNvSpPr/>
          <p:nvPr/>
        </p:nvSpPr>
        <p:spPr>
          <a:xfrm>
            <a:off x="8705088" y="3630168"/>
            <a:ext cx="1097280" cy="47548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741663" y="3721608"/>
            <a:ext cx="1024127" cy="292608"/>
          </a:xfrm>
          <a:prstGeom prst="rect">
            <a:avLst/>
          </a:prstGeom>
          <a:noFill/>
        </p:spPr>
        <p:txBody>
          <a:bodyPr wrap="square">
            <a:spAutoFit/>
          </a:bodyPr>
          <a:lstStyle/>
          <a:p>
            <a:pPr algn="ctr"/>
            <a:r>
              <a:rPr sz="1100" b="0" i="0">
                <a:solidFill>
                  <a:srgbClr val="00FFC8"/>
                </a:solidFill>
              </a:rPr>
              <a:t>95%</a:t>
            </a:r>
          </a:p>
        </p:txBody>
      </p:sp>
      <p:sp>
        <p:nvSpPr>
          <p:cNvPr id="66" name="Rectangle 65"/>
          <p:cNvSpPr/>
          <p:nvPr/>
        </p:nvSpPr>
        <p:spPr>
          <a:xfrm>
            <a:off x="9829800" y="3630168"/>
            <a:ext cx="1371600" cy="47548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66376" y="3721608"/>
            <a:ext cx="1298448" cy="292608"/>
          </a:xfrm>
          <a:prstGeom prst="rect">
            <a:avLst/>
          </a:prstGeom>
          <a:noFill/>
        </p:spPr>
        <p:txBody>
          <a:bodyPr wrap="square">
            <a:spAutoFit/>
          </a:bodyPr>
          <a:lstStyle/>
          <a:p>
            <a:pPr algn="ctr"/>
            <a:r>
              <a:rPr sz="1100" b="0" i="0">
                <a:solidFill>
                  <a:srgbClr val="00FFC8"/>
                </a:solidFill>
              </a:rPr>
              <a:t>94%</a:t>
            </a:r>
          </a:p>
        </p:txBody>
      </p:sp>
      <p:sp>
        <p:nvSpPr>
          <p:cNvPr id="68" name="Rectangle 67"/>
          <p:cNvSpPr/>
          <p:nvPr/>
        </p:nvSpPr>
        <p:spPr>
          <a:xfrm>
            <a:off x="292608" y="4142232"/>
            <a:ext cx="1600200" cy="47548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9184" y="4233672"/>
            <a:ext cx="1527048" cy="292608"/>
          </a:xfrm>
          <a:prstGeom prst="rect">
            <a:avLst/>
          </a:prstGeom>
          <a:noFill/>
        </p:spPr>
        <p:txBody>
          <a:bodyPr wrap="square">
            <a:spAutoFit/>
          </a:bodyPr>
          <a:lstStyle/>
          <a:p>
            <a:pPr algn="ctr"/>
            <a:r>
              <a:rPr sz="1100" b="0" i="0">
                <a:solidFill>
                  <a:srgbClr val="FFCC00"/>
                </a:solidFill>
              </a:rPr>
              <a:t>XGBoost</a:t>
            </a:r>
          </a:p>
        </p:txBody>
      </p:sp>
      <p:sp>
        <p:nvSpPr>
          <p:cNvPr id="70" name="Rectangle 69"/>
          <p:cNvSpPr/>
          <p:nvPr/>
        </p:nvSpPr>
        <p:spPr>
          <a:xfrm>
            <a:off x="1920240" y="4142232"/>
            <a:ext cx="1051560" cy="47548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956816" y="4233672"/>
            <a:ext cx="978407" cy="292608"/>
          </a:xfrm>
          <a:prstGeom prst="rect">
            <a:avLst/>
          </a:prstGeom>
          <a:noFill/>
        </p:spPr>
        <p:txBody>
          <a:bodyPr wrap="square">
            <a:spAutoFit/>
          </a:bodyPr>
          <a:lstStyle/>
          <a:p>
            <a:pPr algn="ctr"/>
            <a:r>
              <a:rPr sz="1100" b="0" i="0">
                <a:solidFill>
                  <a:srgbClr val="B8D8F0"/>
                </a:solidFill>
              </a:rPr>
              <a:t>91%</a:t>
            </a:r>
          </a:p>
        </p:txBody>
      </p:sp>
      <p:sp>
        <p:nvSpPr>
          <p:cNvPr id="72" name="Rectangle 71"/>
          <p:cNvSpPr/>
          <p:nvPr/>
        </p:nvSpPr>
        <p:spPr>
          <a:xfrm>
            <a:off x="3017520" y="4142232"/>
            <a:ext cx="1097280" cy="47548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054096" y="4233672"/>
            <a:ext cx="1024127" cy="292608"/>
          </a:xfrm>
          <a:prstGeom prst="rect">
            <a:avLst/>
          </a:prstGeom>
          <a:noFill/>
        </p:spPr>
        <p:txBody>
          <a:bodyPr wrap="square">
            <a:spAutoFit/>
          </a:bodyPr>
          <a:lstStyle/>
          <a:p>
            <a:pPr algn="ctr"/>
            <a:r>
              <a:rPr sz="1100" b="0" i="0">
                <a:solidFill>
                  <a:srgbClr val="00FFC8"/>
                </a:solidFill>
              </a:rPr>
              <a:t>90%</a:t>
            </a:r>
          </a:p>
        </p:txBody>
      </p:sp>
      <p:sp>
        <p:nvSpPr>
          <p:cNvPr id="74" name="Rectangle 73"/>
          <p:cNvSpPr/>
          <p:nvPr/>
        </p:nvSpPr>
        <p:spPr>
          <a:xfrm>
            <a:off x="4160520" y="4142232"/>
            <a:ext cx="1097280" cy="47548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197096" y="4233672"/>
            <a:ext cx="1024127" cy="292608"/>
          </a:xfrm>
          <a:prstGeom prst="rect">
            <a:avLst/>
          </a:prstGeom>
          <a:noFill/>
        </p:spPr>
        <p:txBody>
          <a:bodyPr wrap="square">
            <a:spAutoFit/>
          </a:bodyPr>
          <a:lstStyle/>
          <a:p>
            <a:pPr algn="ctr"/>
            <a:r>
              <a:rPr sz="1100" b="0" i="0">
                <a:solidFill>
                  <a:srgbClr val="00FFC8"/>
                </a:solidFill>
              </a:rPr>
              <a:t>92%</a:t>
            </a:r>
          </a:p>
        </p:txBody>
      </p:sp>
      <p:sp>
        <p:nvSpPr>
          <p:cNvPr id="76" name="Rectangle 75"/>
          <p:cNvSpPr/>
          <p:nvPr/>
        </p:nvSpPr>
        <p:spPr>
          <a:xfrm>
            <a:off x="5303520" y="4142232"/>
            <a:ext cx="1097280" cy="47548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340096" y="4233672"/>
            <a:ext cx="1024127" cy="292608"/>
          </a:xfrm>
          <a:prstGeom prst="rect">
            <a:avLst/>
          </a:prstGeom>
          <a:noFill/>
        </p:spPr>
        <p:txBody>
          <a:bodyPr wrap="square">
            <a:spAutoFit/>
          </a:bodyPr>
          <a:lstStyle/>
          <a:p>
            <a:pPr algn="ctr"/>
            <a:r>
              <a:rPr sz="1100" b="0" i="0">
                <a:solidFill>
                  <a:srgbClr val="00FFC8"/>
                </a:solidFill>
              </a:rPr>
              <a:t>89%</a:t>
            </a:r>
          </a:p>
        </p:txBody>
      </p:sp>
      <p:sp>
        <p:nvSpPr>
          <p:cNvPr id="78" name="Rectangle 77"/>
          <p:cNvSpPr/>
          <p:nvPr/>
        </p:nvSpPr>
        <p:spPr>
          <a:xfrm>
            <a:off x="6446520" y="4142232"/>
            <a:ext cx="1097280" cy="47548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83096" y="4233672"/>
            <a:ext cx="1024127" cy="292608"/>
          </a:xfrm>
          <a:prstGeom prst="rect">
            <a:avLst/>
          </a:prstGeom>
          <a:noFill/>
        </p:spPr>
        <p:txBody>
          <a:bodyPr wrap="square">
            <a:spAutoFit/>
          </a:bodyPr>
          <a:lstStyle/>
          <a:p>
            <a:pPr algn="ctr"/>
            <a:r>
              <a:rPr sz="1100" b="0" i="0">
                <a:solidFill>
                  <a:srgbClr val="00FFC8"/>
                </a:solidFill>
              </a:rPr>
              <a:t>93%</a:t>
            </a:r>
          </a:p>
        </p:txBody>
      </p:sp>
      <p:sp>
        <p:nvSpPr>
          <p:cNvPr id="80" name="Rectangle 79"/>
          <p:cNvSpPr/>
          <p:nvPr/>
        </p:nvSpPr>
        <p:spPr>
          <a:xfrm>
            <a:off x="7571231" y="4142232"/>
            <a:ext cx="1097280" cy="47548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607807" y="4233672"/>
            <a:ext cx="1024127" cy="292608"/>
          </a:xfrm>
          <a:prstGeom prst="rect">
            <a:avLst/>
          </a:prstGeom>
          <a:noFill/>
        </p:spPr>
        <p:txBody>
          <a:bodyPr wrap="square">
            <a:spAutoFit/>
          </a:bodyPr>
          <a:lstStyle/>
          <a:p>
            <a:pPr algn="ctr"/>
            <a:r>
              <a:rPr sz="1100" b="0" i="0">
                <a:solidFill>
                  <a:srgbClr val="00FFC8"/>
                </a:solidFill>
              </a:rPr>
              <a:t>89%</a:t>
            </a:r>
          </a:p>
        </p:txBody>
      </p:sp>
      <p:sp>
        <p:nvSpPr>
          <p:cNvPr id="82" name="Rectangle 81"/>
          <p:cNvSpPr/>
          <p:nvPr/>
        </p:nvSpPr>
        <p:spPr>
          <a:xfrm>
            <a:off x="8705088" y="4142232"/>
            <a:ext cx="1097280" cy="47548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741663" y="4233672"/>
            <a:ext cx="1024127" cy="292608"/>
          </a:xfrm>
          <a:prstGeom prst="rect">
            <a:avLst/>
          </a:prstGeom>
          <a:noFill/>
        </p:spPr>
        <p:txBody>
          <a:bodyPr wrap="square">
            <a:spAutoFit/>
          </a:bodyPr>
          <a:lstStyle/>
          <a:p>
            <a:pPr algn="ctr"/>
            <a:r>
              <a:rPr sz="1100" b="0" i="0">
                <a:solidFill>
                  <a:srgbClr val="00FFC8"/>
                </a:solidFill>
              </a:rPr>
              <a:t>92%</a:t>
            </a:r>
          </a:p>
        </p:txBody>
      </p:sp>
      <p:sp>
        <p:nvSpPr>
          <p:cNvPr id="84" name="Rectangle 83"/>
          <p:cNvSpPr/>
          <p:nvPr/>
        </p:nvSpPr>
        <p:spPr>
          <a:xfrm>
            <a:off x="9829800" y="4142232"/>
            <a:ext cx="1371600" cy="475488"/>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866376" y="4233672"/>
            <a:ext cx="1298448" cy="292608"/>
          </a:xfrm>
          <a:prstGeom prst="rect">
            <a:avLst/>
          </a:prstGeom>
          <a:noFill/>
        </p:spPr>
        <p:txBody>
          <a:bodyPr wrap="square">
            <a:spAutoFit/>
          </a:bodyPr>
          <a:lstStyle/>
          <a:p>
            <a:pPr algn="ctr"/>
            <a:r>
              <a:rPr sz="1100" b="0" i="0">
                <a:solidFill>
                  <a:srgbClr val="00FFC8"/>
                </a:solidFill>
              </a:rPr>
              <a:t>91%</a:t>
            </a:r>
          </a:p>
        </p:txBody>
      </p:sp>
      <p:sp>
        <p:nvSpPr>
          <p:cNvPr id="86" name="Rectangle 85"/>
          <p:cNvSpPr/>
          <p:nvPr/>
        </p:nvSpPr>
        <p:spPr>
          <a:xfrm>
            <a:off x="292608" y="4654296"/>
            <a:ext cx="1600200" cy="475488"/>
          </a:xfrm>
          <a:prstGeom prst="rect">
            <a:avLst/>
          </a:prstGeom>
          <a:solidFill>
            <a:srgbClr val="0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29184" y="4745736"/>
            <a:ext cx="1527048" cy="292608"/>
          </a:xfrm>
          <a:prstGeom prst="rect">
            <a:avLst/>
          </a:prstGeom>
          <a:noFill/>
        </p:spPr>
        <p:txBody>
          <a:bodyPr wrap="square">
            <a:spAutoFit/>
          </a:bodyPr>
          <a:lstStyle/>
          <a:p>
            <a:pPr algn="ctr"/>
            <a:r>
              <a:rPr sz="1100" b="1" i="0">
                <a:solidFill>
                  <a:srgbClr val="39FF14"/>
                </a:solidFill>
              </a:rPr>
              <a:t>DistilBERT+XGBoost</a:t>
            </a:r>
          </a:p>
        </p:txBody>
      </p:sp>
      <p:sp>
        <p:nvSpPr>
          <p:cNvPr id="88" name="Rectangle 87"/>
          <p:cNvSpPr/>
          <p:nvPr/>
        </p:nvSpPr>
        <p:spPr>
          <a:xfrm>
            <a:off x="1920240" y="4654296"/>
            <a:ext cx="1051560" cy="475488"/>
          </a:xfrm>
          <a:prstGeom prst="rect">
            <a:avLst/>
          </a:prstGeom>
          <a:solidFill>
            <a:srgbClr val="0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956816" y="4745736"/>
            <a:ext cx="978407" cy="292608"/>
          </a:xfrm>
          <a:prstGeom prst="rect">
            <a:avLst/>
          </a:prstGeom>
          <a:noFill/>
        </p:spPr>
        <p:txBody>
          <a:bodyPr wrap="square">
            <a:spAutoFit/>
          </a:bodyPr>
          <a:lstStyle/>
          <a:p>
            <a:pPr algn="ctr"/>
            <a:r>
              <a:rPr sz="1100" b="1" i="0">
                <a:solidFill>
                  <a:srgbClr val="39FF14"/>
                </a:solidFill>
              </a:rPr>
              <a:t>96%</a:t>
            </a:r>
          </a:p>
        </p:txBody>
      </p:sp>
      <p:sp>
        <p:nvSpPr>
          <p:cNvPr id="90" name="Rectangle 89"/>
          <p:cNvSpPr/>
          <p:nvPr/>
        </p:nvSpPr>
        <p:spPr>
          <a:xfrm>
            <a:off x="3017520" y="4654296"/>
            <a:ext cx="1097280" cy="475488"/>
          </a:xfrm>
          <a:prstGeom prst="rect">
            <a:avLst/>
          </a:prstGeom>
          <a:solidFill>
            <a:srgbClr val="0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054096" y="4745736"/>
            <a:ext cx="1024127" cy="292608"/>
          </a:xfrm>
          <a:prstGeom prst="rect">
            <a:avLst/>
          </a:prstGeom>
          <a:noFill/>
        </p:spPr>
        <p:txBody>
          <a:bodyPr wrap="square">
            <a:spAutoFit/>
          </a:bodyPr>
          <a:lstStyle/>
          <a:p>
            <a:pPr algn="ctr"/>
            <a:r>
              <a:rPr sz="1100" b="1" i="0">
                <a:solidFill>
                  <a:srgbClr val="39FF14"/>
                </a:solidFill>
              </a:rPr>
              <a:t>95%</a:t>
            </a:r>
          </a:p>
        </p:txBody>
      </p:sp>
      <p:sp>
        <p:nvSpPr>
          <p:cNvPr id="92" name="Rectangle 91"/>
          <p:cNvSpPr/>
          <p:nvPr/>
        </p:nvSpPr>
        <p:spPr>
          <a:xfrm>
            <a:off x="4160520" y="4654296"/>
            <a:ext cx="1097280" cy="475488"/>
          </a:xfrm>
          <a:prstGeom prst="rect">
            <a:avLst/>
          </a:prstGeom>
          <a:solidFill>
            <a:srgbClr val="0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197096" y="4745736"/>
            <a:ext cx="1024127" cy="292608"/>
          </a:xfrm>
          <a:prstGeom prst="rect">
            <a:avLst/>
          </a:prstGeom>
          <a:noFill/>
        </p:spPr>
        <p:txBody>
          <a:bodyPr wrap="square">
            <a:spAutoFit/>
          </a:bodyPr>
          <a:lstStyle/>
          <a:p>
            <a:pPr algn="ctr"/>
            <a:r>
              <a:rPr sz="1100" b="1" i="0">
                <a:solidFill>
                  <a:srgbClr val="39FF14"/>
                </a:solidFill>
              </a:rPr>
              <a:t>97%</a:t>
            </a:r>
          </a:p>
        </p:txBody>
      </p:sp>
      <p:sp>
        <p:nvSpPr>
          <p:cNvPr id="94" name="Rectangle 93"/>
          <p:cNvSpPr/>
          <p:nvPr/>
        </p:nvSpPr>
        <p:spPr>
          <a:xfrm>
            <a:off x="5303520" y="4654296"/>
            <a:ext cx="1097280" cy="475488"/>
          </a:xfrm>
          <a:prstGeom prst="rect">
            <a:avLst/>
          </a:prstGeom>
          <a:solidFill>
            <a:srgbClr val="0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340096" y="4745736"/>
            <a:ext cx="1024127" cy="292608"/>
          </a:xfrm>
          <a:prstGeom prst="rect">
            <a:avLst/>
          </a:prstGeom>
          <a:noFill/>
        </p:spPr>
        <p:txBody>
          <a:bodyPr wrap="square">
            <a:spAutoFit/>
          </a:bodyPr>
          <a:lstStyle/>
          <a:p>
            <a:pPr algn="ctr"/>
            <a:r>
              <a:rPr sz="1100" b="1" i="0">
                <a:solidFill>
                  <a:srgbClr val="39FF14"/>
                </a:solidFill>
              </a:rPr>
              <a:t>94%</a:t>
            </a:r>
          </a:p>
        </p:txBody>
      </p:sp>
      <p:sp>
        <p:nvSpPr>
          <p:cNvPr id="96" name="Rectangle 95"/>
          <p:cNvSpPr/>
          <p:nvPr/>
        </p:nvSpPr>
        <p:spPr>
          <a:xfrm>
            <a:off x="6446520" y="4654296"/>
            <a:ext cx="1097280" cy="475488"/>
          </a:xfrm>
          <a:prstGeom prst="rect">
            <a:avLst/>
          </a:prstGeom>
          <a:solidFill>
            <a:srgbClr val="0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483096" y="4745736"/>
            <a:ext cx="1024127" cy="292608"/>
          </a:xfrm>
          <a:prstGeom prst="rect">
            <a:avLst/>
          </a:prstGeom>
          <a:noFill/>
        </p:spPr>
        <p:txBody>
          <a:bodyPr wrap="square">
            <a:spAutoFit/>
          </a:bodyPr>
          <a:lstStyle/>
          <a:p>
            <a:pPr algn="ctr"/>
            <a:r>
              <a:rPr sz="1100" b="1" i="0">
                <a:solidFill>
                  <a:srgbClr val="39FF14"/>
                </a:solidFill>
              </a:rPr>
              <a:t>97%</a:t>
            </a:r>
          </a:p>
        </p:txBody>
      </p:sp>
      <p:sp>
        <p:nvSpPr>
          <p:cNvPr id="98" name="Rectangle 97"/>
          <p:cNvSpPr/>
          <p:nvPr/>
        </p:nvSpPr>
        <p:spPr>
          <a:xfrm>
            <a:off x="7571231" y="4654296"/>
            <a:ext cx="1097280" cy="475488"/>
          </a:xfrm>
          <a:prstGeom prst="rect">
            <a:avLst/>
          </a:prstGeom>
          <a:solidFill>
            <a:srgbClr val="0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607807" y="4745736"/>
            <a:ext cx="1024127" cy="292608"/>
          </a:xfrm>
          <a:prstGeom prst="rect">
            <a:avLst/>
          </a:prstGeom>
          <a:noFill/>
        </p:spPr>
        <p:txBody>
          <a:bodyPr wrap="square">
            <a:spAutoFit/>
          </a:bodyPr>
          <a:lstStyle/>
          <a:p>
            <a:pPr algn="ctr"/>
            <a:r>
              <a:rPr sz="1100" b="1" i="0">
                <a:solidFill>
                  <a:srgbClr val="39FF14"/>
                </a:solidFill>
              </a:rPr>
              <a:t>94%</a:t>
            </a:r>
          </a:p>
        </p:txBody>
      </p:sp>
      <p:sp>
        <p:nvSpPr>
          <p:cNvPr id="100" name="Rectangle 99"/>
          <p:cNvSpPr/>
          <p:nvPr/>
        </p:nvSpPr>
        <p:spPr>
          <a:xfrm>
            <a:off x="8705088" y="4654296"/>
            <a:ext cx="1097280" cy="475488"/>
          </a:xfrm>
          <a:prstGeom prst="rect">
            <a:avLst/>
          </a:prstGeom>
          <a:solidFill>
            <a:srgbClr val="0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741663" y="4745736"/>
            <a:ext cx="1024127" cy="292608"/>
          </a:xfrm>
          <a:prstGeom prst="rect">
            <a:avLst/>
          </a:prstGeom>
          <a:noFill/>
        </p:spPr>
        <p:txBody>
          <a:bodyPr wrap="square">
            <a:spAutoFit/>
          </a:bodyPr>
          <a:lstStyle/>
          <a:p>
            <a:pPr algn="ctr"/>
            <a:r>
              <a:rPr sz="1100" b="1" i="0">
                <a:solidFill>
                  <a:srgbClr val="39FF14"/>
                </a:solidFill>
              </a:rPr>
              <a:t>97%</a:t>
            </a:r>
          </a:p>
        </p:txBody>
      </p:sp>
      <p:sp>
        <p:nvSpPr>
          <p:cNvPr id="102" name="Rectangle 101"/>
          <p:cNvSpPr/>
          <p:nvPr/>
        </p:nvSpPr>
        <p:spPr>
          <a:xfrm>
            <a:off x="9829800" y="4654296"/>
            <a:ext cx="1371600" cy="475488"/>
          </a:xfrm>
          <a:prstGeom prst="rect">
            <a:avLst/>
          </a:prstGeom>
          <a:solidFill>
            <a:srgbClr val="0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866376" y="4745736"/>
            <a:ext cx="1298448" cy="292608"/>
          </a:xfrm>
          <a:prstGeom prst="rect">
            <a:avLst/>
          </a:prstGeom>
          <a:noFill/>
        </p:spPr>
        <p:txBody>
          <a:bodyPr wrap="square">
            <a:spAutoFit/>
          </a:bodyPr>
          <a:lstStyle/>
          <a:p>
            <a:pPr algn="ctr"/>
            <a:r>
              <a:rPr sz="1100" b="1" i="0">
                <a:solidFill>
                  <a:srgbClr val="39FF14"/>
                </a:solidFill>
              </a:rPr>
              <a:t>96%</a:t>
            </a:r>
          </a:p>
        </p:txBody>
      </p:sp>
      <p:sp>
        <p:nvSpPr>
          <p:cNvPr id="104" name="TextBox 103"/>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8 / 13</a:t>
            </a:r>
          </a:p>
        </p:txBody>
      </p:sp>
      <p:sp>
        <p:nvSpPr>
          <p:cNvPr id="105" name="Rectangle 104"/>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Hybrid DistilBERT+XGBoost achieves best results across all metrics, validating the multi-modal fusion approach.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98755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 y="45720"/>
            <a:ext cx="10241280" cy="566928"/>
          </a:xfrm>
          <a:prstGeom prst="rect">
            <a:avLst/>
          </a:prstGeom>
          <a:noFill/>
        </p:spPr>
        <p:txBody>
          <a:bodyPr wrap="square">
            <a:spAutoFit/>
          </a:bodyPr>
          <a:lstStyle/>
          <a:p>
            <a:pPr algn="l"/>
            <a:r>
              <a:rPr sz="2800" b="1" i="0">
                <a:solidFill>
                  <a:srgbClr val="FFFFFF"/>
                </a:solidFill>
              </a:rPr>
              <a:t>Comparison: Existing vs. Proposed Model</a:t>
            </a:r>
          </a:p>
        </p:txBody>
      </p:sp>
      <p:sp>
        <p:nvSpPr>
          <p:cNvPr id="7" name="TextBox 6"/>
          <p:cNvSpPr txBox="1"/>
          <p:nvPr/>
        </p:nvSpPr>
        <p:spPr>
          <a:xfrm>
            <a:off x="164592" y="603504"/>
            <a:ext cx="10241280" cy="329184"/>
          </a:xfrm>
          <a:prstGeom prst="rect">
            <a:avLst/>
          </a:prstGeom>
          <a:noFill/>
        </p:spPr>
        <p:txBody>
          <a:bodyPr wrap="square">
            <a:spAutoFit/>
          </a:bodyPr>
          <a:lstStyle/>
          <a:p>
            <a:pPr algn="l"/>
            <a:r>
              <a:rPr sz="1250" b="0" i="1">
                <a:solidFill>
                  <a:srgbClr val="39FF14"/>
                </a:solidFill>
              </a:rPr>
              <a:t>Multi-Dimensional Performance &amp; Capability Analysis</a:t>
            </a:r>
          </a:p>
        </p:txBody>
      </p:sp>
      <p:sp>
        <p:nvSpPr>
          <p:cNvPr id="8" name="TextBox 7"/>
          <p:cNvSpPr txBox="1"/>
          <p:nvPr/>
        </p:nvSpPr>
        <p:spPr>
          <a:xfrm>
            <a:off x="8046720" y="676656"/>
            <a:ext cx="4023360" cy="256032"/>
          </a:xfrm>
          <a:prstGeom prst="rect">
            <a:avLst/>
          </a:prstGeom>
          <a:noFill/>
        </p:spPr>
        <p:txBody>
          <a:bodyPr wrap="square">
            <a:spAutoFit/>
          </a:bodyPr>
          <a:lstStyle/>
          <a:p>
            <a:pPr algn="r"/>
            <a:r>
              <a:rPr sz="900" b="0" i="0">
                <a:solidFill>
                  <a:srgbClr val="B8D8F0"/>
                </a:solidFill>
              </a:rPr>
              <a:t>PhishGuard | AI-Powered Phishing Detection</a:t>
            </a:r>
          </a:p>
        </p:txBody>
      </p:sp>
      <p:sp>
        <p:nvSpPr>
          <p:cNvPr id="9" name="Rectangle 8"/>
          <p:cNvSpPr/>
          <p:nvPr/>
        </p:nvSpPr>
        <p:spPr>
          <a:xfrm>
            <a:off x="256032" y="1097280"/>
            <a:ext cx="1828800" cy="5486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133856"/>
            <a:ext cx="1755648" cy="475488"/>
          </a:xfrm>
          <a:prstGeom prst="rect">
            <a:avLst/>
          </a:prstGeom>
          <a:noFill/>
        </p:spPr>
        <p:txBody>
          <a:bodyPr wrap="square">
            <a:spAutoFit/>
          </a:bodyPr>
          <a:lstStyle/>
          <a:p>
            <a:pPr algn="ctr"/>
            <a:r>
              <a:rPr sz="1050" b="1" i="0">
                <a:solidFill>
                  <a:srgbClr val="FFFFFF"/>
                </a:solidFill>
              </a:rPr>
              <a:t>Criterion</a:t>
            </a:r>
          </a:p>
        </p:txBody>
      </p:sp>
      <p:sp>
        <p:nvSpPr>
          <p:cNvPr id="11" name="Rectangle 10"/>
          <p:cNvSpPr/>
          <p:nvPr/>
        </p:nvSpPr>
        <p:spPr>
          <a:xfrm>
            <a:off x="2121408" y="1097280"/>
            <a:ext cx="1325880" cy="5486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57984" y="1133856"/>
            <a:ext cx="1252728" cy="475488"/>
          </a:xfrm>
          <a:prstGeom prst="rect">
            <a:avLst/>
          </a:prstGeom>
          <a:noFill/>
        </p:spPr>
        <p:txBody>
          <a:bodyPr wrap="square">
            <a:spAutoFit/>
          </a:bodyPr>
          <a:lstStyle/>
          <a:p>
            <a:pPr algn="ctr"/>
            <a:r>
              <a:rPr sz="1050" b="1" i="0">
                <a:solidFill>
                  <a:srgbClr val="FFFFFF"/>
                </a:solidFill>
              </a:rPr>
              <a:t>XGBoost
URL (2025)</a:t>
            </a:r>
          </a:p>
        </p:txBody>
      </p:sp>
      <p:sp>
        <p:nvSpPr>
          <p:cNvPr id="13" name="Rectangle 12"/>
          <p:cNvSpPr/>
          <p:nvPr/>
        </p:nvSpPr>
        <p:spPr>
          <a:xfrm>
            <a:off x="3483864" y="1097280"/>
            <a:ext cx="1325880" cy="5486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1133856"/>
            <a:ext cx="1252728" cy="475488"/>
          </a:xfrm>
          <a:prstGeom prst="rect">
            <a:avLst/>
          </a:prstGeom>
          <a:noFill/>
        </p:spPr>
        <p:txBody>
          <a:bodyPr wrap="square">
            <a:spAutoFit/>
          </a:bodyPr>
          <a:lstStyle/>
          <a:p>
            <a:pPr algn="ctr"/>
            <a:r>
              <a:rPr sz="1050" b="1" i="0">
                <a:solidFill>
                  <a:srgbClr val="FFFFFF"/>
                </a:solidFill>
              </a:rPr>
              <a:t>BERT Email
(2024)</a:t>
            </a:r>
          </a:p>
        </p:txBody>
      </p:sp>
      <p:sp>
        <p:nvSpPr>
          <p:cNvPr id="15" name="Rectangle 14"/>
          <p:cNvSpPr/>
          <p:nvPr/>
        </p:nvSpPr>
        <p:spPr>
          <a:xfrm>
            <a:off x="4846320" y="1097280"/>
            <a:ext cx="1325880" cy="5486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82896" y="1133856"/>
            <a:ext cx="1252728" cy="475488"/>
          </a:xfrm>
          <a:prstGeom prst="rect">
            <a:avLst/>
          </a:prstGeom>
          <a:noFill/>
        </p:spPr>
        <p:txBody>
          <a:bodyPr wrap="square">
            <a:spAutoFit/>
          </a:bodyPr>
          <a:lstStyle/>
          <a:p>
            <a:pPr algn="ctr"/>
            <a:r>
              <a:rPr sz="1050" b="1" i="0">
                <a:solidFill>
                  <a:srgbClr val="FFFFFF"/>
                </a:solidFill>
              </a:rPr>
              <a:t>LSTM-CNN
(2023)</a:t>
            </a:r>
          </a:p>
        </p:txBody>
      </p:sp>
      <p:sp>
        <p:nvSpPr>
          <p:cNvPr id="17" name="Rectangle 16"/>
          <p:cNvSpPr/>
          <p:nvPr/>
        </p:nvSpPr>
        <p:spPr>
          <a:xfrm>
            <a:off x="6208776" y="1097280"/>
            <a:ext cx="1234440" cy="5486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45352" y="1133856"/>
            <a:ext cx="1161288" cy="475488"/>
          </a:xfrm>
          <a:prstGeom prst="rect">
            <a:avLst/>
          </a:prstGeom>
          <a:noFill/>
        </p:spPr>
        <p:txBody>
          <a:bodyPr wrap="square">
            <a:spAutoFit/>
          </a:bodyPr>
          <a:lstStyle/>
          <a:p>
            <a:pPr algn="ctr"/>
            <a:r>
              <a:rPr sz="1050" b="1" i="0">
                <a:solidFill>
                  <a:srgbClr val="FFFFFF"/>
                </a:solidFill>
              </a:rPr>
              <a:t>RF &amp; SVM
(2021)</a:t>
            </a:r>
          </a:p>
        </p:txBody>
      </p:sp>
      <p:sp>
        <p:nvSpPr>
          <p:cNvPr id="19" name="Rectangle 18"/>
          <p:cNvSpPr/>
          <p:nvPr/>
        </p:nvSpPr>
        <p:spPr>
          <a:xfrm>
            <a:off x="7479792" y="1097280"/>
            <a:ext cx="1188720" cy="5486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16367" y="1133856"/>
            <a:ext cx="1115568" cy="475488"/>
          </a:xfrm>
          <a:prstGeom prst="rect">
            <a:avLst/>
          </a:prstGeom>
          <a:noFill/>
        </p:spPr>
        <p:txBody>
          <a:bodyPr wrap="square">
            <a:spAutoFit/>
          </a:bodyPr>
          <a:lstStyle/>
          <a:p>
            <a:pPr algn="ctr"/>
            <a:r>
              <a:rPr sz="1050" b="1" i="0">
                <a:solidFill>
                  <a:srgbClr val="FFFFFF"/>
                </a:solidFill>
              </a:rPr>
              <a:t>CNN
(2021)</a:t>
            </a:r>
          </a:p>
        </p:txBody>
      </p:sp>
      <p:sp>
        <p:nvSpPr>
          <p:cNvPr id="21" name="Rectangle 20"/>
          <p:cNvSpPr/>
          <p:nvPr/>
        </p:nvSpPr>
        <p:spPr>
          <a:xfrm>
            <a:off x="8705088" y="1097280"/>
            <a:ext cx="1920240" cy="54864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41663" y="1133856"/>
            <a:ext cx="1847088" cy="475488"/>
          </a:xfrm>
          <a:prstGeom prst="rect">
            <a:avLst/>
          </a:prstGeom>
          <a:noFill/>
        </p:spPr>
        <p:txBody>
          <a:bodyPr wrap="square">
            <a:spAutoFit/>
          </a:bodyPr>
          <a:lstStyle/>
          <a:p>
            <a:pPr algn="ctr"/>
            <a:r>
              <a:rPr sz="1050" b="1" i="0">
                <a:solidFill>
                  <a:srgbClr val="070E1A"/>
                </a:solidFill>
              </a:rPr>
              <a:t>PhishGuard
Hybrid</a:t>
            </a:r>
          </a:p>
        </p:txBody>
      </p:sp>
      <p:sp>
        <p:nvSpPr>
          <p:cNvPr id="23" name="Rectangle 22"/>
          <p:cNvSpPr/>
          <p:nvPr/>
        </p:nvSpPr>
        <p:spPr>
          <a:xfrm>
            <a:off x="256032" y="1645919"/>
            <a:ext cx="182880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1700784"/>
            <a:ext cx="1755648" cy="333756"/>
          </a:xfrm>
          <a:prstGeom prst="rect">
            <a:avLst/>
          </a:prstGeom>
          <a:noFill/>
        </p:spPr>
        <p:txBody>
          <a:bodyPr wrap="square">
            <a:spAutoFit/>
          </a:bodyPr>
          <a:lstStyle/>
          <a:p>
            <a:pPr algn="ctr"/>
            <a:r>
              <a:rPr sz="1000" b="0" i="0">
                <a:solidFill>
                  <a:srgbClr val="00D4FF"/>
                </a:solidFill>
              </a:rPr>
              <a:t>Accuracy</a:t>
            </a:r>
          </a:p>
        </p:txBody>
      </p:sp>
      <p:sp>
        <p:nvSpPr>
          <p:cNvPr id="25" name="Rectangle 24"/>
          <p:cNvSpPr/>
          <p:nvPr/>
        </p:nvSpPr>
        <p:spPr>
          <a:xfrm>
            <a:off x="2121408" y="1645919"/>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57984" y="1700784"/>
            <a:ext cx="1252728" cy="333756"/>
          </a:xfrm>
          <a:prstGeom prst="rect">
            <a:avLst/>
          </a:prstGeom>
          <a:noFill/>
        </p:spPr>
        <p:txBody>
          <a:bodyPr wrap="square">
            <a:spAutoFit/>
          </a:bodyPr>
          <a:lstStyle/>
          <a:p>
            <a:pPr algn="ctr"/>
            <a:r>
              <a:rPr sz="1000" b="0" i="0">
                <a:solidFill>
                  <a:srgbClr val="FFFFFF"/>
                </a:solidFill>
              </a:rPr>
              <a:t>~97%</a:t>
            </a:r>
          </a:p>
        </p:txBody>
      </p:sp>
      <p:sp>
        <p:nvSpPr>
          <p:cNvPr id="27" name="Rectangle 26"/>
          <p:cNvSpPr/>
          <p:nvPr/>
        </p:nvSpPr>
        <p:spPr>
          <a:xfrm>
            <a:off x="3483864" y="1645919"/>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20440" y="1700784"/>
            <a:ext cx="1252728" cy="333756"/>
          </a:xfrm>
          <a:prstGeom prst="rect">
            <a:avLst/>
          </a:prstGeom>
          <a:noFill/>
        </p:spPr>
        <p:txBody>
          <a:bodyPr wrap="square">
            <a:spAutoFit/>
          </a:bodyPr>
          <a:lstStyle/>
          <a:p>
            <a:pPr algn="ctr"/>
            <a:r>
              <a:rPr sz="1000" b="0" i="0">
                <a:solidFill>
                  <a:srgbClr val="FFFFFF"/>
                </a:solidFill>
              </a:rPr>
              <a:t>~95%</a:t>
            </a:r>
          </a:p>
        </p:txBody>
      </p:sp>
      <p:sp>
        <p:nvSpPr>
          <p:cNvPr id="29" name="Rectangle 28"/>
          <p:cNvSpPr/>
          <p:nvPr/>
        </p:nvSpPr>
        <p:spPr>
          <a:xfrm>
            <a:off x="4846320" y="1645919"/>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82896" y="1700784"/>
            <a:ext cx="1252728" cy="333756"/>
          </a:xfrm>
          <a:prstGeom prst="rect">
            <a:avLst/>
          </a:prstGeom>
          <a:noFill/>
        </p:spPr>
        <p:txBody>
          <a:bodyPr wrap="square">
            <a:spAutoFit/>
          </a:bodyPr>
          <a:lstStyle/>
          <a:p>
            <a:pPr algn="ctr"/>
            <a:r>
              <a:rPr sz="1000" b="0" i="0">
                <a:solidFill>
                  <a:srgbClr val="FFFFFF"/>
                </a:solidFill>
              </a:rPr>
              <a:t>~93%</a:t>
            </a:r>
          </a:p>
        </p:txBody>
      </p:sp>
      <p:sp>
        <p:nvSpPr>
          <p:cNvPr id="31" name="Rectangle 30"/>
          <p:cNvSpPr/>
          <p:nvPr/>
        </p:nvSpPr>
        <p:spPr>
          <a:xfrm>
            <a:off x="6208776" y="1645919"/>
            <a:ext cx="123444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45352" y="1700784"/>
            <a:ext cx="1161288" cy="333756"/>
          </a:xfrm>
          <a:prstGeom prst="rect">
            <a:avLst/>
          </a:prstGeom>
          <a:noFill/>
        </p:spPr>
        <p:txBody>
          <a:bodyPr wrap="square">
            <a:spAutoFit/>
          </a:bodyPr>
          <a:lstStyle/>
          <a:p>
            <a:pPr algn="ctr"/>
            <a:r>
              <a:rPr sz="1000" b="0" i="0">
                <a:solidFill>
                  <a:srgbClr val="FFFFFF"/>
                </a:solidFill>
              </a:rPr>
              <a:t>~90%</a:t>
            </a:r>
          </a:p>
        </p:txBody>
      </p:sp>
      <p:sp>
        <p:nvSpPr>
          <p:cNvPr id="33" name="Rectangle 32"/>
          <p:cNvSpPr/>
          <p:nvPr/>
        </p:nvSpPr>
        <p:spPr>
          <a:xfrm>
            <a:off x="7479792" y="1645919"/>
            <a:ext cx="118872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16367" y="1700784"/>
            <a:ext cx="1115568" cy="333756"/>
          </a:xfrm>
          <a:prstGeom prst="rect">
            <a:avLst/>
          </a:prstGeom>
          <a:noFill/>
        </p:spPr>
        <p:txBody>
          <a:bodyPr wrap="square">
            <a:spAutoFit/>
          </a:bodyPr>
          <a:lstStyle/>
          <a:p>
            <a:pPr algn="ctr"/>
            <a:r>
              <a:rPr sz="1000" b="0" i="0">
                <a:solidFill>
                  <a:srgbClr val="FFFFFF"/>
                </a:solidFill>
              </a:rPr>
              <a:t>~92%</a:t>
            </a:r>
          </a:p>
        </p:txBody>
      </p:sp>
      <p:sp>
        <p:nvSpPr>
          <p:cNvPr id="35" name="Rectangle 34"/>
          <p:cNvSpPr/>
          <p:nvPr/>
        </p:nvSpPr>
        <p:spPr>
          <a:xfrm>
            <a:off x="8705088" y="1645919"/>
            <a:ext cx="1920240" cy="425196"/>
          </a:xfrm>
          <a:prstGeom prst="rect">
            <a:avLst/>
          </a:prstGeom>
          <a:solidFill>
            <a:srgbClr val="03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41663" y="1700784"/>
            <a:ext cx="1847088" cy="333756"/>
          </a:xfrm>
          <a:prstGeom prst="rect">
            <a:avLst/>
          </a:prstGeom>
          <a:noFill/>
        </p:spPr>
        <p:txBody>
          <a:bodyPr wrap="square">
            <a:spAutoFit/>
          </a:bodyPr>
          <a:lstStyle/>
          <a:p>
            <a:pPr algn="ctr"/>
            <a:r>
              <a:rPr sz="1000" b="1" i="0">
                <a:solidFill>
                  <a:srgbClr val="39FF14"/>
                </a:solidFill>
              </a:rPr>
              <a:t>96%</a:t>
            </a:r>
          </a:p>
        </p:txBody>
      </p:sp>
      <p:sp>
        <p:nvSpPr>
          <p:cNvPr id="37" name="Rectangle 36"/>
          <p:cNvSpPr/>
          <p:nvPr/>
        </p:nvSpPr>
        <p:spPr>
          <a:xfrm>
            <a:off x="256032" y="2071115"/>
            <a:ext cx="182880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2608" y="2125979"/>
            <a:ext cx="1755648" cy="333756"/>
          </a:xfrm>
          <a:prstGeom prst="rect">
            <a:avLst/>
          </a:prstGeom>
          <a:noFill/>
        </p:spPr>
        <p:txBody>
          <a:bodyPr wrap="square">
            <a:spAutoFit/>
          </a:bodyPr>
          <a:lstStyle/>
          <a:p>
            <a:pPr algn="ctr"/>
            <a:r>
              <a:rPr sz="1000" b="0" i="0">
                <a:solidFill>
                  <a:srgbClr val="00D4FF"/>
                </a:solidFill>
              </a:rPr>
              <a:t>Multi-Channel</a:t>
            </a:r>
          </a:p>
        </p:txBody>
      </p:sp>
      <p:sp>
        <p:nvSpPr>
          <p:cNvPr id="39" name="Rectangle 38"/>
          <p:cNvSpPr/>
          <p:nvPr/>
        </p:nvSpPr>
        <p:spPr>
          <a:xfrm>
            <a:off x="2121408" y="2071115"/>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57984" y="2125979"/>
            <a:ext cx="1252728" cy="333756"/>
          </a:xfrm>
          <a:prstGeom prst="rect">
            <a:avLst/>
          </a:prstGeom>
          <a:noFill/>
        </p:spPr>
        <p:txBody>
          <a:bodyPr wrap="square">
            <a:spAutoFit/>
          </a:bodyPr>
          <a:lstStyle/>
          <a:p>
            <a:pPr algn="ctr"/>
            <a:r>
              <a:rPr sz="1000" b="0" i="0">
                <a:solidFill>
                  <a:srgbClr val="FFFFFF"/>
                </a:solidFill>
              </a:rPr>
              <a:t>URL only</a:t>
            </a:r>
          </a:p>
        </p:txBody>
      </p:sp>
      <p:sp>
        <p:nvSpPr>
          <p:cNvPr id="41" name="Rectangle 40"/>
          <p:cNvSpPr/>
          <p:nvPr/>
        </p:nvSpPr>
        <p:spPr>
          <a:xfrm>
            <a:off x="3483864" y="2071115"/>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20440" y="2125979"/>
            <a:ext cx="1252728" cy="333756"/>
          </a:xfrm>
          <a:prstGeom prst="rect">
            <a:avLst/>
          </a:prstGeom>
          <a:noFill/>
        </p:spPr>
        <p:txBody>
          <a:bodyPr wrap="square">
            <a:spAutoFit/>
          </a:bodyPr>
          <a:lstStyle/>
          <a:p>
            <a:pPr algn="ctr"/>
            <a:r>
              <a:rPr sz="1000" b="0" i="0">
                <a:solidFill>
                  <a:srgbClr val="FFFFFF"/>
                </a:solidFill>
              </a:rPr>
              <a:t>Email only</a:t>
            </a:r>
          </a:p>
        </p:txBody>
      </p:sp>
      <p:sp>
        <p:nvSpPr>
          <p:cNvPr id="43" name="Rectangle 42"/>
          <p:cNvSpPr/>
          <p:nvPr/>
        </p:nvSpPr>
        <p:spPr>
          <a:xfrm>
            <a:off x="4846320" y="2071115"/>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82896" y="2125979"/>
            <a:ext cx="1252728" cy="333756"/>
          </a:xfrm>
          <a:prstGeom prst="rect">
            <a:avLst/>
          </a:prstGeom>
          <a:noFill/>
        </p:spPr>
        <p:txBody>
          <a:bodyPr wrap="square">
            <a:spAutoFit/>
          </a:bodyPr>
          <a:lstStyle/>
          <a:p>
            <a:pPr algn="ctr"/>
            <a:r>
              <a:rPr sz="1000" b="0" i="0">
                <a:solidFill>
                  <a:srgbClr val="FFFFFF"/>
                </a:solidFill>
              </a:rPr>
              <a:t>URL only</a:t>
            </a:r>
          </a:p>
        </p:txBody>
      </p:sp>
      <p:sp>
        <p:nvSpPr>
          <p:cNvPr id="45" name="Rectangle 44"/>
          <p:cNvSpPr/>
          <p:nvPr/>
        </p:nvSpPr>
        <p:spPr>
          <a:xfrm>
            <a:off x="6208776" y="2071115"/>
            <a:ext cx="123444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2" y="2125979"/>
            <a:ext cx="1161288" cy="333756"/>
          </a:xfrm>
          <a:prstGeom prst="rect">
            <a:avLst/>
          </a:prstGeom>
          <a:noFill/>
        </p:spPr>
        <p:txBody>
          <a:bodyPr wrap="square">
            <a:spAutoFit/>
          </a:bodyPr>
          <a:lstStyle/>
          <a:p>
            <a:pPr algn="ctr"/>
            <a:r>
              <a:rPr sz="1000" b="0" i="0">
                <a:solidFill>
                  <a:srgbClr val="FFFFFF"/>
                </a:solidFill>
              </a:rPr>
              <a:t>URL only</a:t>
            </a:r>
          </a:p>
        </p:txBody>
      </p:sp>
      <p:sp>
        <p:nvSpPr>
          <p:cNvPr id="47" name="Rectangle 46"/>
          <p:cNvSpPr/>
          <p:nvPr/>
        </p:nvSpPr>
        <p:spPr>
          <a:xfrm>
            <a:off x="7479792" y="2071115"/>
            <a:ext cx="118872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16367" y="2125979"/>
            <a:ext cx="1115568" cy="333756"/>
          </a:xfrm>
          <a:prstGeom prst="rect">
            <a:avLst/>
          </a:prstGeom>
          <a:noFill/>
        </p:spPr>
        <p:txBody>
          <a:bodyPr wrap="square">
            <a:spAutoFit/>
          </a:bodyPr>
          <a:lstStyle/>
          <a:p>
            <a:pPr algn="ctr"/>
            <a:r>
              <a:rPr sz="1000" b="0" i="0">
                <a:solidFill>
                  <a:srgbClr val="FFFFFF"/>
                </a:solidFill>
              </a:rPr>
              <a:t>Web only</a:t>
            </a:r>
          </a:p>
        </p:txBody>
      </p:sp>
      <p:sp>
        <p:nvSpPr>
          <p:cNvPr id="49" name="Rectangle 48"/>
          <p:cNvSpPr/>
          <p:nvPr/>
        </p:nvSpPr>
        <p:spPr>
          <a:xfrm>
            <a:off x="8705088" y="2071115"/>
            <a:ext cx="1920240" cy="425196"/>
          </a:xfrm>
          <a:prstGeom prst="rect">
            <a:avLst/>
          </a:prstGeom>
          <a:solidFill>
            <a:srgbClr val="03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41663" y="2125979"/>
            <a:ext cx="1847088" cy="333756"/>
          </a:xfrm>
          <a:prstGeom prst="rect">
            <a:avLst/>
          </a:prstGeom>
          <a:noFill/>
        </p:spPr>
        <p:txBody>
          <a:bodyPr wrap="square">
            <a:spAutoFit/>
          </a:bodyPr>
          <a:lstStyle/>
          <a:p>
            <a:pPr algn="ctr"/>
            <a:r>
              <a:rPr sz="1000" b="1" i="0">
                <a:solidFill>
                  <a:srgbClr val="39FF14"/>
                </a:solidFill>
              </a:rPr>
              <a:t>URLs+Email+SMS</a:t>
            </a:r>
          </a:p>
        </p:txBody>
      </p:sp>
      <p:sp>
        <p:nvSpPr>
          <p:cNvPr id="51" name="Rectangle 50"/>
          <p:cNvSpPr/>
          <p:nvPr/>
        </p:nvSpPr>
        <p:spPr>
          <a:xfrm>
            <a:off x="256032" y="2496312"/>
            <a:ext cx="182880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2608" y="2551176"/>
            <a:ext cx="1755648" cy="333756"/>
          </a:xfrm>
          <a:prstGeom prst="rect">
            <a:avLst/>
          </a:prstGeom>
          <a:noFill/>
        </p:spPr>
        <p:txBody>
          <a:bodyPr wrap="square">
            <a:spAutoFit/>
          </a:bodyPr>
          <a:lstStyle/>
          <a:p>
            <a:pPr algn="ctr"/>
            <a:r>
              <a:rPr sz="1000" b="0" i="0">
                <a:solidFill>
                  <a:srgbClr val="00D4FF"/>
                </a:solidFill>
              </a:rPr>
              <a:t>Semantic NLP</a:t>
            </a:r>
          </a:p>
        </p:txBody>
      </p:sp>
      <p:sp>
        <p:nvSpPr>
          <p:cNvPr id="53" name="Rectangle 52"/>
          <p:cNvSpPr/>
          <p:nvPr/>
        </p:nvSpPr>
        <p:spPr>
          <a:xfrm>
            <a:off x="2121408" y="2496312"/>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157984" y="2551176"/>
            <a:ext cx="1252728" cy="333756"/>
          </a:xfrm>
          <a:prstGeom prst="rect">
            <a:avLst/>
          </a:prstGeom>
          <a:noFill/>
        </p:spPr>
        <p:txBody>
          <a:bodyPr wrap="square">
            <a:spAutoFit/>
          </a:bodyPr>
          <a:lstStyle/>
          <a:p>
            <a:pPr algn="ctr"/>
            <a:r>
              <a:rPr sz="1000" b="0" i="0">
                <a:solidFill>
                  <a:srgbClr val="FF6B35"/>
                </a:solidFill>
              </a:rPr>
              <a:t>No</a:t>
            </a:r>
          </a:p>
        </p:txBody>
      </p:sp>
      <p:sp>
        <p:nvSpPr>
          <p:cNvPr id="55" name="Rectangle 54"/>
          <p:cNvSpPr/>
          <p:nvPr/>
        </p:nvSpPr>
        <p:spPr>
          <a:xfrm>
            <a:off x="3483864" y="2496312"/>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520440" y="2551176"/>
            <a:ext cx="1252728" cy="333756"/>
          </a:xfrm>
          <a:prstGeom prst="rect">
            <a:avLst/>
          </a:prstGeom>
          <a:noFill/>
        </p:spPr>
        <p:txBody>
          <a:bodyPr wrap="square">
            <a:spAutoFit/>
          </a:bodyPr>
          <a:lstStyle/>
          <a:p>
            <a:pPr algn="ctr"/>
            <a:r>
              <a:rPr sz="1000" b="0" i="0">
                <a:solidFill>
                  <a:srgbClr val="FFFFFF"/>
                </a:solidFill>
              </a:rPr>
              <a:t>Yes</a:t>
            </a:r>
          </a:p>
        </p:txBody>
      </p:sp>
      <p:sp>
        <p:nvSpPr>
          <p:cNvPr id="57" name="Rectangle 56"/>
          <p:cNvSpPr/>
          <p:nvPr/>
        </p:nvSpPr>
        <p:spPr>
          <a:xfrm>
            <a:off x="4846320" y="2496312"/>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882896" y="2551176"/>
            <a:ext cx="1252728" cy="333756"/>
          </a:xfrm>
          <a:prstGeom prst="rect">
            <a:avLst/>
          </a:prstGeom>
          <a:noFill/>
        </p:spPr>
        <p:txBody>
          <a:bodyPr wrap="square">
            <a:spAutoFit/>
          </a:bodyPr>
          <a:lstStyle/>
          <a:p>
            <a:pPr algn="ctr"/>
            <a:r>
              <a:rPr sz="1000" b="0" i="0">
                <a:solidFill>
                  <a:srgbClr val="FFFFFF"/>
                </a:solidFill>
              </a:rPr>
              <a:t>Partial</a:t>
            </a:r>
          </a:p>
        </p:txBody>
      </p:sp>
      <p:sp>
        <p:nvSpPr>
          <p:cNvPr id="59" name="Rectangle 58"/>
          <p:cNvSpPr/>
          <p:nvPr/>
        </p:nvSpPr>
        <p:spPr>
          <a:xfrm>
            <a:off x="6208776" y="2496312"/>
            <a:ext cx="123444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2" y="2551176"/>
            <a:ext cx="1161288" cy="333756"/>
          </a:xfrm>
          <a:prstGeom prst="rect">
            <a:avLst/>
          </a:prstGeom>
          <a:noFill/>
        </p:spPr>
        <p:txBody>
          <a:bodyPr wrap="square">
            <a:spAutoFit/>
          </a:bodyPr>
          <a:lstStyle/>
          <a:p>
            <a:pPr algn="ctr"/>
            <a:r>
              <a:rPr sz="1000" b="0" i="0">
                <a:solidFill>
                  <a:srgbClr val="FF6B35"/>
                </a:solidFill>
              </a:rPr>
              <a:t>No</a:t>
            </a:r>
          </a:p>
        </p:txBody>
      </p:sp>
      <p:sp>
        <p:nvSpPr>
          <p:cNvPr id="61" name="Rectangle 60"/>
          <p:cNvSpPr/>
          <p:nvPr/>
        </p:nvSpPr>
        <p:spPr>
          <a:xfrm>
            <a:off x="7479792" y="2496312"/>
            <a:ext cx="118872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16367" y="2551176"/>
            <a:ext cx="1115568" cy="333756"/>
          </a:xfrm>
          <a:prstGeom prst="rect">
            <a:avLst/>
          </a:prstGeom>
          <a:noFill/>
        </p:spPr>
        <p:txBody>
          <a:bodyPr wrap="square">
            <a:spAutoFit/>
          </a:bodyPr>
          <a:lstStyle/>
          <a:p>
            <a:pPr algn="ctr"/>
            <a:r>
              <a:rPr sz="1000" b="0" i="0">
                <a:solidFill>
                  <a:srgbClr val="FF6B35"/>
                </a:solidFill>
              </a:rPr>
              <a:t>No</a:t>
            </a:r>
          </a:p>
        </p:txBody>
      </p:sp>
      <p:sp>
        <p:nvSpPr>
          <p:cNvPr id="63" name="Rectangle 62"/>
          <p:cNvSpPr/>
          <p:nvPr/>
        </p:nvSpPr>
        <p:spPr>
          <a:xfrm>
            <a:off x="8705088" y="2496312"/>
            <a:ext cx="1920240" cy="425196"/>
          </a:xfrm>
          <a:prstGeom prst="rect">
            <a:avLst/>
          </a:prstGeom>
          <a:solidFill>
            <a:srgbClr val="03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741663" y="2551176"/>
            <a:ext cx="1847088" cy="333756"/>
          </a:xfrm>
          <a:prstGeom prst="rect">
            <a:avLst/>
          </a:prstGeom>
          <a:noFill/>
        </p:spPr>
        <p:txBody>
          <a:bodyPr wrap="square">
            <a:spAutoFit/>
          </a:bodyPr>
          <a:lstStyle/>
          <a:p>
            <a:pPr algn="ctr"/>
            <a:r>
              <a:rPr sz="1000" b="1" i="0">
                <a:solidFill>
                  <a:srgbClr val="39FF14"/>
                </a:solidFill>
              </a:rPr>
              <a:t>Yes (DistilBERT)</a:t>
            </a:r>
          </a:p>
        </p:txBody>
      </p:sp>
      <p:sp>
        <p:nvSpPr>
          <p:cNvPr id="65" name="Rectangle 64"/>
          <p:cNvSpPr/>
          <p:nvPr/>
        </p:nvSpPr>
        <p:spPr>
          <a:xfrm>
            <a:off x="256032" y="2921508"/>
            <a:ext cx="182880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92608" y="2976372"/>
            <a:ext cx="1755648" cy="333756"/>
          </a:xfrm>
          <a:prstGeom prst="rect">
            <a:avLst/>
          </a:prstGeom>
          <a:noFill/>
        </p:spPr>
        <p:txBody>
          <a:bodyPr wrap="square">
            <a:spAutoFit/>
          </a:bodyPr>
          <a:lstStyle/>
          <a:p>
            <a:pPr algn="ctr"/>
            <a:r>
              <a:rPr sz="1000" b="0" i="0">
                <a:solidFill>
                  <a:srgbClr val="00D4FF"/>
                </a:solidFill>
              </a:rPr>
              <a:t>URL Struct. Analysis</a:t>
            </a:r>
          </a:p>
        </p:txBody>
      </p:sp>
      <p:sp>
        <p:nvSpPr>
          <p:cNvPr id="67" name="Rectangle 66"/>
          <p:cNvSpPr/>
          <p:nvPr/>
        </p:nvSpPr>
        <p:spPr>
          <a:xfrm>
            <a:off x="2121408" y="2921508"/>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157984" y="2976372"/>
            <a:ext cx="1252728" cy="333756"/>
          </a:xfrm>
          <a:prstGeom prst="rect">
            <a:avLst/>
          </a:prstGeom>
          <a:noFill/>
        </p:spPr>
        <p:txBody>
          <a:bodyPr wrap="square">
            <a:spAutoFit/>
          </a:bodyPr>
          <a:lstStyle/>
          <a:p>
            <a:pPr algn="ctr"/>
            <a:r>
              <a:rPr sz="1000" b="0" i="0">
                <a:solidFill>
                  <a:srgbClr val="FFFFFF"/>
                </a:solidFill>
              </a:rPr>
              <a:t>Yes</a:t>
            </a:r>
          </a:p>
        </p:txBody>
      </p:sp>
      <p:sp>
        <p:nvSpPr>
          <p:cNvPr id="69" name="Rectangle 68"/>
          <p:cNvSpPr/>
          <p:nvPr/>
        </p:nvSpPr>
        <p:spPr>
          <a:xfrm>
            <a:off x="3483864" y="2921508"/>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520440" y="2976372"/>
            <a:ext cx="1252728" cy="333756"/>
          </a:xfrm>
          <a:prstGeom prst="rect">
            <a:avLst/>
          </a:prstGeom>
          <a:noFill/>
        </p:spPr>
        <p:txBody>
          <a:bodyPr wrap="square">
            <a:spAutoFit/>
          </a:bodyPr>
          <a:lstStyle/>
          <a:p>
            <a:pPr algn="ctr"/>
            <a:r>
              <a:rPr sz="1000" b="0" i="0">
                <a:solidFill>
                  <a:srgbClr val="FF6B35"/>
                </a:solidFill>
              </a:rPr>
              <a:t>No</a:t>
            </a:r>
          </a:p>
        </p:txBody>
      </p:sp>
      <p:sp>
        <p:nvSpPr>
          <p:cNvPr id="71" name="Rectangle 70"/>
          <p:cNvSpPr/>
          <p:nvPr/>
        </p:nvSpPr>
        <p:spPr>
          <a:xfrm>
            <a:off x="4846320" y="2921508"/>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882896" y="2976372"/>
            <a:ext cx="1252728" cy="333756"/>
          </a:xfrm>
          <a:prstGeom prst="rect">
            <a:avLst/>
          </a:prstGeom>
          <a:noFill/>
        </p:spPr>
        <p:txBody>
          <a:bodyPr wrap="square">
            <a:spAutoFit/>
          </a:bodyPr>
          <a:lstStyle/>
          <a:p>
            <a:pPr algn="ctr"/>
            <a:r>
              <a:rPr sz="1000" b="0" i="0">
                <a:solidFill>
                  <a:srgbClr val="FFFFFF"/>
                </a:solidFill>
              </a:rPr>
              <a:t>Yes</a:t>
            </a:r>
          </a:p>
        </p:txBody>
      </p:sp>
      <p:sp>
        <p:nvSpPr>
          <p:cNvPr id="73" name="Rectangle 72"/>
          <p:cNvSpPr/>
          <p:nvPr/>
        </p:nvSpPr>
        <p:spPr>
          <a:xfrm>
            <a:off x="6208776" y="2921508"/>
            <a:ext cx="123444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45352" y="2976372"/>
            <a:ext cx="1161288" cy="333756"/>
          </a:xfrm>
          <a:prstGeom prst="rect">
            <a:avLst/>
          </a:prstGeom>
          <a:noFill/>
        </p:spPr>
        <p:txBody>
          <a:bodyPr wrap="square">
            <a:spAutoFit/>
          </a:bodyPr>
          <a:lstStyle/>
          <a:p>
            <a:pPr algn="ctr"/>
            <a:r>
              <a:rPr sz="1000" b="0" i="0">
                <a:solidFill>
                  <a:srgbClr val="FFFFFF"/>
                </a:solidFill>
              </a:rPr>
              <a:t>Yes</a:t>
            </a:r>
          </a:p>
        </p:txBody>
      </p:sp>
      <p:sp>
        <p:nvSpPr>
          <p:cNvPr id="75" name="Rectangle 74"/>
          <p:cNvSpPr/>
          <p:nvPr/>
        </p:nvSpPr>
        <p:spPr>
          <a:xfrm>
            <a:off x="7479792" y="2921508"/>
            <a:ext cx="118872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516367" y="2976372"/>
            <a:ext cx="1115568" cy="333756"/>
          </a:xfrm>
          <a:prstGeom prst="rect">
            <a:avLst/>
          </a:prstGeom>
          <a:noFill/>
        </p:spPr>
        <p:txBody>
          <a:bodyPr wrap="square">
            <a:spAutoFit/>
          </a:bodyPr>
          <a:lstStyle/>
          <a:p>
            <a:pPr algn="ctr"/>
            <a:r>
              <a:rPr sz="1000" b="0" i="0">
                <a:solidFill>
                  <a:srgbClr val="FFFFFF"/>
                </a:solidFill>
              </a:rPr>
              <a:t>Partial</a:t>
            </a:r>
          </a:p>
        </p:txBody>
      </p:sp>
      <p:sp>
        <p:nvSpPr>
          <p:cNvPr id="77" name="Rectangle 76"/>
          <p:cNvSpPr/>
          <p:nvPr/>
        </p:nvSpPr>
        <p:spPr>
          <a:xfrm>
            <a:off x="8705088" y="2921508"/>
            <a:ext cx="1920240" cy="425196"/>
          </a:xfrm>
          <a:prstGeom prst="rect">
            <a:avLst/>
          </a:prstGeom>
          <a:solidFill>
            <a:srgbClr val="03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741663" y="2976372"/>
            <a:ext cx="1847088" cy="333756"/>
          </a:xfrm>
          <a:prstGeom prst="rect">
            <a:avLst/>
          </a:prstGeom>
          <a:noFill/>
        </p:spPr>
        <p:txBody>
          <a:bodyPr wrap="square">
            <a:spAutoFit/>
          </a:bodyPr>
          <a:lstStyle/>
          <a:p>
            <a:pPr algn="ctr"/>
            <a:r>
              <a:rPr sz="1000" b="1" i="0">
                <a:solidFill>
                  <a:srgbClr val="39FF14"/>
                </a:solidFill>
              </a:rPr>
              <a:t>Yes (XGBoost)</a:t>
            </a:r>
          </a:p>
        </p:txBody>
      </p:sp>
      <p:sp>
        <p:nvSpPr>
          <p:cNvPr id="79" name="Rectangle 78"/>
          <p:cNvSpPr/>
          <p:nvPr/>
        </p:nvSpPr>
        <p:spPr>
          <a:xfrm>
            <a:off x="256032" y="3346704"/>
            <a:ext cx="182880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92608" y="3401568"/>
            <a:ext cx="1755648" cy="333756"/>
          </a:xfrm>
          <a:prstGeom prst="rect">
            <a:avLst/>
          </a:prstGeom>
          <a:noFill/>
        </p:spPr>
        <p:txBody>
          <a:bodyPr wrap="square">
            <a:spAutoFit/>
          </a:bodyPr>
          <a:lstStyle/>
          <a:p>
            <a:pPr algn="ctr"/>
            <a:r>
              <a:rPr sz="1000" b="0" i="0">
                <a:solidFill>
                  <a:srgbClr val="00D4FF"/>
                </a:solidFill>
              </a:rPr>
              <a:t>Hybrid Fusion</a:t>
            </a:r>
          </a:p>
        </p:txBody>
      </p:sp>
      <p:sp>
        <p:nvSpPr>
          <p:cNvPr id="81" name="Rectangle 80"/>
          <p:cNvSpPr/>
          <p:nvPr/>
        </p:nvSpPr>
        <p:spPr>
          <a:xfrm>
            <a:off x="2121408" y="3346704"/>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157984" y="3401568"/>
            <a:ext cx="1252728" cy="333756"/>
          </a:xfrm>
          <a:prstGeom prst="rect">
            <a:avLst/>
          </a:prstGeom>
          <a:noFill/>
        </p:spPr>
        <p:txBody>
          <a:bodyPr wrap="square">
            <a:spAutoFit/>
          </a:bodyPr>
          <a:lstStyle/>
          <a:p>
            <a:pPr algn="ctr"/>
            <a:r>
              <a:rPr sz="1000" b="0" i="0">
                <a:solidFill>
                  <a:srgbClr val="FF6B35"/>
                </a:solidFill>
              </a:rPr>
              <a:t>No</a:t>
            </a:r>
          </a:p>
        </p:txBody>
      </p:sp>
      <p:sp>
        <p:nvSpPr>
          <p:cNvPr id="83" name="Rectangle 82"/>
          <p:cNvSpPr/>
          <p:nvPr/>
        </p:nvSpPr>
        <p:spPr>
          <a:xfrm>
            <a:off x="3483864" y="3346704"/>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520440" y="3401568"/>
            <a:ext cx="1252728" cy="333756"/>
          </a:xfrm>
          <a:prstGeom prst="rect">
            <a:avLst/>
          </a:prstGeom>
          <a:noFill/>
        </p:spPr>
        <p:txBody>
          <a:bodyPr wrap="square">
            <a:spAutoFit/>
          </a:bodyPr>
          <a:lstStyle/>
          <a:p>
            <a:pPr algn="ctr"/>
            <a:r>
              <a:rPr sz="1000" b="0" i="0">
                <a:solidFill>
                  <a:srgbClr val="FF6B35"/>
                </a:solidFill>
              </a:rPr>
              <a:t>No</a:t>
            </a:r>
          </a:p>
        </p:txBody>
      </p:sp>
      <p:sp>
        <p:nvSpPr>
          <p:cNvPr id="85" name="Rectangle 84"/>
          <p:cNvSpPr/>
          <p:nvPr/>
        </p:nvSpPr>
        <p:spPr>
          <a:xfrm>
            <a:off x="4846320" y="3346704"/>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882896" y="3401568"/>
            <a:ext cx="1252728" cy="333756"/>
          </a:xfrm>
          <a:prstGeom prst="rect">
            <a:avLst/>
          </a:prstGeom>
          <a:noFill/>
        </p:spPr>
        <p:txBody>
          <a:bodyPr wrap="square">
            <a:spAutoFit/>
          </a:bodyPr>
          <a:lstStyle/>
          <a:p>
            <a:pPr algn="ctr"/>
            <a:r>
              <a:rPr sz="1000" b="0" i="0">
                <a:solidFill>
                  <a:srgbClr val="FF6B35"/>
                </a:solidFill>
              </a:rPr>
              <a:t>No</a:t>
            </a:r>
          </a:p>
        </p:txBody>
      </p:sp>
      <p:sp>
        <p:nvSpPr>
          <p:cNvPr id="87" name="Rectangle 86"/>
          <p:cNvSpPr/>
          <p:nvPr/>
        </p:nvSpPr>
        <p:spPr>
          <a:xfrm>
            <a:off x="6208776" y="3346704"/>
            <a:ext cx="123444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245352" y="3401568"/>
            <a:ext cx="1161288" cy="333756"/>
          </a:xfrm>
          <a:prstGeom prst="rect">
            <a:avLst/>
          </a:prstGeom>
          <a:noFill/>
        </p:spPr>
        <p:txBody>
          <a:bodyPr wrap="square">
            <a:spAutoFit/>
          </a:bodyPr>
          <a:lstStyle/>
          <a:p>
            <a:pPr algn="ctr"/>
            <a:r>
              <a:rPr sz="1000" b="0" i="0">
                <a:solidFill>
                  <a:srgbClr val="FF6B35"/>
                </a:solidFill>
              </a:rPr>
              <a:t>No</a:t>
            </a:r>
          </a:p>
        </p:txBody>
      </p:sp>
      <p:sp>
        <p:nvSpPr>
          <p:cNvPr id="89" name="Rectangle 88"/>
          <p:cNvSpPr/>
          <p:nvPr/>
        </p:nvSpPr>
        <p:spPr>
          <a:xfrm>
            <a:off x="7479792" y="3346704"/>
            <a:ext cx="118872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516367" y="3401568"/>
            <a:ext cx="1115568" cy="333756"/>
          </a:xfrm>
          <a:prstGeom prst="rect">
            <a:avLst/>
          </a:prstGeom>
          <a:noFill/>
        </p:spPr>
        <p:txBody>
          <a:bodyPr wrap="square">
            <a:spAutoFit/>
          </a:bodyPr>
          <a:lstStyle/>
          <a:p>
            <a:pPr algn="ctr"/>
            <a:r>
              <a:rPr sz="1000" b="0" i="0">
                <a:solidFill>
                  <a:srgbClr val="FF6B35"/>
                </a:solidFill>
              </a:rPr>
              <a:t>No</a:t>
            </a:r>
          </a:p>
        </p:txBody>
      </p:sp>
      <p:sp>
        <p:nvSpPr>
          <p:cNvPr id="91" name="Rectangle 90"/>
          <p:cNvSpPr/>
          <p:nvPr/>
        </p:nvSpPr>
        <p:spPr>
          <a:xfrm>
            <a:off x="8705088" y="3346704"/>
            <a:ext cx="1920240" cy="425196"/>
          </a:xfrm>
          <a:prstGeom prst="rect">
            <a:avLst/>
          </a:prstGeom>
          <a:solidFill>
            <a:srgbClr val="03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741663" y="3401568"/>
            <a:ext cx="1847088" cy="333756"/>
          </a:xfrm>
          <a:prstGeom prst="rect">
            <a:avLst/>
          </a:prstGeom>
          <a:noFill/>
        </p:spPr>
        <p:txBody>
          <a:bodyPr wrap="square">
            <a:spAutoFit/>
          </a:bodyPr>
          <a:lstStyle/>
          <a:p>
            <a:pPr algn="ctr"/>
            <a:r>
              <a:rPr sz="1000" b="1" i="0">
                <a:solidFill>
                  <a:srgbClr val="39FF14"/>
                </a:solidFill>
              </a:rPr>
              <a:t>Yes</a:t>
            </a:r>
          </a:p>
        </p:txBody>
      </p:sp>
      <p:sp>
        <p:nvSpPr>
          <p:cNvPr id="93" name="Rectangle 92"/>
          <p:cNvSpPr/>
          <p:nvPr/>
        </p:nvSpPr>
        <p:spPr>
          <a:xfrm>
            <a:off x="256032" y="3771900"/>
            <a:ext cx="182880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92608" y="3826763"/>
            <a:ext cx="1755648" cy="333756"/>
          </a:xfrm>
          <a:prstGeom prst="rect">
            <a:avLst/>
          </a:prstGeom>
          <a:noFill/>
        </p:spPr>
        <p:txBody>
          <a:bodyPr wrap="square">
            <a:spAutoFit/>
          </a:bodyPr>
          <a:lstStyle/>
          <a:p>
            <a:pPr algn="ctr"/>
            <a:r>
              <a:rPr sz="1000" b="0" i="0">
                <a:solidFill>
                  <a:srgbClr val="00D4FF"/>
                </a:solidFill>
              </a:rPr>
              <a:t>Feature Engineering</a:t>
            </a:r>
          </a:p>
        </p:txBody>
      </p:sp>
      <p:sp>
        <p:nvSpPr>
          <p:cNvPr id="95" name="Rectangle 94"/>
          <p:cNvSpPr/>
          <p:nvPr/>
        </p:nvSpPr>
        <p:spPr>
          <a:xfrm>
            <a:off x="2121408" y="3771900"/>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157984" y="3826763"/>
            <a:ext cx="1252728" cy="333756"/>
          </a:xfrm>
          <a:prstGeom prst="rect">
            <a:avLst/>
          </a:prstGeom>
          <a:noFill/>
        </p:spPr>
        <p:txBody>
          <a:bodyPr wrap="square">
            <a:spAutoFit/>
          </a:bodyPr>
          <a:lstStyle/>
          <a:p>
            <a:pPr algn="ctr"/>
            <a:r>
              <a:rPr sz="1000" b="0" i="0">
                <a:solidFill>
                  <a:srgbClr val="FF6B35"/>
                </a:solidFill>
              </a:rPr>
              <a:t>Heavy</a:t>
            </a:r>
          </a:p>
        </p:txBody>
      </p:sp>
      <p:sp>
        <p:nvSpPr>
          <p:cNvPr id="97" name="Rectangle 96"/>
          <p:cNvSpPr/>
          <p:nvPr/>
        </p:nvSpPr>
        <p:spPr>
          <a:xfrm>
            <a:off x="3483864" y="3771900"/>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520440" y="3826763"/>
            <a:ext cx="1252728" cy="333756"/>
          </a:xfrm>
          <a:prstGeom prst="rect">
            <a:avLst/>
          </a:prstGeom>
          <a:noFill/>
        </p:spPr>
        <p:txBody>
          <a:bodyPr wrap="square">
            <a:spAutoFit/>
          </a:bodyPr>
          <a:lstStyle/>
          <a:p>
            <a:pPr algn="ctr"/>
            <a:r>
              <a:rPr sz="1000" b="0" i="0">
                <a:solidFill>
                  <a:srgbClr val="FF6B35"/>
                </a:solidFill>
              </a:rPr>
              <a:t>Moderate</a:t>
            </a:r>
          </a:p>
        </p:txBody>
      </p:sp>
      <p:sp>
        <p:nvSpPr>
          <p:cNvPr id="99" name="Rectangle 98"/>
          <p:cNvSpPr/>
          <p:nvPr/>
        </p:nvSpPr>
        <p:spPr>
          <a:xfrm>
            <a:off x="4846320" y="3771900"/>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882896" y="3826763"/>
            <a:ext cx="1252728" cy="333756"/>
          </a:xfrm>
          <a:prstGeom prst="rect">
            <a:avLst/>
          </a:prstGeom>
          <a:noFill/>
        </p:spPr>
        <p:txBody>
          <a:bodyPr wrap="square">
            <a:spAutoFit/>
          </a:bodyPr>
          <a:lstStyle/>
          <a:p>
            <a:pPr algn="ctr"/>
            <a:r>
              <a:rPr sz="1000" b="0" i="0">
                <a:solidFill>
                  <a:srgbClr val="FF6B35"/>
                </a:solidFill>
              </a:rPr>
              <a:t>Moderate</a:t>
            </a:r>
          </a:p>
        </p:txBody>
      </p:sp>
      <p:sp>
        <p:nvSpPr>
          <p:cNvPr id="101" name="Rectangle 100"/>
          <p:cNvSpPr/>
          <p:nvPr/>
        </p:nvSpPr>
        <p:spPr>
          <a:xfrm>
            <a:off x="6208776" y="3771900"/>
            <a:ext cx="123444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245352" y="3826763"/>
            <a:ext cx="1161288" cy="333756"/>
          </a:xfrm>
          <a:prstGeom prst="rect">
            <a:avLst/>
          </a:prstGeom>
          <a:noFill/>
        </p:spPr>
        <p:txBody>
          <a:bodyPr wrap="square">
            <a:spAutoFit/>
          </a:bodyPr>
          <a:lstStyle/>
          <a:p>
            <a:pPr algn="ctr"/>
            <a:r>
              <a:rPr sz="1000" b="0" i="0">
                <a:solidFill>
                  <a:srgbClr val="FF6B35"/>
                </a:solidFill>
              </a:rPr>
              <a:t>Heavy</a:t>
            </a:r>
          </a:p>
        </p:txBody>
      </p:sp>
      <p:sp>
        <p:nvSpPr>
          <p:cNvPr id="103" name="Rectangle 102"/>
          <p:cNvSpPr/>
          <p:nvPr/>
        </p:nvSpPr>
        <p:spPr>
          <a:xfrm>
            <a:off x="7479792" y="3771900"/>
            <a:ext cx="118872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516367" y="3826763"/>
            <a:ext cx="1115568" cy="333756"/>
          </a:xfrm>
          <a:prstGeom prst="rect">
            <a:avLst/>
          </a:prstGeom>
          <a:noFill/>
        </p:spPr>
        <p:txBody>
          <a:bodyPr wrap="square">
            <a:spAutoFit/>
          </a:bodyPr>
          <a:lstStyle/>
          <a:p>
            <a:pPr algn="ctr"/>
            <a:r>
              <a:rPr sz="1000" b="0" i="0">
                <a:solidFill>
                  <a:srgbClr val="FFFFFF"/>
                </a:solidFill>
              </a:rPr>
              <a:t>Auto</a:t>
            </a:r>
          </a:p>
        </p:txBody>
      </p:sp>
      <p:sp>
        <p:nvSpPr>
          <p:cNvPr id="105" name="Rectangle 104"/>
          <p:cNvSpPr/>
          <p:nvPr/>
        </p:nvSpPr>
        <p:spPr>
          <a:xfrm>
            <a:off x="8705088" y="3771900"/>
            <a:ext cx="1920240" cy="425196"/>
          </a:xfrm>
          <a:prstGeom prst="rect">
            <a:avLst/>
          </a:prstGeom>
          <a:solidFill>
            <a:srgbClr val="03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741663" y="3826763"/>
            <a:ext cx="1847088" cy="333756"/>
          </a:xfrm>
          <a:prstGeom prst="rect">
            <a:avLst/>
          </a:prstGeom>
          <a:noFill/>
        </p:spPr>
        <p:txBody>
          <a:bodyPr wrap="square">
            <a:spAutoFit/>
          </a:bodyPr>
          <a:lstStyle/>
          <a:p>
            <a:pPr algn="ctr"/>
            <a:r>
              <a:rPr sz="1000" b="1" i="0">
                <a:solidFill>
                  <a:srgbClr val="39FF14"/>
                </a:solidFill>
              </a:rPr>
              <a:t>Minimal</a:t>
            </a:r>
          </a:p>
        </p:txBody>
      </p:sp>
      <p:sp>
        <p:nvSpPr>
          <p:cNvPr id="107" name="Rectangle 106"/>
          <p:cNvSpPr/>
          <p:nvPr/>
        </p:nvSpPr>
        <p:spPr>
          <a:xfrm>
            <a:off x="256032" y="4197096"/>
            <a:ext cx="182880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92608" y="4251959"/>
            <a:ext cx="1755648" cy="333756"/>
          </a:xfrm>
          <a:prstGeom prst="rect">
            <a:avLst/>
          </a:prstGeom>
          <a:noFill/>
        </p:spPr>
        <p:txBody>
          <a:bodyPr wrap="square">
            <a:spAutoFit/>
          </a:bodyPr>
          <a:lstStyle/>
          <a:p>
            <a:pPr algn="ctr"/>
            <a:r>
              <a:rPr sz="1000" b="0" i="0">
                <a:solidFill>
                  <a:srgbClr val="00D4FF"/>
                </a:solidFill>
              </a:rPr>
              <a:t>Real-Time Capable</a:t>
            </a:r>
          </a:p>
        </p:txBody>
      </p:sp>
      <p:sp>
        <p:nvSpPr>
          <p:cNvPr id="109" name="Rectangle 108"/>
          <p:cNvSpPr/>
          <p:nvPr/>
        </p:nvSpPr>
        <p:spPr>
          <a:xfrm>
            <a:off x="2121408" y="4197096"/>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157984" y="4251959"/>
            <a:ext cx="1252728" cy="333756"/>
          </a:xfrm>
          <a:prstGeom prst="rect">
            <a:avLst/>
          </a:prstGeom>
          <a:noFill/>
        </p:spPr>
        <p:txBody>
          <a:bodyPr wrap="square">
            <a:spAutoFit/>
          </a:bodyPr>
          <a:lstStyle/>
          <a:p>
            <a:pPr algn="ctr"/>
            <a:r>
              <a:rPr sz="1000" b="0" i="0">
                <a:solidFill>
                  <a:srgbClr val="FFFFFF"/>
                </a:solidFill>
              </a:rPr>
              <a:t>Yes</a:t>
            </a:r>
          </a:p>
        </p:txBody>
      </p:sp>
      <p:sp>
        <p:nvSpPr>
          <p:cNvPr id="111" name="Rectangle 110"/>
          <p:cNvSpPr/>
          <p:nvPr/>
        </p:nvSpPr>
        <p:spPr>
          <a:xfrm>
            <a:off x="3483864" y="4197096"/>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3520440" y="4251959"/>
            <a:ext cx="1252728" cy="333756"/>
          </a:xfrm>
          <a:prstGeom prst="rect">
            <a:avLst/>
          </a:prstGeom>
          <a:noFill/>
        </p:spPr>
        <p:txBody>
          <a:bodyPr wrap="square">
            <a:spAutoFit/>
          </a:bodyPr>
          <a:lstStyle/>
          <a:p>
            <a:pPr algn="ctr"/>
            <a:r>
              <a:rPr sz="1000" b="0" i="0">
                <a:solidFill>
                  <a:srgbClr val="FFFFFF"/>
                </a:solidFill>
              </a:rPr>
              <a:t>Partial</a:t>
            </a:r>
          </a:p>
        </p:txBody>
      </p:sp>
      <p:sp>
        <p:nvSpPr>
          <p:cNvPr id="113" name="Rectangle 112"/>
          <p:cNvSpPr/>
          <p:nvPr/>
        </p:nvSpPr>
        <p:spPr>
          <a:xfrm>
            <a:off x="4846320" y="4197096"/>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882896" y="4251959"/>
            <a:ext cx="1252728" cy="333756"/>
          </a:xfrm>
          <a:prstGeom prst="rect">
            <a:avLst/>
          </a:prstGeom>
          <a:noFill/>
        </p:spPr>
        <p:txBody>
          <a:bodyPr wrap="square">
            <a:spAutoFit/>
          </a:bodyPr>
          <a:lstStyle/>
          <a:p>
            <a:pPr algn="ctr"/>
            <a:r>
              <a:rPr sz="1000" b="0" i="0">
                <a:solidFill>
                  <a:srgbClr val="FF6B35"/>
                </a:solidFill>
              </a:rPr>
              <a:t>No</a:t>
            </a:r>
          </a:p>
        </p:txBody>
      </p:sp>
      <p:sp>
        <p:nvSpPr>
          <p:cNvPr id="115" name="Rectangle 114"/>
          <p:cNvSpPr/>
          <p:nvPr/>
        </p:nvSpPr>
        <p:spPr>
          <a:xfrm>
            <a:off x="6208776" y="4197096"/>
            <a:ext cx="123444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245352" y="4251959"/>
            <a:ext cx="1161288" cy="333756"/>
          </a:xfrm>
          <a:prstGeom prst="rect">
            <a:avLst/>
          </a:prstGeom>
          <a:noFill/>
        </p:spPr>
        <p:txBody>
          <a:bodyPr wrap="square">
            <a:spAutoFit/>
          </a:bodyPr>
          <a:lstStyle/>
          <a:p>
            <a:pPr algn="ctr"/>
            <a:r>
              <a:rPr sz="1000" b="0" i="0">
                <a:solidFill>
                  <a:srgbClr val="FFFFFF"/>
                </a:solidFill>
              </a:rPr>
              <a:t>Yes</a:t>
            </a:r>
          </a:p>
        </p:txBody>
      </p:sp>
      <p:sp>
        <p:nvSpPr>
          <p:cNvPr id="117" name="Rectangle 116"/>
          <p:cNvSpPr/>
          <p:nvPr/>
        </p:nvSpPr>
        <p:spPr>
          <a:xfrm>
            <a:off x="7479792" y="4197096"/>
            <a:ext cx="118872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516367" y="4251959"/>
            <a:ext cx="1115568" cy="333756"/>
          </a:xfrm>
          <a:prstGeom prst="rect">
            <a:avLst/>
          </a:prstGeom>
          <a:noFill/>
        </p:spPr>
        <p:txBody>
          <a:bodyPr wrap="square">
            <a:spAutoFit/>
          </a:bodyPr>
          <a:lstStyle/>
          <a:p>
            <a:pPr algn="ctr"/>
            <a:r>
              <a:rPr sz="1000" b="0" i="0">
                <a:solidFill>
                  <a:srgbClr val="FFFFFF"/>
                </a:solidFill>
              </a:rPr>
              <a:t>Partial</a:t>
            </a:r>
          </a:p>
        </p:txBody>
      </p:sp>
      <p:sp>
        <p:nvSpPr>
          <p:cNvPr id="119" name="Rectangle 118"/>
          <p:cNvSpPr/>
          <p:nvPr/>
        </p:nvSpPr>
        <p:spPr>
          <a:xfrm>
            <a:off x="8705088" y="4197096"/>
            <a:ext cx="1920240" cy="425196"/>
          </a:xfrm>
          <a:prstGeom prst="rect">
            <a:avLst/>
          </a:prstGeom>
          <a:solidFill>
            <a:srgbClr val="03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741663" y="4251959"/>
            <a:ext cx="1847088" cy="333756"/>
          </a:xfrm>
          <a:prstGeom prst="rect">
            <a:avLst/>
          </a:prstGeom>
          <a:noFill/>
        </p:spPr>
        <p:txBody>
          <a:bodyPr wrap="square">
            <a:spAutoFit/>
          </a:bodyPr>
          <a:lstStyle/>
          <a:p>
            <a:pPr algn="ctr"/>
            <a:r>
              <a:rPr sz="1000" b="1" i="0">
                <a:solidFill>
                  <a:srgbClr val="39FF14"/>
                </a:solidFill>
              </a:rPr>
              <a:t>Yes</a:t>
            </a:r>
          </a:p>
        </p:txBody>
      </p:sp>
      <p:sp>
        <p:nvSpPr>
          <p:cNvPr id="121" name="Rectangle 120"/>
          <p:cNvSpPr/>
          <p:nvPr/>
        </p:nvSpPr>
        <p:spPr>
          <a:xfrm>
            <a:off x="256032" y="4622292"/>
            <a:ext cx="182880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92608" y="4677155"/>
            <a:ext cx="1755648" cy="333756"/>
          </a:xfrm>
          <a:prstGeom prst="rect">
            <a:avLst/>
          </a:prstGeom>
          <a:noFill/>
        </p:spPr>
        <p:txBody>
          <a:bodyPr wrap="square">
            <a:spAutoFit/>
          </a:bodyPr>
          <a:lstStyle/>
          <a:p>
            <a:pPr algn="ctr"/>
            <a:r>
              <a:rPr sz="1000" b="0" i="0">
                <a:solidFill>
                  <a:srgbClr val="00D4FF"/>
                </a:solidFill>
              </a:rPr>
              <a:t>False Positive Rate</a:t>
            </a:r>
          </a:p>
        </p:txBody>
      </p:sp>
      <p:sp>
        <p:nvSpPr>
          <p:cNvPr id="123" name="Rectangle 122"/>
          <p:cNvSpPr/>
          <p:nvPr/>
        </p:nvSpPr>
        <p:spPr>
          <a:xfrm>
            <a:off x="2121408" y="4622292"/>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157984" y="4677155"/>
            <a:ext cx="1252728" cy="333756"/>
          </a:xfrm>
          <a:prstGeom prst="rect">
            <a:avLst/>
          </a:prstGeom>
          <a:noFill/>
        </p:spPr>
        <p:txBody>
          <a:bodyPr wrap="square">
            <a:spAutoFit/>
          </a:bodyPr>
          <a:lstStyle/>
          <a:p>
            <a:pPr algn="ctr"/>
            <a:r>
              <a:rPr sz="1000" b="0" i="0">
                <a:solidFill>
                  <a:srgbClr val="FF6B35"/>
                </a:solidFill>
              </a:rPr>
              <a:t>Moderate</a:t>
            </a:r>
          </a:p>
        </p:txBody>
      </p:sp>
      <p:sp>
        <p:nvSpPr>
          <p:cNvPr id="125" name="Rectangle 124"/>
          <p:cNvSpPr/>
          <p:nvPr/>
        </p:nvSpPr>
        <p:spPr>
          <a:xfrm>
            <a:off x="3483864" y="4622292"/>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520440" y="4677155"/>
            <a:ext cx="1252728" cy="333756"/>
          </a:xfrm>
          <a:prstGeom prst="rect">
            <a:avLst/>
          </a:prstGeom>
          <a:noFill/>
        </p:spPr>
        <p:txBody>
          <a:bodyPr wrap="square">
            <a:spAutoFit/>
          </a:bodyPr>
          <a:lstStyle/>
          <a:p>
            <a:pPr algn="ctr"/>
            <a:r>
              <a:rPr sz="1000" b="0" i="0">
                <a:solidFill>
                  <a:srgbClr val="FFFFFF"/>
                </a:solidFill>
              </a:rPr>
              <a:t>Low</a:t>
            </a:r>
          </a:p>
        </p:txBody>
      </p:sp>
      <p:sp>
        <p:nvSpPr>
          <p:cNvPr id="127" name="Rectangle 126"/>
          <p:cNvSpPr/>
          <p:nvPr/>
        </p:nvSpPr>
        <p:spPr>
          <a:xfrm>
            <a:off x="4846320" y="4622292"/>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882896" y="4677155"/>
            <a:ext cx="1252728" cy="333756"/>
          </a:xfrm>
          <a:prstGeom prst="rect">
            <a:avLst/>
          </a:prstGeom>
          <a:noFill/>
        </p:spPr>
        <p:txBody>
          <a:bodyPr wrap="square">
            <a:spAutoFit/>
          </a:bodyPr>
          <a:lstStyle/>
          <a:p>
            <a:pPr algn="ctr"/>
            <a:r>
              <a:rPr sz="1000" b="0" i="0">
                <a:solidFill>
                  <a:srgbClr val="FF6B35"/>
                </a:solidFill>
              </a:rPr>
              <a:t>Moderate</a:t>
            </a:r>
          </a:p>
        </p:txBody>
      </p:sp>
      <p:sp>
        <p:nvSpPr>
          <p:cNvPr id="129" name="Rectangle 128"/>
          <p:cNvSpPr/>
          <p:nvPr/>
        </p:nvSpPr>
        <p:spPr>
          <a:xfrm>
            <a:off x="6208776" y="4622292"/>
            <a:ext cx="123444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245352" y="4677155"/>
            <a:ext cx="1161288" cy="333756"/>
          </a:xfrm>
          <a:prstGeom prst="rect">
            <a:avLst/>
          </a:prstGeom>
          <a:noFill/>
        </p:spPr>
        <p:txBody>
          <a:bodyPr wrap="square">
            <a:spAutoFit/>
          </a:bodyPr>
          <a:lstStyle/>
          <a:p>
            <a:pPr algn="ctr"/>
            <a:r>
              <a:rPr sz="1000" b="0" i="0">
                <a:solidFill>
                  <a:srgbClr val="FF6B35"/>
                </a:solidFill>
              </a:rPr>
              <a:t>High</a:t>
            </a:r>
          </a:p>
        </p:txBody>
      </p:sp>
      <p:sp>
        <p:nvSpPr>
          <p:cNvPr id="131" name="Rectangle 130"/>
          <p:cNvSpPr/>
          <p:nvPr/>
        </p:nvSpPr>
        <p:spPr>
          <a:xfrm>
            <a:off x="7479792" y="4622292"/>
            <a:ext cx="118872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516367" y="4677155"/>
            <a:ext cx="1115568" cy="333756"/>
          </a:xfrm>
          <a:prstGeom prst="rect">
            <a:avLst/>
          </a:prstGeom>
          <a:noFill/>
        </p:spPr>
        <p:txBody>
          <a:bodyPr wrap="square">
            <a:spAutoFit/>
          </a:bodyPr>
          <a:lstStyle/>
          <a:p>
            <a:pPr algn="ctr"/>
            <a:r>
              <a:rPr sz="1000" b="0" i="0">
                <a:solidFill>
                  <a:srgbClr val="FF6B35"/>
                </a:solidFill>
              </a:rPr>
              <a:t>Moderate</a:t>
            </a:r>
          </a:p>
        </p:txBody>
      </p:sp>
      <p:sp>
        <p:nvSpPr>
          <p:cNvPr id="133" name="Rectangle 132"/>
          <p:cNvSpPr/>
          <p:nvPr/>
        </p:nvSpPr>
        <p:spPr>
          <a:xfrm>
            <a:off x="8705088" y="4622292"/>
            <a:ext cx="1920240" cy="425196"/>
          </a:xfrm>
          <a:prstGeom prst="rect">
            <a:avLst/>
          </a:prstGeom>
          <a:solidFill>
            <a:srgbClr val="03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741663" y="4677155"/>
            <a:ext cx="1847088" cy="333756"/>
          </a:xfrm>
          <a:prstGeom prst="rect">
            <a:avLst/>
          </a:prstGeom>
          <a:noFill/>
        </p:spPr>
        <p:txBody>
          <a:bodyPr wrap="square">
            <a:spAutoFit/>
          </a:bodyPr>
          <a:lstStyle/>
          <a:p>
            <a:pPr algn="ctr"/>
            <a:r>
              <a:rPr sz="1000" b="1" i="0">
                <a:solidFill>
                  <a:srgbClr val="39FF14"/>
                </a:solidFill>
              </a:rPr>
              <a:t>Lowest</a:t>
            </a:r>
          </a:p>
        </p:txBody>
      </p:sp>
      <p:sp>
        <p:nvSpPr>
          <p:cNvPr id="135" name="Rectangle 134"/>
          <p:cNvSpPr/>
          <p:nvPr/>
        </p:nvSpPr>
        <p:spPr>
          <a:xfrm>
            <a:off x="256032" y="5047488"/>
            <a:ext cx="182880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92608" y="5102351"/>
            <a:ext cx="1755648" cy="333756"/>
          </a:xfrm>
          <a:prstGeom prst="rect">
            <a:avLst/>
          </a:prstGeom>
          <a:noFill/>
        </p:spPr>
        <p:txBody>
          <a:bodyPr wrap="square">
            <a:spAutoFit/>
          </a:bodyPr>
          <a:lstStyle/>
          <a:p>
            <a:pPr algn="ctr"/>
            <a:r>
              <a:rPr sz="1000" b="0" i="0">
                <a:solidFill>
                  <a:srgbClr val="00D4FF"/>
                </a:solidFill>
              </a:rPr>
              <a:t>F1-Score</a:t>
            </a:r>
          </a:p>
        </p:txBody>
      </p:sp>
      <p:sp>
        <p:nvSpPr>
          <p:cNvPr id="137" name="Rectangle 136"/>
          <p:cNvSpPr/>
          <p:nvPr/>
        </p:nvSpPr>
        <p:spPr>
          <a:xfrm>
            <a:off x="2121408" y="5047488"/>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157984" y="5102351"/>
            <a:ext cx="1252728" cy="333756"/>
          </a:xfrm>
          <a:prstGeom prst="rect">
            <a:avLst/>
          </a:prstGeom>
          <a:noFill/>
        </p:spPr>
        <p:txBody>
          <a:bodyPr wrap="square">
            <a:spAutoFit/>
          </a:bodyPr>
          <a:lstStyle/>
          <a:p>
            <a:pPr algn="ctr"/>
            <a:r>
              <a:rPr sz="1000" b="0" i="0">
                <a:solidFill>
                  <a:srgbClr val="FFFFFF"/>
                </a:solidFill>
              </a:rPr>
              <a:t>~0.97</a:t>
            </a:r>
          </a:p>
        </p:txBody>
      </p:sp>
      <p:sp>
        <p:nvSpPr>
          <p:cNvPr id="139" name="Rectangle 138"/>
          <p:cNvSpPr/>
          <p:nvPr/>
        </p:nvSpPr>
        <p:spPr>
          <a:xfrm>
            <a:off x="3483864" y="5047488"/>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520440" y="5102351"/>
            <a:ext cx="1252728" cy="333756"/>
          </a:xfrm>
          <a:prstGeom prst="rect">
            <a:avLst/>
          </a:prstGeom>
          <a:noFill/>
        </p:spPr>
        <p:txBody>
          <a:bodyPr wrap="square">
            <a:spAutoFit/>
          </a:bodyPr>
          <a:lstStyle/>
          <a:p>
            <a:pPr algn="ctr"/>
            <a:r>
              <a:rPr sz="1000" b="0" i="0">
                <a:solidFill>
                  <a:srgbClr val="FFFFFF"/>
                </a:solidFill>
              </a:rPr>
              <a:t>~0.94</a:t>
            </a:r>
          </a:p>
        </p:txBody>
      </p:sp>
      <p:sp>
        <p:nvSpPr>
          <p:cNvPr id="141" name="Rectangle 140"/>
          <p:cNvSpPr/>
          <p:nvPr/>
        </p:nvSpPr>
        <p:spPr>
          <a:xfrm>
            <a:off x="4846320" y="5047488"/>
            <a:ext cx="132588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882896" y="5102351"/>
            <a:ext cx="1252728" cy="333756"/>
          </a:xfrm>
          <a:prstGeom prst="rect">
            <a:avLst/>
          </a:prstGeom>
          <a:noFill/>
        </p:spPr>
        <p:txBody>
          <a:bodyPr wrap="square">
            <a:spAutoFit/>
          </a:bodyPr>
          <a:lstStyle/>
          <a:p>
            <a:pPr algn="ctr"/>
            <a:r>
              <a:rPr sz="1000" b="0" i="0">
                <a:solidFill>
                  <a:srgbClr val="FFFFFF"/>
                </a:solidFill>
              </a:rPr>
              <a:t>~0.92</a:t>
            </a:r>
          </a:p>
        </p:txBody>
      </p:sp>
      <p:sp>
        <p:nvSpPr>
          <p:cNvPr id="143" name="Rectangle 142"/>
          <p:cNvSpPr/>
          <p:nvPr/>
        </p:nvSpPr>
        <p:spPr>
          <a:xfrm>
            <a:off x="6208776" y="5047488"/>
            <a:ext cx="123444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6245352" y="5102351"/>
            <a:ext cx="1161288" cy="333756"/>
          </a:xfrm>
          <a:prstGeom prst="rect">
            <a:avLst/>
          </a:prstGeom>
          <a:noFill/>
        </p:spPr>
        <p:txBody>
          <a:bodyPr wrap="square">
            <a:spAutoFit/>
          </a:bodyPr>
          <a:lstStyle/>
          <a:p>
            <a:pPr algn="ctr"/>
            <a:r>
              <a:rPr sz="1000" b="0" i="0">
                <a:solidFill>
                  <a:srgbClr val="FFFFFF"/>
                </a:solidFill>
              </a:rPr>
              <a:t>~0.89</a:t>
            </a:r>
          </a:p>
        </p:txBody>
      </p:sp>
      <p:sp>
        <p:nvSpPr>
          <p:cNvPr id="145" name="Rectangle 144"/>
          <p:cNvSpPr/>
          <p:nvPr/>
        </p:nvSpPr>
        <p:spPr>
          <a:xfrm>
            <a:off x="7479792" y="5047488"/>
            <a:ext cx="1188720" cy="425196"/>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516367" y="5102351"/>
            <a:ext cx="1115568" cy="333756"/>
          </a:xfrm>
          <a:prstGeom prst="rect">
            <a:avLst/>
          </a:prstGeom>
          <a:noFill/>
        </p:spPr>
        <p:txBody>
          <a:bodyPr wrap="square">
            <a:spAutoFit/>
          </a:bodyPr>
          <a:lstStyle/>
          <a:p>
            <a:pPr algn="ctr"/>
            <a:r>
              <a:rPr sz="1000" b="0" i="0">
                <a:solidFill>
                  <a:srgbClr val="FFFFFF"/>
                </a:solidFill>
              </a:rPr>
              <a:t>~0.91</a:t>
            </a:r>
          </a:p>
        </p:txBody>
      </p:sp>
      <p:sp>
        <p:nvSpPr>
          <p:cNvPr id="147" name="Rectangle 146"/>
          <p:cNvSpPr/>
          <p:nvPr/>
        </p:nvSpPr>
        <p:spPr>
          <a:xfrm>
            <a:off x="8705088" y="5047488"/>
            <a:ext cx="1920240" cy="425196"/>
          </a:xfrm>
          <a:prstGeom prst="rect">
            <a:avLst/>
          </a:prstGeom>
          <a:solidFill>
            <a:srgbClr val="03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8741663" y="5102351"/>
            <a:ext cx="1847088" cy="333756"/>
          </a:xfrm>
          <a:prstGeom prst="rect">
            <a:avLst/>
          </a:prstGeom>
          <a:noFill/>
        </p:spPr>
        <p:txBody>
          <a:bodyPr wrap="square">
            <a:spAutoFit/>
          </a:bodyPr>
          <a:lstStyle/>
          <a:p>
            <a:pPr algn="ctr"/>
            <a:r>
              <a:rPr sz="1000" b="1" i="0">
                <a:solidFill>
                  <a:srgbClr val="39FF14"/>
                </a:solidFill>
              </a:rPr>
              <a:t>0.96</a:t>
            </a:r>
          </a:p>
        </p:txBody>
      </p:sp>
      <p:sp>
        <p:nvSpPr>
          <p:cNvPr id="149" name="Rectangle 148"/>
          <p:cNvSpPr/>
          <p:nvPr/>
        </p:nvSpPr>
        <p:spPr>
          <a:xfrm>
            <a:off x="256032" y="5472684"/>
            <a:ext cx="182880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292608" y="5527548"/>
            <a:ext cx="1755648" cy="333756"/>
          </a:xfrm>
          <a:prstGeom prst="rect">
            <a:avLst/>
          </a:prstGeom>
          <a:noFill/>
        </p:spPr>
        <p:txBody>
          <a:bodyPr wrap="square">
            <a:spAutoFit/>
          </a:bodyPr>
          <a:lstStyle/>
          <a:p>
            <a:pPr algn="ctr"/>
            <a:r>
              <a:rPr sz="1000" b="0" i="0">
                <a:solidFill>
                  <a:srgbClr val="00D4FF"/>
                </a:solidFill>
              </a:rPr>
              <a:t>Deployment Ready</a:t>
            </a:r>
          </a:p>
        </p:txBody>
      </p:sp>
      <p:sp>
        <p:nvSpPr>
          <p:cNvPr id="151" name="Rectangle 150"/>
          <p:cNvSpPr/>
          <p:nvPr/>
        </p:nvSpPr>
        <p:spPr>
          <a:xfrm>
            <a:off x="2121408" y="5472684"/>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2157984" y="5527548"/>
            <a:ext cx="1252728" cy="333756"/>
          </a:xfrm>
          <a:prstGeom prst="rect">
            <a:avLst/>
          </a:prstGeom>
          <a:noFill/>
        </p:spPr>
        <p:txBody>
          <a:bodyPr wrap="square">
            <a:spAutoFit/>
          </a:bodyPr>
          <a:lstStyle/>
          <a:p>
            <a:pPr algn="ctr"/>
            <a:r>
              <a:rPr sz="1000" b="0" i="0">
                <a:solidFill>
                  <a:srgbClr val="FFFFFF"/>
                </a:solidFill>
              </a:rPr>
              <a:t>Partial</a:t>
            </a:r>
          </a:p>
        </p:txBody>
      </p:sp>
      <p:sp>
        <p:nvSpPr>
          <p:cNvPr id="153" name="Rectangle 152"/>
          <p:cNvSpPr/>
          <p:nvPr/>
        </p:nvSpPr>
        <p:spPr>
          <a:xfrm>
            <a:off x="3483864" y="5472684"/>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3520440" y="5527548"/>
            <a:ext cx="1252728" cy="333756"/>
          </a:xfrm>
          <a:prstGeom prst="rect">
            <a:avLst/>
          </a:prstGeom>
          <a:noFill/>
        </p:spPr>
        <p:txBody>
          <a:bodyPr wrap="square">
            <a:spAutoFit/>
          </a:bodyPr>
          <a:lstStyle/>
          <a:p>
            <a:pPr algn="ctr"/>
            <a:r>
              <a:rPr sz="1000" b="0" i="0">
                <a:solidFill>
                  <a:srgbClr val="FF6B35"/>
                </a:solidFill>
              </a:rPr>
              <a:t>No</a:t>
            </a:r>
          </a:p>
        </p:txBody>
      </p:sp>
      <p:sp>
        <p:nvSpPr>
          <p:cNvPr id="155" name="Rectangle 154"/>
          <p:cNvSpPr/>
          <p:nvPr/>
        </p:nvSpPr>
        <p:spPr>
          <a:xfrm>
            <a:off x="4846320" y="5472684"/>
            <a:ext cx="132588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882896" y="5527548"/>
            <a:ext cx="1252728" cy="333756"/>
          </a:xfrm>
          <a:prstGeom prst="rect">
            <a:avLst/>
          </a:prstGeom>
          <a:noFill/>
        </p:spPr>
        <p:txBody>
          <a:bodyPr wrap="square">
            <a:spAutoFit/>
          </a:bodyPr>
          <a:lstStyle/>
          <a:p>
            <a:pPr algn="ctr"/>
            <a:r>
              <a:rPr sz="1000" b="0" i="0">
                <a:solidFill>
                  <a:srgbClr val="FF6B35"/>
                </a:solidFill>
              </a:rPr>
              <a:t>No</a:t>
            </a:r>
          </a:p>
        </p:txBody>
      </p:sp>
      <p:sp>
        <p:nvSpPr>
          <p:cNvPr id="157" name="Rectangle 156"/>
          <p:cNvSpPr/>
          <p:nvPr/>
        </p:nvSpPr>
        <p:spPr>
          <a:xfrm>
            <a:off x="6208776" y="5472684"/>
            <a:ext cx="123444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245352" y="5527548"/>
            <a:ext cx="1161288" cy="333756"/>
          </a:xfrm>
          <a:prstGeom prst="rect">
            <a:avLst/>
          </a:prstGeom>
          <a:noFill/>
        </p:spPr>
        <p:txBody>
          <a:bodyPr wrap="square">
            <a:spAutoFit/>
          </a:bodyPr>
          <a:lstStyle/>
          <a:p>
            <a:pPr algn="ctr"/>
            <a:r>
              <a:rPr sz="1000" b="0" i="0">
                <a:solidFill>
                  <a:srgbClr val="FFFFFF"/>
                </a:solidFill>
              </a:rPr>
              <a:t>Yes</a:t>
            </a:r>
          </a:p>
        </p:txBody>
      </p:sp>
      <p:sp>
        <p:nvSpPr>
          <p:cNvPr id="159" name="Rectangle 158"/>
          <p:cNvSpPr/>
          <p:nvPr/>
        </p:nvSpPr>
        <p:spPr>
          <a:xfrm>
            <a:off x="7479792" y="5472684"/>
            <a:ext cx="1188720" cy="425196"/>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7516367" y="5527548"/>
            <a:ext cx="1115568" cy="333756"/>
          </a:xfrm>
          <a:prstGeom prst="rect">
            <a:avLst/>
          </a:prstGeom>
          <a:noFill/>
        </p:spPr>
        <p:txBody>
          <a:bodyPr wrap="square">
            <a:spAutoFit/>
          </a:bodyPr>
          <a:lstStyle/>
          <a:p>
            <a:pPr algn="ctr"/>
            <a:r>
              <a:rPr sz="1000" b="0" i="0">
                <a:solidFill>
                  <a:srgbClr val="FF6B35"/>
                </a:solidFill>
              </a:rPr>
              <a:t>No</a:t>
            </a:r>
          </a:p>
        </p:txBody>
      </p:sp>
      <p:sp>
        <p:nvSpPr>
          <p:cNvPr id="161" name="Rectangle 160"/>
          <p:cNvSpPr/>
          <p:nvPr/>
        </p:nvSpPr>
        <p:spPr>
          <a:xfrm>
            <a:off x="8705088" y="5472684"/>
            <a:ext cx="1920240" cy="425196"/>
          </a:xfrm>
          <a:prstGeom prst="rect">
            <a:avLst/>
          </a:prstGeom>
          <a:solidFill>
            <a:srgbClr val="032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8741663" y="5527548"/>
            <a:ext cx="1847088" cy="333756"/>
          </a:xfrm>
          <a:prstGeom prst="rect">
            <a:avLst/>
          </a:prstGeom>
          <a:noFill/>
        </p:spPr>
        <p:txBody>
          <a:bodyPr wrap="square">
            <a:spAutoFit/>
          </a:bodyPr>
          <a:lstStyle/>
          <a:p>
            <a:pPr algn="ctr"/>
            <a:r>
              <a:rPr sz="1000" b="1" i="0">
                <a:solidFill>
                  <a:srgbClr val="39FF14"/>
                </a:solidFill>
              </a:rPr>
              <a:t>Yes</a:t>
            </a:r>
          </a:p>
        </p:txBody>
      </p:sp>
      <p:sp>
        <p:nvSpPr>
          <p:cNvPr id="163" name="TextBox 162"/>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9 / 13</a:t>
            </a:r>
          </a:p>
        </p:txBody>
      </p:sp>
      <p:sp>
        <p:nvSpPr>
          <p:cNvPr id="164" name="Rectangle 163"/>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PhishGuard is the ONLY system achieving simultaneous multi-channel detection with hybrid NLP+ML fusion.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98755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 y="45720"/>
            <a:ext cx="10241280" cy="566928"/>
          </a:xfrm>
          <a:prstGeom prst="rect">
            <a:avLst/>
          </a:prstGeom>
          <a:noFill/>
        </p:spPr>
        <p:txBody>
          <a:bodyPr wrap="square">
            <a:spAutoFit/>
          </a:bodyPr>
          <a:lstStyle/>
          <a:p>
            <a:pPr algn="l"/>
            <a:r>
              <a:rPr sz="2800" b="1" i="0">
                <a:solidFill>
                  <a:srgbClr val="FFFFFF"/>
                </a:solidFill>
              </a:rPr>
              <a:t>Sustainable Development Goals</a:t>
            </a:r>
          </a:p>
        </p:txBody>
      </p:sp>
      <p:sp>
        <p:nvSpPr>
          <p:cNvPr id="7" name="TextBox 6"/>
          <p:cNvSpPr txBox="1"/>
          <p:nvPr/>
        </p:nvSpPr>
        <p:spPr>
          <a:xfrm>
            <a:off x="164592" y="603504"/>
            <a:ext cx="10241280" cy="329184"/>
          </a:xfrm>
          <a:prstGeom prst="rect">
            <a:avLst/>
          </a:prstGeom>
          <a:noFill/>
        </p:spPr>
        <p:txBody>
          <a:bodyPr wrap="square">
            <a:spAutoFit/>
          </a:bodyPr>
          <a:lstStyle/>
          <a:p>
            <a:pPr algn="l"/>
            <a:r>
              <a:rPr sz="1250" b="0" i="1">
                <a:solidFill>
                  <a:srgbClr val="39FF14"/>
                </a:solidFill>
              </a:rPr>
              <a:t>PhishGuard's Contribution to the UN 2030 Agenda</a:t>
            </a:r>
          </a:p>
        </p:txBody>
      </p:sp>
      <p:sp>
        <p:nvSpPr>
          <p:cNvPr id="8" name="TextBox 7"/>
          <p:cNvSpPr txBox="1"/>
          <p:nvPr/>
        </p:nvSpPr>
        <p:spPr>
          <a:xfrm>
            <a:off x="8046720" y="676656"/>
            <a:ext cx="4023360" cy="256032"/>
          </a:xfrm>
          <a:prstGeom prst="rect">
            <a:avLst/>
          </a:prstGeom>
          <a:noFill/>
        </p:spPr>
        <p:txBody>
          <a:bodyPr wrap="square">
            <a:spAutoFit/>
          </a:bodyPr>
          <a:lstStyle/>
          <a:p>
            <a:pPr algn="r"/>
            <a:r>
              <a:rPr sz="900" b="0" i="0">
                <a:solidFill>
                  <a:srgbClr val="B8D8F0"/>
                </a:solidFill>
              </a:rPr>
              <a:t>PhishGuard | AI-Powered Phishing Detection</a:t>
            </a:r>
          </a:p>
        </p:txBody>
      </p:sp>
      <p:sp>
        <p:nvSpPr>
          <p:cNvPr id="9" name="Rectangle 8"/>
          <p:cNvSpPr/>
          <p:nvPr/>
        </p:nvSpPr>
        <p:spPr>
          <a:xfrm>
            <a:off x="274320" y="1097280"/>
            <a:ext cx="11640312" cy="502920"/>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61288"/>
            <a:ext cx="11247120" cy="402336"/>
          </a:xfrm>
          <a:prstGeom prst="rect">
            <a:avLst/>
          </a:prstGeom>
          <a:noFill/>
        </p:spPr>
        <p:txBody>
          <a:bodyPr wrap="square">
            <a:spAutoFit/>
          </a:bodyPr>
          <a:lstStyle/>
          <a:p>
            <a:pPr algn="l"/>
            <a:r>
              <a:rPr sz="1150" b="0" i="1">
                <a:solidFill>
                  <a:srgbClr val="B8D8F0"/>
                </a:solidFill>
              </a:rPr>
              <a:t>PhishGuard directly supports four UN Sustainable Development Goals by protecting digital security, enabling safe economic activity, advancing AI innovation, and strengthening institutions against cybercrime.</a:t>
            </a:r>
          </a:p>
        </p:txBody>
      </p:sp>
      <p:sp>
        <p:nvSpPr>
          <p:cNvPr id="11" name="Rectangle 10"/>
          <p:cNvSpPr/>
          <p:nvPr/>
        </p:nvSpPr>
        <p:spPr>
          <a:xfrm>
            <a:off x="274320" y="1737360"/>
            <a:ext cx="2880360" cy="4828032"/>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737360"/>
            <a:ext cx="2880360"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1247" y="1810512"/>
            <a:ext cx="1737360" cy="71323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7" y="1810512"/>
            <a:ext cx="1737360" cy="713232"/>
          </a:xfrm>
          <a:prstGeom prst="rect">
            <a:avLst/>
          </a:prstGeom>
          <a:noFill/>
        </p:spPr>
        <p:txBody>
          <a:bodyPr wrap="square">
            <a:spAutoFit/>
          </a:bodyPr>
          <a:lstStyle/>
          <a:p>
            <a:pPr algn="ctr"/>
            <a:r>
              <a:rPr sz="1800" b="1" i="0">
                <a:solidFill>
                  <a:srgbClr val="070E1A"/>
                </a:solidFill>
              </a:rPr>
              <a:t>SDG 4</a:t>
            </a:r>
          </a:p>
        </p:txBody>
      </p:sp>
      <p:sp>
        <p:nvSpPr>
          <p:cNvPr id="15" name="TextBox 14"/>
          <p:cNvSpPr txBox="1"/>
          <p:nvPr/>
        </p:nvSpPr>
        <p:spPr>
          <a:xfrm>
            <a:off x="347472" y="2578608"/>
            <a:ext cx="2734056" cy="566928"/>
          </a:xfrm>
          <a:prstGeom prst="rect">
            <a:avLst/>
          </a:prstGeom>
          <a:noFill/>
        </p:spPr>
        <p:txBody>
          <a:bodyPr wrap="square">
            <a:spAutoFit/>
          </a:bodyPr>
          <a:lstStyle/>
          <a:p>
            <a:pPr algn="ctr"/>
            <a:r>
              <a:rPr sz="1200" b="1" i="0">
                <a:solidFill>
                  <a:srgbClr val="00D4FF"/>
                </a:solidFill>
              </a:rPr>
              <a:t>Quality
Education</a:t>
            </a:r>
          </a:p>
        </p:txBody>
      </p:sp>
      <p:sp>
        <p:nvSpPr>
          <p:cNvPr id="16" name="Rectangle 15"/>
          <p:cNvSpPr/>
          <p:nvPr/>
        </p:nvSpPr>
        <p:spPr>
          <a:xfrm>
            <a:off x="502920" y="3145536"/>
            <a:ext cx="242316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3255264"/>
            <a:ext cx="2670048" cy="493776"/>
          </a:xfrm>
          <a:prstGeom prst="rect">
            <a:avLst/>
          </a:prstGeom>
          <a:noFill/>
        </p:spPr>
        <p:txBody>
          <a:bodyPr wrap="square">
            <a:spAutoFit/>
          </a:bodyPr>
          <a:lstStyle/>
          <a:p>
            <a:pPr algn="l"/>
            <a:r>
              <a:rPr sz="1050" b="0" i="0">
                <a:solidFill>
                  <a:srgbClr val="FFFFFF"/>
                </a:solidFill>
              </a:rPr>
              <a:t>-&gt; Promotes cybersecurity awareness about phishing threats in digital learning environments</a:t>
            </a:r>
          </a:p>
        </p:txBody>
      </p:sp>
      <p:sp>
        <p:nvSpPr>
          <p:cNvPr id="18" name="TextBox 17"/>
          <p:cNvSpPr txBox="1"/>
          <p:nvPr/>
        </p:nvSpPr>
        <p:spPr>
          <a:xfrm>
            <a:off x="384048" y="3785615"/>
            <a:ext cx="2670048" cy="493776"/>
          </a:xfrm>
          <a:prstGeom prst="rect">
            <a:avLst/>
          </a:prstGeom>
          <a:noFill/>
        </p:spPr>
        <p:txBody>
          <a:bodyPr wrap="square">
            <a:spAutoFit/>
          </a:bodyPr>
          <a:lstStyle/>
          <a:p>
            <a:pPr algn="l"/>
            <a:r>
              <a:rPr sz="1050" b="0" i="0">
                <a:solidFill>
                  <a:srgbClr val="FFFFFF"/>
                </a:solidFill>
              </a:rPr>
              <a:t>-&gt; Helps users understand safe online communication and data protection best practices</a:t>
            </a:r>
          </a:p>
        </p:txBody>
      </p:sp>
      <p:sp>
        <p:nvSpPr>
          <p:cNvPr id="19" name="TextBox 18"/>
          <p:cNvSpPr txBox="1"/>
          <p:nvPr/>
        </p:nvSpPr>
        <p:spPr>
          <a:xfrm>
            <a:off x="384048" y="4315968"/>
            <a:ext cx="2670048" cy="493776"/>
          </a:xfrm>
          <a:prstGeom prst="rect">
            <a:avLst/>
          </a:prstGeom>
          <a:noFill/>
        </p:spPr>
        <p:txBody>
          <a:bodyPr wrap="square">
            <a:spAutoFit/>
          </a:bodyPr>
          <a:lstStyle/>
          <a:p>
            <a:pPr algn="l"/>
            <a:r>
              <a:rPr sz="1050" b="0" i="0">
                <a:solidFill>
                  <a:srgbClr val="FFFFFF"/>
                </a:solidFill>
              </a:rPr>
              <a:t>-&gt; Encourages adoption of AI/ML technologies in educational and research cybersecurity programs</a:t>
            </a:r>
          </a:p>
        </p:txBody>
      </p:sp>
      <p:sp>
        <p:nvSpPr>
          <p:cNvPr id="20" name="TextBox 19"/>
          <p:cNvSpPr txBox="1"/>
          <p:nvPr/>
        </p:nvSpPr>
        <p:spPr>
          <a:xfrm>
            <a:off x="384048" y="4846320"/>
            <a:ext cx="2670048" cy="493776"/>
          </a:xfrm>
          <a:prstGeom prst="rect">
            <a:avLst/>
          </a:prstGeom>
          <a:noFill/>
        </p:spPr>
        <p:txBody>
          <a:bodyPr wrap="square">
            <a:spAutoFit/>
          </a:bodyPr>
          <a:lstStyle/>
          <a:p>
            <a:pPr algn="l"/>
            <a:r>
              <a:rPr sz="1050" b="0" i="0">
                <a:solidFill>
                  <a:srgbClr val="FFFFFF"/>
                </a:solidFill>
              </a:rPr>
              <a:t>-&gt; Supports digital literacy by making phishing patterns transparent and understandable</a:t>
            </a:r>
          </a:p>
        </p:txBody>
      </p:sp>
      <p:sp>
        <p:nvSpPr>
          <p:cNvPr id="21" name="Rectangle 20"/>
          <p:cNvSpPr/>
          <p:nvPr/>
        </p:nvSpPr>
        <p:spPr>
          <a:xfrm>
            <a:off x="3337560" y="1737360"/>
            <a:ext cx="2880360" cy="4828032"/>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37560" y="1737360"/>
            <a:ext cx="2880360" cy="50292"/>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904487" y="1810512"/>
            <a:ext cx="1737360" cy="713232"/>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4487" y="1810512"/>
            <a:ext cx="1737360" cy="713232"/>
          </a:xfrm>
          <a:prstGeom prst="rect">
            <a:avLst/>
          </a:prstGeom>
          <a:noFill/>
        </p:spPr>
        <p:txBody>
          <a:bodyPr wrap="square">
            <a:spAutoFit/>
          </a:bodyPr>
          <a:lstStyle/>
          <a:p>
            <a:pPr algn="ctr"/>
            <a:r>
              <a:rPr sz="1800" b="1" i="0">
                <a:solidFill>
                  <a:srgbClr val="070E1A"/>
                </a:solidFill>
              </a:rPr>
              <a:t>SDG 8</a:t>
            </a:r>
          </a:p>
        </p:txBody>
      </p:sp>
      <p:sp>
        <p:nvSpPr>
          <p:cNvPr id="25" name="TextBox 24"/>
          <p:cNvSpPr txBox="1"/>
          <p:nvPr/>
        </p:nvSpPr>
        <p:spPr>
          <a:xfrm>
            <a:off x="3410712" y="2578608"/>
            <a:ext cx="2734056" cy="566928"/>
          </a:xfrm>
          <a:prstGeom prst="rect">
            <a:avLst/>
          </a:prstGeom>
          <a:noFill/>
        </p:spPr>
        <p:txBody>
          <a:bodyPr wrap="square">
            <a:spAutoFit/>
          </a:bodyPr>
          <a:lstStyle/>
          <a:p>
            <a:pPr algn="ctr"/>
            <a:r>
              <a:rPr sz="1200" b="1" i="0">
                <a:solidFill>
                  <a:srgbClr val="FFCC00"/>
                </a:solidFill>
              </a:rPr>
              <a:t>Decent Work &amp;
Economic Growth</a:t>
            </a:r>
          </a:p>
        </p:txBody>
      </p:sp>
      <p:sp>
        <p:nvSpPr>
          <p:cNvPr id="26" name="Rectangle 25"/>
          <p:cNvSpPr/>
          <p:nvPr/>
        </p:nvSpPr>
        <p:spPr>
          <a:xfrm>
            <a:off x="3566160" y="3145536"/>
            <a:ext cx="242316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47288" y="3255264"/>
            <a:ext cx="2670048" cy="493776"/>
          </a:xfrm>
          <a:prstGeom prst="rect">
            <a:avLst/>
          </a:prstGeom>
          <a:noFill/>
        </p:spPr>
        <p:txBody>
          <a:bodyPr wrap="square">
            <a:spAutoFit/>
          </a:bodyPr>
          <a:lstStyle/>
          <a:p>
            <a:pPr algn="l"/>
            <a:r>
              <a:rPr sz="1050" b="0" i="0">
                <a:solidFill>
                  <a:srgbClr val="FFFFFF"/>
                </a:solidFill>
              </a:rPr>
              <a:t>-&gt; Prevents financial losses caused by phishing in online banking and e-commerce platforms</a:t>
            </a:r>
          </a:p>
        </p:txBody>
      </p:sp>
      <p:sp>
        <p:nvSpPr>
          <p:cNvPr id="28" name="TextBox 27"/>
          <p:cNvSpPr txBox="1"/>
          <p:nvPr/>
        </p:nvSpPr>
        <p:spPr>
          <a:xfrm>
            <a:off x="3447288" y="3785615"/>
            <a:ext cx="2670048" cy="493776"/>
          </a:xfrm>
          <a:prstGeom prst="rect">
            <a:avLst/>
          </a:prstGeom>
          <a:noFill/>
        </p:spPr>
        <p:txBody>
          <a:bodyPr wrap="square">
            <a:spAutoFit/>
          </a:bodyPr>
          <a:lstStyle/>
          <a:p>
            <a:pPr algn="l"/>
            <a:r>
              <a:rPr sz="1050" b="0" i="0">
                <a:solidFill>
                  <a:srgbClr val="FFFFFF"/>
                </a:solidFill>
              </a:rPr>
              <a:t>-&gt; Contributes to a secure digital economy by improving user trust in online transactions</a:t>
            </a:r>
          </a:p>
        </p:txBody>
      </p:sp>
      <p:sp>
        <p:nvSpPr>
          <p:cNvPr id="29" name="TextBox 28"/>
          <p:cNvSpPr txBox="1"/>
          <p:nvPr/>
        </p:nvSpPr>
        <p:spPr>
          <a:xfrm>
            <a:off x="3447288" y="4315968"/>
            <a:ext cx="2670048" cy="493776"/>
          </a:xfrm>
          <a:prstGeom prst="rect">
            <a:avLst/>
          </a:prstGeom>
          <a:noFill/>
        </p:spPr>
        <p:txBody>
          <a:bodyPr wrap="square">
            <a:spAutoFit/>
          </a:bodyPr>
          <a:lstStyle/>
          <a:p>
            <a:pPr algn="l"/>
            <a:r>
              <a:rPr sz="1050" b="0" i="0">
                <a:solidFill>
                  <a:srgbClr val="FFFFFF"/>
                </a:solidFill>
              </a:rPr>
              <a:t>-&gt; Protects businesses from phishing-driven data breaches that cost millions annually</a:t>
            </a:r>
          </a:p>
        </p:txBody>
      </p:sp>
      <p:sp>
        <p:nvSpPr>
          <p:cNvPr id="30" name="TextBox 29"/>
          <p:cNvSpPr txBox="1"/>
          <p:nvPr/>
        </p:nvSpPr>
        <p:spPr>
          <a:xfrm>
            <a:off x="3447288" y="4846320"/>
            <a:ext cx="2670048" cy="493776"/>
          </a:xfrm>
          <a:prstGeom prst="rect">
            <a:avLst/>
          </a:prstGeom>
          <a:noFill/>
        </p:spPr>
        <p:txBody>
          <a:bodyPr wrap="square">
            <a:spAutoFit/>
          </a:bodyPr>
          <a:lstStyle/>
          <a:p>
            <a:pPr algn="l"/>
            <a:r>
              <a:rPr sz="1050" b="0" i="0">
                <a:solidFill>
                  <a:srgbClr val="FFFFFF"/>
                </a:solidFill>
              </a:rPr>
              <a:t>-&gt; Enables safe digital work environments by securing corporate email and communication channels</a:t>
            </a:r>
          </a:p>
        </p:txBody>
      </p:sp>
      <p:sp>
        <p:nvSpPr>
          <p:cNvPr id="31" name="Rectangle 30"/>
          <p:cNvSpPr/>
          <p:nvPr/>
        </p:nvSpPr>
        <p:spPr>
          <a:xfrm>
            <a:off x="6400800" y="1737360"/>
            <a:ext cx="2880360" cy="4828032"/>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0" y="1737360"/>
            <a:ext cx="2880360" cy="5029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67728" y="1810512"/>
            <a:ext cx="1737360" cy="71323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7728" y="1810512"/>
            <a:ext cx="1737360" cy="713232"/>
          </a:xfrm>
          <a:prstGeom prst="rect">
            <a:avLst/>
          </a:prstGeom>
          <a:noFill/>
        </p:spPr>
        <p:txBody>
          <a:bodyPr wrap="square">
            <a:spAutoFit/>
          </a:bodyPr>
          <a:lstStyle/>
          <a:p>
            <a:pPr algn="ctr"/>
            <a:r>
              <a:rPr sz="1800" b="1" i="0">
                <a:solidFill>
                  <a:srgbClr val="070E1A"/>
                </a:solidFill>
              </a:rPr>
              <a:t>SDG 9</a:t>
            </a:r>
          </a:p>
        </p:txBody>
      </p:sp>
      <p:sp>
        <p:nvSpPr>
          <p:cNvPr id="35" name="TextBox 34"/>
          <p:cNvSpPr txBox="1"/>
          <p:nvPr/>
        </p:nvSpPr>
        <p:spPr>
          <a:xfrm>
            <a:off x="6473952" y="2578608"/>
            <a:ext cx="2734056" cy="566928"/>
          </a:xfrm>
          <a:prstGeom prst="rect">
            <a:avLst/>
          </a:prstGeom>
          <a:noFill/>
        </p:spPr>
        <p:txBody>
          <a:bodyPr wrap="square">
            <a:spAutoFit/>
          </a:bodyPr>
          <a:lstStyle/>
          <a:p>
            <a:pPr algn="ctr"/>
            <a:r>
              <a:rPr sz="1200" b="1" i="0">
                <a:solidFill>
                  <a:srgbClr val="00FFC8"/>
                </a:solidFill>
              </a:rPr>
              <a:t>Industry, Innovation
&amp; Infrastructure</a:t>
            </a:r>
          </a:p>
        </p:txBody>
      </p:sp>
      <p:sp>
        <p:nvSpPr>
          <p:cNvPr id="36" name="Rectangle 35"/>
          <p:cNvSpPr/>
          <p:nvPr/>
        </p:nvSpPr>
        <p:spPr>
          <a:xfrm>
            <a:off x="6629400" y="3145536"/>
            <a:ext cx="2423160" cy="36576"/>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10528" y="3255264"/>
            <a:ext cx="2670048" cy="493776"/>
          </a:xfrm>
          <a:prstGeom prst="rect">
            <a:avLst/>
          </a:prstGeom>
          <a:noFill/>
        </p:spPr>
        <p:txBody>
          <a:bodyPr wrap="square">
            <a:spAutoFit/>
          </a:bodyPr>
          <a:lstStyle/>
          <a:p>
            <a:pPr algn="l"/>
            <a:r>
              <a:rPr sz="1050" b="0" i="0">
                <a:solidFill>
                  <a:srgbClr val="FFFFFF"/>
                </a:solidFill>
              </a:rPr>
              <a:t>-&gt; Advances cybersecurity infrastructure using hybrid AI (DistilBERT + XGBoost) deep learning</a:t>
            </a:r>
          </a:p>
        </p:txBody>
      </p:sp>
      <p:sp>
        <p:nvSpPr>
          <p:cNvPr id="38" name="TextBox 37"/>
          <p:cNvSpPr txBox="1"/>
          <p:nvPr/>
        </p:nvSpPr>
        <p:spPr>
          <a:xfrm>
            <a:off x="6510528" y="3785615"/>
            <a:ext cx="2670048" cy="493776"/>
          </a:xfrm>
          <a:prstGeom prst="rect">
            <a:avLst/>
          </a:prstGeom>
          <a:noFill/>
        </p:spPr>
        <p:txBody>
          <a:bodyPr wrap="square">
            <a:spAutoFit/>
          </a:bodyPr>
          <a:lstStyle/>
          <a:p>
            <a:pPr algn="l"/>
            <a:r>
              <a:rPr sz="1050" b="0" i="0">
                <a:solidFill>
                  <a:srgbClr val="FFFFFF"/>
                </a:solidFill>
              </a:rPr>
              <a:t>-&gt; Promotes innovation in secure digital communication systems and intelligent threat detection</a:t>
            </a:r>
          </a:p>
        </p:txBody>
      </p:sp>
      <p:sp>
        <p:nvSpPr>
          <p:cNvPr id="39" name="TextBox 38"/>
          <p:cNvSpPr txBox="1"/>
          <p:nvPr/>
        </p:nvSpPr>
        <p:spPr>
          <a:xfrm>
            <a:off x="6510528" y="4315968"/>
            <a:ext cx="2670048" cy="493776"/>
          </a:xfrm>
          <a:prstGeom prst="rect">
            <a:avLst/>
          </a:prstGeom>
          <a:noFill/>
        </p:spPr>
        <p:txBody>
          <a:bodyPr wrap="square">
            <a:spAutoFit/>
          </a:bodyPr>
          <a:lstStyle/>
          <a:p>
            <a:pPr algn="l"/>
            <a:r>
              <a:rPr sz="1050" b="0" i="0">
                <a:solidFill>
                  <a:srgbClr val="FFFFFF"/>
                </a:solidFill>
              </a:rPr>
              <a:t>-&gt; Demonstrates scalable AI application to real-world network security infrastructure</a:t>
            </a:r>
          </a:p>
        </p:txBody>
      </p:sp>
      <p:sp>
        <p:nvSpPr>
          <p:cNvPr id="40" name="TextBox 39"/>
          <p:cNvSpPr txBox="1"/>
          <p:nvPr/>
        </p:nvSpPr>
        <p:spPr>
          <a:xfrm>
            <a:off x="6510528" y="4846320"/>
            <a:ext cx="2670048" cy="493776"/>
          </a:xfrm>
          <a:prstGeom prst="rect">
            <a:avLst/>
          </a:prstGeom>
          <a:noFill/>
        </p:spPr>
        <p:txBody>
          <a:bodyPr wrap="square">
            <a:spAutoFit/>
          </a:bodyPr>
          <a:lstStyle/>
          <a:p>
            <a:pPr algn="l"/>
            <a:r>
              <a:rPr sz="1050" b="0" i="0">
                <a:solidFill>
                  <a:srgbClr val="FFFFFF"/>
                </a:solidFill>
              </a:rPr>
              <a:t>-&gt; Bridges research-to-deployment gap with a browser/email-deployable detection system</a:t>
            </a:r>
          </a:p>
        </p:txBody>
      </p:sp>
      <p:sp>
        <p:nvSpPr>
          <p:cNvPr id="41" name="Rectangle 40"/>
          <p:cNvSpPr/>
          <p:nvPr/>
        </p:nvSpPr>
        <p:spPr>
          <a:xfrm>
            <a:off x="9464040" y="1737360"/>
            <a:ext cx="2880360" cy="4828032"/>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64040" y="1737360"/>
            <a:ext cx="2880360" cy="50292"/>
          </a:xfrm>
          <a:prstGeom prst="rect">
            <a:avLst/>
          </a:prstGeom>
          <a:solidFill>
            <a:srgbClr val="A0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030967" y="1810512"/>
            <a:ext cx="1737360" cy="713232"/>
          </a:xfrm>
          <a:prstGeom prst="rect">
            <a:avLst/>
          </a:prstGeom>
          <a:solidFill>
            <a:srgbClr val="A0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30967" y="1810512"/>
            <a:ext cx="1737360" cy="713232"/>
          </a:xfrm>
          <a:prstGeom prst="rect">
            <a:avLst/>
          </a:prstGeom>
          <a:noFill/>
        </p:spPr>
        <p:txBody>
          <a:bodyPr wrap="square">
            <a:spAutoFit/>
          </a:bodyPr>
          <a:lstStyle/>
          <a:p>
            <a:pPr algn="ctr"/>
            <a:r>
              <a:rPr sz="1800" b="1" i="0">
                <a:solidFill>
                  <a:srgbClr val="070E1A"/>
                </a:solidFill>
              </a:rPr>
              <a:t>SDG 16</a:t>
            </a:r>
          </a:p>
        </p:txBody>
      </p:sp>
      <p:sp>
        <p:nvSpPr>
          <p:cNvPr id="45" name="TextBox 44"/>
          <p:cNvSpPr txBox="1"/>
          <p:nvPr/>
        </p:nvSpPr>
        <p:spPr>
          <a:xfrm>
            <a:off x="9537192" y="2578608"/>
            <a:ext cx="2734056" cy="566928"/>
          </a:xfrm>
          <a:prstGeom prst="rect">
            <a:avLst/>
          </a:prstGeom>
          <a:noFill/>
        </p:spPr>
        <p:txBody>
          <a:bodyPr wrap="square">
            <a:spAutoFit/>
          </a:bodyPr>
          <a:lstStyle/>
          <a:p>
            <a:pPr algn="ctr"/>
            <a:r>
              <a:rPr sz="1200" b="1" i="0">
                <a:solidFill>
                  <a:srgbClr val="A07EFF"/>
                </a:solidFill>
              </a:rPr>
              <a:t>Peace, Justice &amp;
Strong Institutions</a:t>
            </a:r>
          </a:p>
        </p:txBody>
      </p:sp>
      <p:sp>
        <p:nvSpPr>
          <p:cNvPr id="46" name="Rectangle 45"/>
          <p:cNvSpPr/>
          <p:nvPr/>
        </p:nvSpPr>
        <p:spPr>
          <a:xfrm>
            <a:off x="9692640" y="3145536"/>
            <a:ext cx="2423160" cy="36576"/>
          </a:xfrm>
          <a:prstGeom prst="rect">
            <a:avLst/>
          </a:prstGeom>
          <a:solidFill>
            <a:srgbClr val="A0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573767" y="3255264"/>
            <a:ext cx="2670048" cy="493776"/>
          </a:xfrm>
          <a:prstGeom prst="rect">
            <a:avLst/>
          </a:prstGeom>
          <a:noFill/>
        </p:spPr>
        <p:txBody>
          <a:bodyPr wrap="square">
            <a:spAutoFit/>
          </a:bodyPr>
          <a:lstStyle/>
          <a:p>
            <a:pPr algn="l"/>
            <a:r>
              <a:rPr sz="1050" b="0" i="0">
                <a:solidFill>
                  <a:srgbClr val="FFFFFF"/>
                </a:solidFill>
              </a:rPr>
              <a:t>-&gt; Protects individuals and institutions from cybercrime and phishing-driven identity theft</a:t>
            </a:r>
          </a:p>
        </p:txBody>
      </p:sp>
      <p:sp>
        <p:nvSpPr>
          <p:cNvPr id="48" name="TextBox 47"/>
          <p:cNvSpPr txBox="1"/>
          <p:nvPr/>
        </p:nvSpPr>
        <p:spPr>
          <a:xfrm>
            <a:off x="9573767" y="3785615"/>
            <a:ext cx="2670048" cy="493776"/>
          </a:xfrm>
          <a:prstGeom prst="rect">
            <a:avLst/>
          </a:prstGeom>
          <a:noFill/>
        </p:spPr>
        <p:txBody>
          <a:bodyPr wrap="square">
            <a:spAutoFit/>
          </a:bodyPr>
          <a:lstStyle/>
          <a:p>
            <a:pPr algn="l"/>
            <a:r>
              <a:rPr sz="1050" b="0" i="0">
                <a:solidFill>
                  <a:srgbClr val="FFFFFF"/>
                </a:solidFill>
              </a:rPr>
              <a:t>-&gt; Supports secure digital environments by reducing online fraud, scams, and social engineering</a:t>
            </a:r>
          </a:p>
        </p:txBody>
      </p:sp>
      <p:sp>
        <p:nvSpPr>
          <p:cNvPr id="49" name="TextBox 48"/>
          <p:cNvSpPr txBox="1"/>
          <p:nvPr/>
        </p:nvSpPr>
        <p:spPr>
          <a:xfrm>
            <a:off x="9573767" y="4315968"/>
            <a:ext cx="2670048" cy="493776"/>
          </a:xfrm>
          <a:prstGeom prst="rect">
            <a:avLst/>
          </a:prstGeom>
          <a:noFill/>
        </p:spPr>
        <p:txBody>
          <a:bodyPr wrap="square">
            <a:spAutoFit/>
          </a:bodyPr>
          <a:lstStyle/>
          <a:p>
            <a:pPr algn="l"/>
            <a:r>
              <a:rPr sz="1050" b="0" i="0">
                <a:solidFill>
                  <a:srgbClr val="FFFFFF"/>
                </a:solidFill>
              </a:rPr>
              <a:t>-&gt; Helps law enforcement and institutions identify and respond to phishing campaigns faster</a:t>
            </a:r>
          </a:p>
        </p:txBody>
      </p:sp>
      <p:sp>
        <p:nvSpPr>
          <p:cNvPr id="50" name="TextBox 49"/>
          <p:cNvSpPr txBox="1"/>
          <p:nvPr/>
        </p:nvSpPr>
        <p:spPr>
          <a:xfrm>
            <a:off x="9573767" y="4846320"/>
            <a:ext cx="2670048" cy="493776"/>
          </a:xfrm>
          <a:prstGeom prst="rect">
            <a:avLst/>
          </a:prstGeom>
          <a:noFill/>
        </p:spPr>
        <p:txBody>
          <a:bodyPr wrap="square">
            <a:spAutoFit/>
          </a:bodyPr>
          <a:lstStyle/>
          <a:p>
            <a:pPr algn="l"/>
            <a:r>
              <a:rPr sz="1050" b="0" i="0">
                <a:solidFill>
                  <a:srgbClr val="FFFFFF"/>
                </a:solidFill>
              </a:rPr>
              <a:t>-&gt; Strengthens trust in digital institutions by ensuring safer, fraud-resistant communication</a:t>
            </a:r>
          </a:p>
        </p:txBody>
      </p:sp>
      <p:sp>
        <p:nvSpPr>
          <p:cNvPr id="51" name="TextBox 50"/>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10 / 13</a:t>
            </a:r>
          </a:p>
        </p:txBody>
      </p:sp>
      <p:sp>
        <p:nvSpPr>
          <p:cNvPr id="52" name="Rectangle 51"/>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Source: United Nations SDGs 2030 Agenda | sdgs.un.org/goals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98755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 y="45720"/>
            <a:ext cx="10241280" cy="566928"/>
          </a:xfrm>
          <a:prstGeom prst="rect">
            <a:avLst/>
          </a:prstGeom>
          <a:noFill/>
        </p:spPr>
        <p:txBody>
          <a:bodyPr wrap="square">
            <a:spAutoFit/>
          </a:bodyPr>
          <a:lstStyle/>
          <a:p>
            <a:pPr algn="l"/>
            <a:r>
              <a:rPr sz="2800" b="1" i="0">
                <a:solidFill>
                  <a:srgbClr val="FFFFFF"/>
                </a:solidFill>
              </a:rPr>
              <a:t>Conclusion</a:t>
            </a:r>
          </a:p>
        </p:txBody>
      </p:sp>
      <p:sp>
        <p:nvSpPr>
          <p:cNvPr id="7" name="TextBox 6"/>
          <p:cNvSpPr txBox="1"/>
          <p:nvPr/>
        </p:nvSpPr>
        <p:spPr>
          <a:xfrm>
            <a:off x="164592" y="603504"/>
            <a:ext cx="10241280" cy="329184"/>
          </a:xfrm>
          <a:prstGeom prst="rect">
            <a:avLst/>
          </a:prstGeom>
          <a:noFill/>
        </p:spPr>
        <p:txBody>
          <a:bodyPr wrap="square">
            <a:spAutoFit/>
          </a:bodyPr>
          <a:lstStyle/>
          <a:p>
            <a:pPr algn="l"/>
            <a:r>
              <a:rPr sz="1250" b="0" i="1">
                <a:solidFill>
                  <a:srgbClr val="39FF14"/>
                </a:solidFill>
              </a:rPr>
              <a:t>Summary of Research Contributions &amp; Key Takeaways</a:t>
            </a:r>
          </a:p>
        </p:txBody>
      </p:sp>
      <p:sp>
        <p:nvSpPr>
          <p:cNvPr id="8" name="TextBox 7"/>
          <p:cNvSpPr txBox="1"/>
          <p:nvPr/>
        </p:nvSpPr>
        <p:spPr>
          <a:xfrm>
            <a:off x="8046720" y="676656"/>
            <a:ext cx="4023360" cy="256032"/>
          </a:xfrm>
          <a:prstGeom prst="rect">
            <a:avLst/>
          </a:prstGeom>
          <a:noFill/>
        </p:spPr>
        <p:txBody>
          <a:bodyPr wrap="square">
            <a:spAutoFit/>
          </a:bodyPr>
          <a:lstStyle/>
          <a:p>
            <a:pPr algn="r"/>
            <a:r>
              <a:rPr sz="900" b="0" i="0">
                <a:solidFill>
                  <a:srgbClr val="B8D8F0"/>
                </a:solidFill>
              </a:rPr>
              <a:t>PhishGuard | AI-Powered Phishing Detection</a:t>
            </a:r>
          </a:p>
        </p:txBody>
      </p:sp>
      <p:sp>
        <p:nvSpPr>
          <p:cNvPr id="9" name="Rectangle 8"/>
          <p:cNvSpPr/>
          <p:nvPr/>
        </p:nvSpPr>
        <p:spPr>
          <a:xfrm>
            <a:off x="274320" y="1097280"/>
            <a:ext cx="11640312" cy="1261872"/>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097280"/>
            <a:ext cx="64008" cy="126187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170432"/>
            <a:ext cx="11247120" cy="1115568"/>
          </a:xfrm>
          <a:prstGeom prst="rect">
            <a:avLst/>
          </a:prstGeom>
          <a:noFill/>
        </p:spPr>
        <p:txBody>
          <a:bodyPr wrap="square">
            <a:spAutoFit/>
          </a:bodyPr>
          <a:lstStyle/>
          <a:p>
            <a:pPr algn="l">
              <a:spcBef>
                <a:spcPts val="300"/>
              </a:spcBef>
            </a:pPr>
            <a:r>
              <a:rPr sz="1300" b="1">
                <a:solidFill>
                  <a:srgbClr val="00FFC8"/>
                </a:solidFill>
              </a:rPr>
              <a:t>Research Summary</a:t>
            </a:r>
          </a:p>
          <a:p>
            <a:pPr algn="l">
              <a:spcBef>
                <a:spcPts val="300"/>
              </a:spcBef>
            </a:pPr>
            <a:r>
              <a:rPr sz="1250" b="0">
                <a:solidFill>
                  <a:srgbClr val="FFFFFF"/>
                </a:solidFill>
              </a:rPr>
              <a:t>This project developed PhishGuard — an intelligent multi-channel phishing detection system using a hybrid DistilBERT + XGBoost model. The system analyzes emails, SMS messages, and URLs simultaneously to detect phishing attacks. DistilBERT extracts semantic NLP features while XGBoost classifies structured URL data. The hybrid model achieves 96% accuracy and 0.96 weighted F1-score, outperforming all single-channel baselines in both precision and recall.</a:t>
            </a:r>
          </a:p>
        </p:txBody>
      </p:sp>
      <p:sp>
        <p:nvSpPr>
          <p:cNvPr id="12" name="Rectangle 11"/>
          <p:cNvSpPr/>
          <p:nvPr/>
        </p:nvSpPr>
        <p:spPr>
          <a:xfrm>
            <a:off x="274320" y="2487168"/>
            <a:ext cx="3611880" cy="19202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2487168"/>
            <a:ext cx="3611880"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2578608"/>
            <a:ext cx="3383280" cy="365760"/>
          </a:xfrm>
          <a:prstGeom prst="rect">
            <a:avLst/>
          </a:prstGeom>
          <a:noFill/>
        </p:spPr>
        <p:txBody>
          <a:bodyPr wrap="square">
            <a:spAutoFit/>
          </a:bodyPr>
          <a:lstStyle/>
          <a:p>
            <a:pPr algn="l"/>
            <a:r>
              <a:rPr sz="1300" b="1" i="0">
                <a:solidFill>
                  <a:srgbClr val="39FF14"/>
                </a:solidFill>
              </a:rPr>
              <a:t>🏆  96% Accuracy</a:t>
            </a:r>
          </a:p>
        </p:txBody>
      </p:sp>
      <p:sp>
        <p:nvSpPr>
          <p:cNvPr id="15" name="TextBox 14"/>
          <p:cNvSpPr txBox="1"/>
          <p:nvPr/>
        </p:nvSpPr>
        <p:spPr>
          <a:xfrm>
            <a:off x="384048" y="2999232"/>
            <a:ext cx="3383280" cy="1298448"/>
          </a:xfrm>
          <a:prstGeom prst="rect">
            <a:avLst/>
          </a:prstGeom>
          <a:noFill/>
        </p:spPr>
        <p:txBody>
          <a:bodyPr wrap="square">
            <a:spAutoFit/>
          </a:bodyPr>
          <a:lstStyle/>
          <a:p>
            <a:pPr algn="l"/>
            <a:r>
              <a:rPr sz="1100" b="0" i="0">
                <a:solidFill>
                  <a:srgbClr val="B8D8F0"/>
                </a:solidFill>
              </a:rPr>
              <a:t>Hybrid DistilBERT+XGBoost achieves 96% accuracy — best performance, exceeding BERT (94%), XGBoost (91%), and all prior baselines.</a:t>
            </a:r>
          </a:p>
        </p:txBody>
      </p:sp>
      <p:sp>
        <p:nvSpPr>
          <p:cNvPr id="16" name="Rectangle 15"/>
          <p:cNvSpPr/>
          <p:nvPr/>
        </p:nvSpPr>
        <p:spPr>
          <a:xfrm>
            <a:off x="4069080" y="2487168"/>
            <a:ext cx="3611880" cy="19202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69080" y="2487168"/>
            <a:ext cx="3611880"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78808" y="2578608"/>
            <a:ext cx="3383280" cy="365760"/>
          </a:xfrm>
          <a:prstGeom prst="rect">
            <a:avLst/>
          </a:prstGeom>
          <a:noFill/>
        </p:spPr>
        <p:txBody>
          <a:bodyPr wrap="square">
            <a:spAutoFit/>
          </a:bodyPr>
          <a:lstStyle/>
          <a:p>
            <a:pPr algn="l"/>
            <a:r>
              <a:rPr sz="1300" b="1" i="0">
                <a:solidFill>
                  <a:srgbClr val="00D4FF"/>
                </a:solidFill>
              </a:rPr>
              <a:t>🔀  Multi-Channel Detection</a:t>
            </a:r>
          </a:p>
        </p:txBody>
      </p:sp>
      <p:sp>
        <p:nvSpPr>
          <p:cNvPr id="19" name="TextBox 18"/>
          <p:cNvSpPr txBox="1"/>
          <p:nvPr/>
        </p:nvSpPr>
        <p:spPr>
          <a:xfrm>
            <a:off x="4178808" y="2999232"/>
            <a:ext cx="3383280" cy="1298448"/>
          </a:xfrm>
          <a:prstGeom prst="rect">
            <a:avLst/>
          </a:prstGeom>
          <a:noFill/>
        </p:spPr>
        <p:txBody>
          <a:bodyPr wrap="square">
            <a:spAutoFit/>
          </a:bodyPr>
          <a:lstStyle/>
          <a:p>
            <a:pPr algn="l"/>
            <a:r>
              <a:rPr sz="1100" b="0" i="0">
                <a:solidFill>
                  <a:srgbClr val="B8D8F0"/>
                </a:solidFill>
              </a:rPr>
              <a:t>First system to simultaneously detect phishing across all three vectors: malicious URLs, email phishing, and SMS smishing.</a:t>
            </a:r>
          </a:p>
        </p:txBody>
      </p:sp>
      <p:sp>
        <p:nvSpPr>
          <p:cNvPr id="20" name="Rectangle 19"/>
          <p:cNvSpPr/>
          <p:nvPr/>
        </p:nvSpPr>
        <p:spPr>
          <a:xfrm>
            <a:off x="7863840" y="2487168"/>
            <a:ext cx="3611880" cy="19202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63840" y="2487168"/>
            <a:ext cx="3611880" cy="5029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73567" y="2578608"/>
            <a:ext cx="3383280" cy="365760"/>
          </a:xfrm>
          <a:prstGeom prst="rect">
            <a:avLst/>
          </a:prstGeom>
          <a:noFill/>
        </p:spPr>
        <p:txBody>
          <a:bodyPr wrap="square">
            <a:spAutoFit/>
          </a:bodyPr>
          <a:lstStyle/>
          <a:p>
            <a:pPr algn="l"/>
            <a:r>
              <a:rPr sz="1300" b="1" i="0">
                <a:solidFill>
                  <a:srgbClr val="00FFC8"/>
                </a:solidFill>
              </a:rPr>
              <a:t>🧠  Semantic NLP Power</a:t>
            </a:r>
          </a:p>
        </p:txBody>
      </p:sp>
      <p:sp>
        <p:nvSpPr>
          <p:cNvPr id="23" name="TextBox 22"/>
          <p:cNvSpPr txBox="1"/>
          <p:nvPr/>
        </p:nvSpPr>
        <p:spPr>
          <a:xfrm>
            <a:off x="7973567" y="2999232"/>
            <a:ext cx="3383280" cy="1298448"/>
          </a:xfrm>
          <a:prstGeom prst="rect">
            <a:avLst/>
          </a:prstGeom>
          <a:noFill/>
        </p:spPr>
        <p:txBody>
          <a:bodyPr wrap="square">
            <a:spAutoFit/>
          </a:bodyPr>
          <a:lstStyle/>
          <a:p>
            <a:pPr algn="l"/>
            <a:r>
              <a:rPr sz="1100" b="0" i="0">
                <a:solidFill>
                  <a:srgbClr val="B8D8F0"/>
                </a:solidFill>
              </a:rPr>
              <a:t>DistilBERT's contextual understanding captures subtle phishing language patterns that keyword-matching and rule-based methods miss.</a:t>
            </a:r>
          </a:p>
        </p:txBody>
      </p:sp>
      <p:sp>
        <p:nvSpPr>
          <p:cNvPr id="24" name="Rectangle 23"/>
          <p:cNvSpPr/>
          <p:nvPr/>
        </p:nvSpPr>
        <p:spPr>
          <a:xfrm>
            <a:off x="274320" y="4617720"/>
            <a:ext cx="3611880" cy="19202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4617720"/>
            <a:ext cx="3611880" cy="50292"/>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4709159"/>
            <a:ext cx="3383280" cy="365760"/>
          </a:xfrm>
          <a:prstGeom prst="rect">
            <a:avLst/>
          </a:prstGeom>
          <a:noFill/>
        </p:spPr>
        <p:txBody>
          <a:bodyPr wrap="square">
            <a:spAutoFit/>
          </a:bodyPr>
          <a:lstStyle/>
          <a:p>
            <a:pPr algn="l"/>
            <a:r>
              <a:rPr sz="1300" b="1" i="0">
                <a:solidFill>
                  <a:srgbClr val="FFCC00"/>
                </a:solidFill>
              </a:rPr>
              <a:t>📉  Reduced False Positives</a:t>
            </a:r>
          </a:p>
        </p:txBody>
      </p:sp>
      <p:sp>
        <p:nvSpPr>
          <p:cNvPr id="27" name="TextBox 26"/>
          <p:cNvSpPr txBox="1"/>
          <p:nvPr/>
        </p:nvSpPr>
        <p:spPr>
          <a:xfrm>
            <a:off x="384048" y="5129783"/>
            <a:ext cx="3383280" cy="1298448"/>
          </a:xfrm>
          <a:prstGeom prst="rect">
            <a:avLst/>
          </a:prstGeom>
          <a:noFill/>
        </p:spPr>
        <p:txBody>
          <a:bodyPr wrap="square">
            <a:spAutoFit/>
          </a:bodyPr>
          <a:lstStyle/>
          <a:p>
            <a:pPr algn="l"/>
            <a:r>
              <a:rPr sz="1100" b="0" i="0">
                <a:solidFill>
                  <a:srgbClr val="B8D8F0"/>
                </a:solidFill>
              </a:rPr>
              <a:t>Hybrid fusion of semantic features + structural URL features minimizes false alarms, improving precision from 0.92 to 0.97.</a:t>
            </a:r>
          </a:p>
        </p:txBody>
      </p:sp>
      <p:sp>
        <p:nvSpPr>
          <p:cNvPr id="28" name="Rectangle 27"/>
          <p:cNvSpPr/>
          <p:nvPr/>
        </p:nvSpPr>
        <p:spPr>
          <a:xfrm>
            <a:off x="4069080" y="4617720"/>
            <a:ext cx="3611880" cy="19202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9080" y="4617720"/>
            <a:ext cx="3611880" cy="50292"/>
          </a:xfrm>
          <a:prstGeom prst="rect">
            <a:avLst/>
          </a:prstGeom>
          <a:solidFill>
            <a:srgbClr val="A0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78808" y="4709159"/>
            <a:ext cx="3383280" cy="365760"/>
          </a:xfrm>
          <a:prstGeom prst="rect">
            <a:avLst/>
          </a:prstGeom>
          <a:noFill/>
        </p:spPr>
        <p:txBody>
          <a:bodyPr wrap="square">
            <a:spAutoFit/>
          </a:bodyPr>
          <a:lstStyle/>
          <a:p>
            <a:pPr algn="l"/>
            <a:r>
              <a:rPr sz="1300" b="1" i="0">
                <a:solidFill>
                  <a:srgbClr val="A07EFF"/>
                </a:solidFill>
              </a:rPr>
              <a:t>🌐  Real-Time Ready</a:t>
            </a:r>
          </a:p>
        </p:txBody>
      </p:sp>
      <p:sp>
        <p:nvSpPr>
          <p:cNvPr id="31" name="TextBox 30"/>
          <p:cNvSpPr txBox="1"/>
          <p:nvPr/>
        </p:nvSpPr>
        <p:spPr>
          <a:xfrm>
            <a:off x="4178808" y="5129783"/>
            <a:ext cx="3383280" cy="1298448"/>
          </a:xfrm>
          <a:prstGeom prst="rect">
            <a:avLst/>
          </a:prstGeom>
          <a:noFill/>
        </p:spPr>
        <p:txBody>
          <a:bodyPr wrap="square">
            <a:spAutoFit/>
          </a:bodyPr>
          <a:lstStyle/>
          <a:p>
            <a:pPr algn="l"/>
            <a:r>
              <a:rPr sz="1100" b="0" i="0">
                <a:solidFill>
                  <a:srgbClr val="B8D8F0"/>
                </a:solidFill>
              </a:rPr>
              <a:t>DistilBERT's lightweight design (40% smaller than BERT) enables near real-time inference, suitable for browser and email plug-ins.</a:t>
            </a:r>
          </a:p>
        </p:txBody>
      </p:sp>
      <p:sp>
        <p:nvSpPr>
          <p:cNvPr id="32" name="Rectangle 31"/>
          <p:cNvSpPr/>
          <p:nvPr/>
        </p:nvSpPr>
        <p:spPr>
          <a:xfrm>
            <a:off x="7863840" y="4617720"/>
            <a:ext cx="3611880" cy="192024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63840" y="4617720"/>
            <a:ext cx="3611880" cy="502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73567" y="4709159"/>
            <a:ext cx="3383280" cy="365760"/>
          </a:xfrm>
          <a:prstGeom prst="rect">
            <a:avLst/>
          </a:prstGeom>
          <a:noFill/>
        </p:spPr>
        <p:txBody>
          <a:bodyPr wrap="square">
            <a:spAutoFit/>
          </a:bodyPr>
          <a:lstStyle/>
          <a:p>
            <a:pPr algn="l"/>
            <a:r>
              <a:rPr sz="1300" b="1" i="0">
                <a:solidFill>
                  <a:srgbClr val="FF6B35"/>
                </a:solidFill>
              </a:rPr>
              <a:t>🔒  Security Impact</a:t>
            </a:r>
          </a:p>
        </p:txBody>
      </p:sp>
      <p:sp>
        <p:nvSpPr>
          <p:cNvPr id="35" name="TextBox 34"/>
          <p:cNvSpPr txBox="1"/>
          <p:nvPr/>
        </p:nvSpPr>
        <p:spPr>
          <a:xfrm>
            <a:off x="7973567" y="5129783"/>
            <a:ext cx="3383280" cy="1298448"/>
          </a:xfrm>
          <a:prstGeom prst="rect">
            <a:avLst/>
          </a:prstGeom>
          <a:noFill/>
        </p:spPr>
        <p:txBody>
          <a:bodyPr wrap="square">
            <a:spAutoFit/>
          </a:bodyPr>
          <a:lstStyle/>
          <a:p>
            <a:pPr algn="l"/>
            <a:r>
              <a:rPr sz="1100" b="0" i="0">
                <a:solidFill>
                  <a:srgbClr val="B8D8F0"/>
                </a:solidFill>
              </a:rPr>
              <a:t>PhishGuard contributes directly to SDGs 4, 8, 9, and 16 by securing digital communication and protecting economic activity online.</a:t>
            </a:r>
          </a:p>
        </p:txBody>
      </p:sp>
      <p:sp>
        <p:nvSpPr>
          <p:cNvPr id="36" name="TextBox 35"/>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11 / 13</a:t>
            </a:r>
          </a:p>
        </p:txBody>
      </p:sp>
      <p:sp>
        <p:nvSpPr>
          <p:cNvPr id="37" name="Rectangle 36"/>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PhishGuard closes the multi-channel gap in phishing detection — providing superior accuracy with practical real-world deployability.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64008" cy="98755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 y="45720"/>
            <a:ext cx="10241280" cy="566928"/>
          </a:xfrm>
          <a:prstGeom prst="rect">
            <a:avLst/>
          </a:prstGeom>
          <a:noFill/>
        </p:spPr>
        <p:txBody>
          <a:bodyPr wrap="square">
            <a:spAutoFit/>
          </a:bodyPr>
          <a:lstStyle/>
          <a:p>
            <a:pPr algn="l"/>
            <a:r>
              <a:rPr sz="2800" b="1" i="0">
                <a:solidFill>
                  <a:srgbClr val="FFFFFF"/>
                </a:solidFill>
              </a:rPr>
              <a:t>Future Directions</a:t>
            </a:r>
          </a:p>
        </p:txBody>
      </p:sp>
      <p:sp>
        <p:nvSpPr>
          <p:cNvPr id="7" name="TextBox 6"/>
          <p:cNvSpPr txBox="1"/>
          <p:nvPr/>
        </p:nvSpPr>
        <p:spPr>
          <a:xfrm>
            <a:off x="164592" y="603504"/>
            <a:ext cx="10241280" cy="329184"/>
          </a:xfrm>
          <a:prstGeom prst="rect">
            <a:avLst/>
          </a:prstGeom>
          <a:noFill/>
        </p:spPr>
        <p:txBody>
          <a:bodyPr wrap="square">
            <a:spAutoFit/>
          </a:bodyPr>
          <a:lstStyle/>
          <a:p>
            <a:pPr algn="l"/>
            <a:r>
              <a:rPr sz="1250" b="0" i="1">
                <a:solidFill>
                  <a:srgbClr val="39FF14"/>
                </a:solidFill>
              </a:rPr>
              <a:t>Research Roadmap &amp; Next Steps for PhishGuard</a:t>
            </a:r>
          </a:p>
        </p:txBody>
      </p:sp>
      <p:sp>
        <p:nvSpPr>
          <p:cNvPr id="8" name="TextBox 7"/>
          <p:cNvSpPr txBox="1"/>
          <p:nvPr/>
        </p:nvSpPr>
        <p:spPr>
          <a:xfrm>
            <a:off x="8046720" y="676656"/>
            <a:ext cx="4023360" cy="256032"/>
          </a:xfrm>
          <a:prstGeom prst="rect">
            <a:avLst/>
          </a:prstGeom>
          <a:noFill/>
        </p:spPr>
        <p:txBody>
          <a:bodyPr wrap="square">
            <a:spAutoFit/>
          </a:bodyPr>
          <a:lstStyle/>
          <a:p>
            <a:pPr algn="r"/>
            <a:r>
              <a:rPr sz="900" b="0" i="0">
                <a:solidFill>
                  <a:srgbClr val="B8D8F0"/>
                </a:solidFill>
              </a:rPr>
              <a:t>PhishGuard | AI-Powered Phishing Detection</a:t>
            </a:r>
          </a:p>
        </p:txBody>
      </p:sp>
      <p:sp>
        <p:nvSpPr>
          <p:cNvPr id="9" name="Rectangle 8"/>
          <p:cNvSpPr/>
          <p:nvPr/>
        </p:nvSpPr>
        <p:spPr>
          <a:xfrm>
            <a:off x="274320" y="1097280"/>
            <a:ext cx="5650992" cy="17373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097280"/>
            <a:ext cx="5650992" cy="50292"/>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147572"/>
            <a:ext cx="566928" cy="168706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1481328"/>
            <a:ext cx="566928" cy="594360"/>
          </a:xfrm>
          <a:prstGeom prst="rect">
            <a:avLst/>
          </a:prstGeom>
          <a:noFill/>
        </p:spPr>
        <p:txBody>
          <a:bodyPr wrap="square">
            <a:spAutoFit/>
          </a:bodyPr>
          <a:lstStyle/>
          <a:p>
            <a:pPr algn="ctr"/>
            <a:r>
              <a:rPr sz="2200" b="0" i="0">
                <a:solidFill>
                  <a:srgbClr val="FFFFFF"/>
                </a:solidFill>
              </a:rPr>
              <a:t>📱</a:t>
            </a:r>
          </a:p>
        </p:txBody>
      </p:sp>
      <p:sp>
        <p:nvSpPr>
          <p:cNvPr id="13" name="TextBox 12"/>
          <p:cNvSpPr txBox="1"/>
          <p:nvPr/>
        </p:nvSpPr>
        <p:spPr>
          <a:xfrm>
            <a:off x="914400" y="1170432"/>
            <a:ext cx="4892040" cy="347472"/>
          </a:xfrm>
          <a:prstGeom prst="rect">
            <a:avLst/>
          </a:prstGeom>
          <a:noFill/>
        </p:spPr>
        <p:txBody>
          <a:bodyPr wrap="square">
            <a:spAutoFit/>
          </a:bodyPr>
          <a:lstStyle/>
          <a:p>
            <a:pPr algn="l"/>
            <a:r>
              <a:rPr sz="1300" b="1" i="0">
                <a:solidFill>
                  <a:srgbClr val="39FF14"/>
                </a:solidFill>
              </a:rPr>
              <a:t>Social Media &amp; Messaging Platform Detection</a:t>
            </a:r>
          </a:p>
        </p:txBody>
      </p:sp>
      <p:sp>
        <p:nvSpPr>
          <p:cNvPr id="14" name="TextBox 13"/>
          <p:cNvSpPr txBox="1"/>
          <p:nvPr/>
        </p:nvSpPr>
        <p:spPr>
          <a:xfrm>
            <a:off x="914400" y="1572768"/>
            <a:ext cx="4892040" cy="1170432"/>
          </a:xfrm>
          <a:prstGeom prst="rect">
            <a:avLst/>
          </a:prstGeom>
          <a:noFill/>
        </p:spPr>
        <p:txBody>
          <a:bodyPr wrap="square">
            <a:spAutoFit/>
          </a:bodyPr>
          <a:lstStyle/>
          <a:p>
            <a:pPr algn="l"/>
            <a:r>
              <a:rPr sz="1150" b="0" i="0">
                <a:solidFill>
                  <a:srgbClr val="B8D8F0"/>
                </a:solidFill>
              </a:rPr>
              <a:t>Extend PhishGuard to detect phishing on WhatsApp, Telegram, Instagram DMs, and Twitter, covering emerging attack surfaces.</a:t>
            </a:r>
          </a:p>
        </p:txBody>
      </p:sp>
      <p:sp>
        <p:nvSpPr>
          <p:cNvPr id="15" name="Rectangle 14"/>
          <p:cNvSpPr/>
          <p:nvPr/>
        </p:nvSpPr>
        <p:spPr>
          <a:xfrm>
            <a:off x="6236208" y="1097280"/>
            <a:ext cx="5650992" cy="17373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6208" y="1097280"/>
            <a:ext cx="5650992" cy="502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147572"/>
            <a:ext cx="566928" cy="168706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6208" y="1481328"/>
            <a:ext cx="566928" cy="594360"/>
          </a:xfrm>
          <a:prstGeom prst="rect">
            <a:avLst/>
          </a:prstGeom>
          <a:noFill/>
        </p:spPr>
        <p:txBody>
          <a:bodyPr wrap="square">
            <a:spAutoFit/>
          </a:bodyPr>
          <a:lstStyle/>
          <a:p>
            <a:pPr algn="ctr"/>
            <a:r>
              <a:rPr sz="2200" b="0" i="0">
                <a:solidFill>
                  <a:srgbClr val="FFFFFF"/>
                </a:solidFill>
              </a:rPr>
              <a:t>⚡</a:t>
            </a:r>
          </a:p>
        </p:txBody>
      </p:sp>
      <p:sp>
        <p:nvSpPr>
          <p:cNvPr id="19" name="TextBox 18"/>
          <p:cNvSpPr txBox="1"/>
          <p:nvPr/>
        </p:nvSpPr>
        <p:spPr>
          <a:xfrm>
            <a:off x="6876288" y="1170432"/>
            <a:ext cx="4892040" cy="347472"/>
          </a:xfrm>
          <a:prstGeom prst="rect">
            <a:avLst/>
          </a:prstGeom>
          <a:noFill/>
        </p:spPr>
        <p:txBody>
          <a:bodyPr wrap="square">
            <a:spAutoFit/>
          </a:bodyPr>
          <a:lstStyle/>
          <a:p>
            <a:pPr algn="l"/>
            <a:r>
              <a:rPr sz="1300" b="1" i="0">
                <a:solidFill>
                  <a:srgbClr val="00D4FF"/>
                </a:solidFill>
              </a:rPr>
              <a:t>Real-Time Browser &amp; Email Integration</a:t>
            </a:r>
          </a:p>
        </p:txBody>
      </p:sp>
      <p:sp>
        <p:nvSpPr>
          <p:cNvPr id="20" name="TextBox 19"/>
          <p:cNvSpPr txBox="1"/>
          <p:nvPr/>
        </p:nvSpPr>
        <p:spPr>
          <a:xfrm>
            <a:off x="6876288" y="1572768"/>
            <a:ext cx="4892040" cy="1170432"/>
          </a:xfrm>
          <a:prstGeom prst="rect">
            <a:avLst/>
          </a:prstGeom>
          <a:noFill/>
        </p:spPr>
        <p:txBody>
          <a:bodyPr wrap="square">
            <a:spAutoFit/>
          </a:bodyPr>
          <a:lstStyle/>
          <a:p>
            <a:pPr algn="l"/>
            <a:r>
              <a:rPr sz="1150" b="0" i="0">
                <a:solidFill>
                  <a:srgbClr val="B8D8F0"/>
                </a:solidFill>
              </a:rPr>
              <a:t>Deploy as a Chrome/Firefox extension and Outlook/Gmail plugin for live phishing scanning of URLs and emails during browsing.</a:t>
            </a:r>
          </a:p>
        </p:txBody>
      </p:sp>
      <p:sp>
        <p:nvSpPr>
          <p:cNvPr id="21" name="Rectangle 20"/>
          <p:cNvSpPr/>
          <p:nvPr/>
        </p:nvSpPr>
        <p:spPr>
          <a:xfrm>
            <a:off x="274320" y="2944368"/>
            <a:ext cx="5650992" cy="17373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 y="2944368"/>
            <a:ext cx="5650992" cy="50292"/>
          </a:xfrm>
          <a:prstGeom prst="rect">
            <a:avLst/>
          </a:prstGeom>
          <a:solidFill>
            <a:srgbClr val="00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2994660"/>
            <a:ext cx="566928" cy="168706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3328415"/>
            <a:ext cx="566928" cy="594360"/>
          </a:xfrm>
          <a:prstGeom prst="rect">
            <a:avLst/>
          </a:prstGeom>
          <a:noFill/>
        </p:spPr>
        <p:txBody>
          <a:bodyPr wrap="square">
            <a:spAutoFit/>
          </a:bodyPr>
          <a:lstStyle/>
          <a:p>
            <a:pPr algn="ctr"/>
            <a:r>
              <a:rPr sz="2200" b="0" i="0">
                <a:solidFill>
                  <a:srgbClr val="FFFFFF"/>
                </a:solidFill>
              </a:rPr>
              <a:t>🔬</a:t>
            </a:r>
          </a:p>
        </p:txBody>
      </p:sp>
      <p:sp>
        <p:nvSpPr>
          <p:cNvPr id="25" name="TextBox 24"/>
          <p:cNvSpPr txBox="1"/>
          <p:nvPr/>
        </p:nvSpPr>
        <p:spPr>
          <a:xfrm>
            <a:off x="914400" y="3017520"/>
            <a:ext cx="4892040" cy="347472"/>
          </a:xfrm>
          <a:prstGeom prst="rect">
            <a:avLst/>
          </a:prstGeom>
          <a:noFill/>
        </p:spPr>
        <p:txBody>
          <a:bodyPr wrap="square">
            <a:spAutoFit/>
          </a:bodyPr>
          <a:lstStyle/>
          <a:p>
            <a:pPr algn="l"/>
            <a:r>
              <a:rPr sz="1300" b="1" i="0">
                <a:solidFill>
                  <a:srgbClr val="00FFC8"/>
                </a:solidFill>
              </a:rPr>
              <a:t>Advanced Transformer Models</a:t>
            </a:r>
          </a:p>
        </p:txBody>
      </p:sp>
      <p:sp>
        <p:nvSpPr>
          <p:cNvPr id="26" name="TextBox 25"/>
          <p:cNvSpPr txBox="1"/>
          <p:nvPr/>
        </p:nvSpPr>
        <p:spPr>
          <a:xfrm>
            <a:off x="914400" y="3419856"/>
            <a:ext cx="4892040" cy="1170432"/>
          </a:xfrm>
          <a:prstGeom prst="rect">
            <a:avLst/>
          </a:prstGeom>
          <a:noFill/>
        </p:spPr>
        <p:txBody>
          <a:bodyPr wrap="square">
            <a:spAutoFit/>
          </a:bodyPr>
          <a:lstStyle/>
          <a:p>
            <a:pPr algn="l"/>
            <a:r>
              <a:rPr sz="1150" b="0" i="0">
                <a:solidFill>
                  <a:srgbClr val="B8D8F0"/>
                </a:solidFill>
              </a:rPr>
              <a:t>Explore RoBERTa, DeBERTa, GPT-based classifiers and fine-tuned domain-specific LLMs for improved phishing text understanding.</a:t>
            </a:r>
          </a:p>
        </p:txBody>
      </p:sp>
      <p:sp>
        <p:nvSpPr>
          <p:cNvPr id="27" name="Rectangle 26"/>
          <p:cNvSpPr/>
          <p:nvPr/>
        </p:nvSpPr>
        <p:spPr>
          <a:xfrm>
            <a:off x="6236208" y="2944368"/>
            <a:ext cx="5650992" cy="17373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8" y="2944368"/>
            <a:ext cx="5650992" cy="50292"/>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6208" y="2994660"/>
            <a:ext cx="566928" cy="168706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36208" y="3328415"/>
            <a:ext cx="566928" cy="594360"/>
          </a:xfrm>
          <a:prstGeom prst="rect">
            <a:avLst/>
          </a:prstGeom>
          <a:noFill/>
        </p:spPr>
        <p:txBody>
          <a:bodyPr wrap="square">
            <a:spAutoFit/>
          </a:bodyPr>
          <a:lstStyle/>
          <a:p>
            <a:pPr algn="ctr"/>
            <a:r>
              <a:rPr sz="2200" b="0" i="0">
                <a:solidFill>
                  <a:srgbClr val="FFFFFF"/>
                </a:solidFill>
              </a:rPr>
              <a:t>☁️</a:t>
            </a:r>
          </a:p>
        </p:txBody>
      </p:sp>
      <p:sp>
        <p:nvSpPr>
          <p:cNvPr id="31" name="TextBox 30"/>
          <p:cNvSpPr txBox="1"/>
          <p:nvPr/>
        </p:nvSpPr>
        <p:spPr>
          <a:xfrm>
            <a:off x="6876288" y="3017520"/>
            <a:ext cx="4892040" cy="347472"/>
          </a:xfrm>
          <a:prstGeom prst="rect">
            <a:avLst/>
          </a:prstGeom>
          <a:noFill/>
        </p:spPr>
        <p:txBody>
          <a:bodyPr wrap="square">
            <a:spAutoFit/>
          </a:bodyPr>
          <a:lstStyle/>
          <a:p>
            <a:pPr algn="l"/>
            <a:r>
              <a:rPr sz="1300" b="1" i="0">
                <a:solidFill>
                  <a:srgbClr val="FFCC00"/>
                </a:solidFill>
              </a:rPr>
              <a:t>Cloud-Based Threat Intelligence Platform</a:t>
            </a:r>
          </a:p>
        </p:txBody>
      </p:sp>
      <p:sp>
        <p:nvSpPr>
          <p:cNvPr id="32" name="TextBox 31"/>
          <p:cNvSpPr txBox="1"/>
          <p:nvPr/>
        </p:nvSpPr>
        <p:spPr>
          <a:xfrm>
            <a:off x="6876288" y="3419856"/>
            <a:ext cx="4892040" cy="1170432"/>
          </a:xfrm>
          <a:prstGeom prst="rect">
            <a:avLst/>
          </a:prstGeom>
          <a:noFill/>
        </p:spPr>
        <p:txBody>
          <a:bodyPr wrap="square">
            <a:spAutoFit/>
          </a:bodyPr>
          <a:lstStyle/>
          <a:p>
            <a:pPr algn="l"/>
            <a:r>
              <a:rPr sz="1150" b="0" i="0">
                <a:solidFill>
                  <a:srgbClr val="B8D8F0"/>
                </a:solidFill>
              </a:rPr>
              <a:t>Integrate with cloud security APIs (VirusTotal, Google Safe Browsing) for large-scale real-time threat monitoring and sharing.</a:t>
            </a:r>
          </a:p>
        </p:txBody>
      </p:sp>
      <p:sp>
        <p:nvSpPr>
          <p:cNvPr id="33" name="Rectangle 32"/>
          <p:cNvSpPr/>
          <p:nvPr/>
        </p:nvSpPr>
        <p:spPr>
          <a:xfrm>
            <a:off x="274320" y="4791456"/>
            <a:ext cx="5650992" cy="17373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4791456"/>
            <a:ext cx="5650992" cy="50292"/>
          </a:xfrm>
          <a:prstGeom prst="rect">
            <a:avLst/>
          </a:prstGeom>
          <a:solidFill>
            <a:srgbClr val="A0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 y="4841748"/>
            <a:ext cx="566928" cy="168706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 y="5175504"/>
            <a:ext cx="566928" cy="594360"/>
          </a:xfrm>
          <a:prstGeom prst="rect">
            <a:avLst/>
          </a:prstGeom>
          <a:noFill/>
        </p:spPr>
        <p:txBody>
          <a:bodyPr wrap="square">
            <a:spAutoFit/>
          </a:bodyPr>
          <a:lstStyle/>
          <a:p>
            <a:pPr algn="ctr"/>
            <a:r>
              <a:rPr sz="2200" b="0" i="0">
                <a:solidFill>
                  <a:srgbClr val="FFFFFF"/>
                </a:solidFill>
              </a:rPr>
              <a:t>🧩</a:t>
            </a:r>
          </a:p>
        </p:txBody>
      </p:sp>
      <p:sp>
        <p:nvSpPr>
          <p:cNvPr id="37" name="TextBox 36"/>
          <p:cNvSpPr txBox="1"/>
          <p:nvPr/>
        </p:nvSpPr>
        <p:spPr>
          <a:xfrm>
            <a:off x="914400" y="4864608"/>
            <a:ext cx="4892040" cy="347472"/>
          </a:xfrm>
          <a:prstGeom prst="rect">
            <a:avLst/>
          </a:prstGeom>
          <a:noFill/>
        </p:spPr>
        <p:txBody>
          <a:bodyPr wrap="square">
            <a:spAutoFit/>
          </a:bodyPr>
          <a:lstStyle/>
          <a:p>
            <a:pPr algn="l"/>
            <a:r>
              <a:rPr sz="1300" b="1" i="0">
                <a:solidFill>
                  <a:srgbClr val="A07EFF"/>
                </a:solidFill>
              </a:rPr>
              <a:t>Explainable AI (XAI) Integration</a:t>
            </a:r>
          </a:p>
        </p:txBody>
      </p:sp>
      <p:sp>
        <p:nvSpPr>
          <p:cNvPr id="38" name="TextBox 37"/>
          <p:cNvSpPr txBox="1"/>
          <p:nvPr/>
        </p:nvSpPr>
        <p:spPr>
          <a:xfrm>
            <a:off x="914400" y="5266944"/>
            <a:ext cx="4892040" cy="1170432"/>
          </a:xfrm>
          <a:prstGeom prst="rect">
            <a:avLst/>
          </a:prstGeom>
          <a:noFill/>
        </p:spPr>
        <p:txBody>
          <a:bodyPr wrap="square">
            <a:spAutoFit/>
          </a:bodyPr>
          <a:lstStyle/>
          <a:p>
            <a:pPr algn="l"/>
            <a:r>
              <a:rPr sz="1150" b="0" i="0">
                <a:solidFill>
                  <a:srgbClr val="B8D8F0"/>
                </a:solidFill>
              </a:rPr>
              <a:t>Apply SHAP/LIME explanations to make PhishGuard's decisions transparent and interpretable for security analysts and end-users.</a:t>
            </a:r>
          </a:p>
        </p:txBody>
      </p:sp>
      <p:sp>
        <p:nvSpPr>
          <p:cNvPr id="39" name="Rectangle 38"/>
          <p:cNvSpPr/>
          <p:nvPr/>
        </p:nvSpPr>
        <p:spPr>
          <a:xfrm>
            <a:off x="6236208" y="4791456"/>
            <a:ext cx="5650992" cy="17373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36208" y="4791456"/>
            <a:ext cx="5650992" cy="502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36208" y="4841748"/>
            <a:ext cx="566928" cy="1687068"/>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36208" y="5175504"/>
            <a:ext cx="566928" cy="594360"/>
          </a:xfrm>
          <a:prstGeom prst="rect">
            <a:avLst/>
          </a:prstGeom>
          <a:noFill/>
        </p:spPr>
        <p:txBody>
          <a:bodyPr wrap="square">
            <a:spAutoFit/>
          </a:bodyPr>
          <a:lstStyle/>
          <a:p>
            <a:pPr algn="ctr"/>
            <a:r>
              <a:rPr sz="2200" b="0" i="0">
                <a:solidFill>
                  <a:srgbClr val="FFFFFF"/>
                </a:solidFill>
              </a:rPr>
              <a:t>📊</a:t>
            </a:r>
          </a:p>
        </p:txBody>
      </p:sp>
      <p:sp>
        <p:nvSpPr>
          <p:cNvPr id="43" name="TextBox 42"/>
          <p:cNvSpPr txBox="1"/>
          <p:nvPr/>
        </p:nvSpPr>
        <p:spPr>
          <a:xfrm>
            <a:off x="6876288" y="4864608"/>
            <a:ext cx="4892040" cy="347472"/>
          </a:xfrm>
          <a:prstGeom prst="rect">
            <a:avLst/>
          </a:prstGeom>
          <a:noFill/>
        </p:spPr>
        <p:txBody>
          <a:bodyPr wrap="square">
            <a:spAutoFit/>
          </a:bodyPr>
          <a:lstStyle/>
          <a:p>
            <a:pPr algn="l"/>
            <a:r>
              <a:rPr sz="1300" b="1" i="0">
                <a:solidFill>
                  <a:srgbClr val="FF6B35"/>
                </a:solidFill>
              </a:rPr>
              <a:t>Larger &amp; More Diverse Dataset Expansion</a:t>
            </a:r>
          </a:p>
        </p:txBody>
      </p:sp>
      <p:sp>
        <p:nvSpPr>
          <p:cNvPr id="44" name="TextBox 43"/>
          <p:cNvSpPr txBox="1"/>
          <p:nvPr/>
        </p:nvSpPr>
        <p:spPr>
          <a:xfrm>
            <a:off x="6876288" y="5266944"/>
            <a:ext cx="4892040" cy="1170432"/>
          </a:xfrm>
          <a:prstGeom prst="rect">
            <a:avLst/>
          </a:prstGeom>
          <a:noFill/>
        </p:spPr>
        <p:txBody>
          <a:bodyPr wrap="square">
            <a:spAutoFit/>
          </a:bodyPr>
          <a:lstStyle/>
          <a:p>
            <a:pPr algn="l"/>
            <a:r>
              <a:rPr sz="1150" b="0" i="0">
                <a:solidFill>
                  <a:srgbClr val="B8D8F0"/>
                </a:solidFill>
              </a:rPr>
              <a:t>Expand training data with multilingual phishing samples, zero-day attack examples, and adversarially crafted phishing content.</a:t>
            </a:r>
          </a:p>
        </p:txBody>
      </p:sp>
      <p:sp>
        <p:nvSpPr>
          <p:cNvPr id="45" name="Rectangle 44"/>
          <p:cNvSpPr/>
          <p:nvPr/>
        </p:nvSpPr>
        <p:spPr>
          <a:xfrm>
            <a:off x="274320" y="6492240"/>
            <a:ext cx="11640312" cy="274320"/>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74320" y="6492240"/>
            <a:ext cx="11640312" cy="36576"/>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6519672"/>
            <a:ext cx="2788920" cy="201168"/>
          </a:xfrm>
          <a:prstGeom prst="rect">
            <a:avLst/>
          </a:prstGeom>
          <a:noFill/>
        </p:spPr>
        <p:txBody>
          <a:bodyPr wrap="square">
            <a:spAutoFit/>
          </a:bodyPr>
          <a:lstStyle/>
          <a:p>
            <a:pPr algn="l"/>
            <a:r>
              <a:rPr sz="950" b="0" i="0">
                <a:solidFill>
                  <a:srgbClr val="B8D8F0"/>
                </a:solidFill>
              </a:rPr>
              <a:t>-&gt; Phase 1: Browser Extension</a:t>
            </a:r>
          </a:p>
        </p:txBody>
      </p:sp>
      <p:sp>
        <p:nvSpPr>
          <p:cNvPr id="48" name="TextBox 47"/>
          <p:cNvSpPr txBox="1"/>
          <p:nvPr/>
        </p:nvSpPr>
        <p:spPr>
          <a:xfrm>
            <a:off x="3383280" y="6519672"/>
            <a:ext cx="2788920" cy="201168"/>
          </a:xfrm>
          <a:prstGeom prst="rect">
            <a:avLst/>
          </a:prstGeom>
          <a:noFill/>
        </p:spPr>
        <p:txBody>
          <a:bodyPr wrap="square">
            <a:spAutoFit/>
          </a:bodyPr>
          <a:lstStyle/>
          <a:p>
            <a:pPr algn="l"/>
            <a:r>
              <a:rPr sz="950" b="0" i="0">
                <a:solidFill>
                  <a:srgbClr val="B8D8F0"/>
                </a:solidFill>
              </a:rPr>
              <a:t>-&gt; Phase 2: Social Media Coverage</a:t>
            </a:r>
          </a:p>
        </p:txBody>
      </p:sp>
      <p:sp>
        <p:nvSpPr>
          <p:cNvPr id="49" name="TextBox 48"/>
          <p:cNvSpPr txBox="1"/>
          <p:nvPr/>
        </p:nvSpPr>
        <p:spPr>
          <a:xfrm>
            <a:off x="6309360" y="6519672"/>
            <a:ext cx="2788920" cy="201168"/>
          </a:xfrm>
          <a:prstGeom prst="rect">
            <a:avLst/>
          </a:prstGeom>
          <a:noFill/>
        </p:spPr>
        <p:txBody>
          <a:bodyPr wrap="square">
            <a:spAutoFit/>
          </a:bodyPr>
          <a:lstStyle/>
          <a:p>
            <a:pPr algn="l"/>
            <a:r>
              <a:rPr sz="950" b="0" i="0">
                <a:solidFill>
                  <a:srgbClr val="B8D8F0"/>
                </a:solidFill>
              </a:rPr>
              <a:t>-&gt; Phase 3: XAI Integration</a:t>
            </a:r>
          </a:p>
        </p:txBody>
      </p:sp>
      <p:sp>
        <p:nvSpPr>
          <p:cNvPr id="50" name="TextBox 49"/>
          <p:cNvSpPr txBox="1"/>
          <p:nvPr/>
        </p:nvSpPr>
        <p:spPr>
          <a:xfrm>
            <a:off x="9235440" y="6519672"/>
            <a:ext cx="2788920" cy="201168"/>
          </a:xfrm>
          <a:prstGeom prst="rect">
            <a:avLst/>
          </a:prstGeom>
          <a:noFill/>
        </p:spPr>
        <p:txBody>
          <a:bodyPr wrap="square">
            <a:spAutoFit/>
          </a:bodyPr>
          <a:lstStyle/>
          <a:p>
            <a:pPr algn="l"/>
            <a:r>
              <a:rPr sz="950" b="0" i="0">
                <a:solidFill>
                  <a:srgbClr val="B8D8F0"/>
                </a:solidFill>
              </a:rPr>
              <a:t>-&gt; Phase 4: Cloud-Scale Deployment</a:t>
            </a:r>
          </a:p>
        </p:txBody>
      </p:sp>
      <p:sp>
        <p:nvSpPr>
          <p:cNvPr id="51" name="TextBox 50"/>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12 / 13</a:t>
            </a:r>
          </a:p>
        </p:txBody>
      </p:sp>
      <p:sp>
        <p:nvSpPr>
          <p:cNvPr id="52" name="Rectangle 51"/>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The ultimate vision: a universal, real-time, multi-platform phishing shield powered by explainable hybrid 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120640" cy="6858000"/>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74920" y="0"/>
            <a:ext cx="64008" cy="685800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31520"/>
            <a:ext cx="3657600" cy="2194560"/>
          </a:xfrm>
          <a:prstGeom prst="rect">
            <a:avLst/>
          </a:prstGeom>
          <a:noFill/>
        </p:spPr>
        <p:txBody>
          <a:bodyPr wrap="square">
            <a:spAutoFit/>
          </a:bodyPr>
          <a:lstStyle/>
          <a:p>
            <a:pPr algn="ctr"/>
            <a:r>
              <a:rPr sz="8800" b="0" i="0">
                <a:solidFill>
                  <a:srgbClr val="FFFFFF"/>
                </a:solidFill>
              </a:rPr>
              <a:t>🛡️</a:t>
            </a:r>
          </a:p>
        </p:txBody>
      </p:sp>
      <p:sp>
        <p:nvSpPr>
          <p:cNvPr id="6" name="TextBox 5"/>
          <p:cNvSpPr txBox="1"/>
          <p:nvPr/>
        </p:nvSpPr>
        <p:spPr>
          <a:xfrm>
            <a:off x="274320" y="3017520"/>
            <a:ext cx="4572000" cy="868680"/>
          </a:xfrm>
          <a:prstGeom prst="rect">
            <a:avLst/>
          </a:prstGeom>
          <a:noFill/>
        </p:spPr>
        <p:txBody>
          <a:bodyPr wrap="square">
            <a:spAutoFit/>
          </a:bodyPr>
          <a:lstStyle/>
          <a:p>
            <a:pPr algn="ctr"/>
            <a:r>
              <a:rPr sz="3600" b="1" i="0">
                <a:solidFill>
                  <a:srgbClr val="FFFFFF"/>
                </a:solidFill>
              </a:rPr>
              <a:t>Thank You</a:t>
            </a:r>
          </a:p>
        </p:txBody>
      </p:sp>
      <p:sp>
        <p:nvSpPr>
          <p:cNvPr id="7" name="TextBox 6"/>
          <p:cNvSpPr txBox="1"/>
          <p:nvPr/>
        </p:nvSpPr>
        <p:spPr>
          <a:xfrm>
            <a:off x="274320" y="3913632"/>
            <a:ext cx="4572000" cy="457200"/>
          </a:xfrm>
          <a:prstGeom prst="rect">
            <a:avLst/>
          </a:prstGeom>
          <a:noFill/>
        </p:spPr>
        <p:txBody>
          <a:bodyPr wrap="square">
            <a:spAutoFit/>
          </a:bodyPr>
          <a:lstStyle/>
          <a:p>
            <a:pPr algn="ctr"/>
            <a:r>
              <a:rPr sz="1400" b="0" i="1">
                <a:solidFill>
                  <a:srgbClr val="39FF14"/>
                </a:solidFill>
              </a:rPr>
              <a:t>Questions &amp; Discussion Welcome</a:t>
            </a:r>
          </a:p>
        </p:txBody>
      </p:sp>
      <p:sp>
        <p:nvSpPr>
          <p:cNvPr id="8" name="Rectangle 7"/>
          <p:cNvSpPr/>
          <p:nvPr/>
        </p:nvSpPr>
        <p:spPr>
          <a:xfrm>
            <a:off x="502920" y="4480560"/>
            <a:ext cx="4114800" cy="4114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617720"/>
            <a:ext cx="4572000" cy="960120"/>
          </a:xfrm>
          <a:prstGeom prst="rect">
            <a:avLst/>
          </a:prstGeom>
          <a:noFill/>
        </p:spPr>
        <p:txBody>
          <a:bodyPr wrap="square">
            <a:spAutoFit/>
          </a:bodyPr>
          <a:lstStyle/>
          <a:p>
            <a:pPr algn="ctr">
              <a:spcBef>
                <a:spcPts val="300"/>
              </a:spcBef>
            </a:pPr>
            <a:r>
              <a:rPr sz="1200" b="1">
                <a:solidFill>
                  <a:srgbClr val="39FF14"/>
                </a:solidFill>
              </a:rPr>
              <a:t>P. Venkata Teja  |  P. Pavan  |  T. Vamsi</a:t>
            </a:r>
          </a:p>
          <a:p>
            <a:pPr algn="ctr">
              <a:spcBef>
                <a:spcPts val="300"/>
              </a:spcBef>
            </a:pPr>
            <a:r>
              <a:rPr sz="1100" b="0">
                <a:solidFill>
                  <a:srgbClr val="B8D8F0"/>
                </a:solidFill>
              </a:rPr>
              <a:t>Dept. of CSE (AI &amp; ML) | Batch: 2023660302</a:t>
            </a:r>
          </a:p>
          <a:p>
            <a:pPr algn="ctr">
              <a:spcBef>
                <a:spcPts val="300"/>
              </a:spcBef>
            </a:pPr>
            <a:r>
              <a:rPr sz="1100" b="0">
                <a:solidFill>
                  <a:srgbClr val="B8D8F0"/>
                </a:solidFill>
              </a:rPr>
              <a:t>Supervisor: Mr. Anudeep Meda</a:t>
            </a:r>
          </a:p>
          <a:p>
            <a:pPr algn="ctr">
              <a:spcBef>
                <a:spcPts val="300"/>
              </a:spcBef>
            </a:pPr>
            <a:r>
              <a:rPr sz="1100" b="0">
                <a:solidFill>
                  <a:srgbClr val="B8D8F0"/>
                </a:solidFill>
              </a:rPr>
              <a:t>Vardhaman College of Engineering, Hyderabad</a:t>
            </a:r>
          </a:p>
        </p:txBody>
      </p:sp>
      <p:sp>
        <p:nvSpPr>
          <p:cNvPr id="10" name="TextBox 9"/>
          <p:cNvSpPr txBox="1"/>
          <p:nvPr/>
        </p:nvSpPr>
        <p:spPr>
          <a:xfrm>
            <a:off x="5303520" y="1097280"/>
            <a:ext cx="6583680" cy="365760"/>
          </a:xfrm>
          <a:prstGeom prst="rect">
            <a:avLst/>
          </a:prstGeom>
          <a:noFill/>
        </p:spPr>
        <p:txBody>
          <a:bodyPr wrap="square">
            <a:spAutoFit/>
          </a:bodyPr>
          <a:lstStyle/>
          <a:p>
            <a:pPr algn="l"/>
            <a:r>
              <a:rPr sz="1400" b="1" i="0">
                <a:solidFill>
                  <a:srgbClr val="39FF14"/>
                </a:solidFill>
              </a:rPr>
              <a:t>Key References</a:t>
            </a:r>
          </a:p>
        </p:txBody>
      </p:sp>
      <p:sp>
        <p:nvSpPr>
          <p:cNvPr id="11" name="Rectangle 10"/>
          <p:cNvSpPr/>
          <p:nvPr/>
        </p:nvSpPr>
        <p:spPr>
          <a:xfrm>
            <a:off x="5303520" y="1463040"/>
            <a:ext cx="6537960" cy="36576"/>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49240" y="1572768"/>
            <a:ext cx="6492240" cy="347472"/>
          </a:xfrm>
          <a:prstGeom prst="rect">
            <a:avLst/>
          </a:prstGeom>
          <a:noFill/>
        </p:spPr>
        <p:txBody>
          <a:bodyPr wrap="square">
            <a:spAutoFit/>
          </a:bodyPr>
          <a:lstStyle/>
          <a:p>
            <a:pPr algn="l"/>
            <a:r>
              <a:rPr sz="1050" b="0" i="0">
                <a:solidFill>
                  <a:srgbClr val="B8D8F0"/>
                </a:solidFill>
              </a:rPr>
              <a:t>-&gt; XGBoost-Based URL Phishing Detection - Gradient Boosting on URL features (2025)</a:t>
            </a:r>
          </a:p>
        </p:txBody>
      </p:sp>
      <p:sp>
        <p:nvSpPr>
          <p:cNvPr id="13" name="TextBox 12"/>
          <p:cNvSpPr txBox="1"/>
          <p:nvPr/>
        </p:nvSpPr>
        <p:spPr>
          <a:xfrm>
            <a:off x="5349240" y="1993392"/>
            <a:ext cx="6492240" cy="347472"/>
          </a:xfrm>
          <a:prstGeom prst="rect">
            <a:avLst/>
          </a:prstGeom>
          <a:noFill/>
        </p:spPr>
        <p:txBody>
          <a:bodyPr wrap="square">
            <a:spAutoFit/>
          </a:bodyPr>
          <a:lstStyle/>
          <a:p>
            <a:pPr algn="l"/>
            <a:r>
              <a:rPr sz="1050" b="0" i="0">
                <a:solidFill>
                  <a:srgbClr val="B8D8F0"/>
                </a:solidFill>
              </a:rPr>
              <a:t>-&gt; Ensemble Learning Phishing Detection - Multi-model combination approach (2024)</a:t>
            </a:r>
          </a:p>
        </p:txBody>
      </p:sp>
      <p:sp>
        <p:nvSpPr>
          <p:cNvPr id="14" name="TextBox 13"/>
          <p:cNvSpPr txBox="1"/>
          <p:nvPr/>
        </p:nvSpPr>
        <p:spPr>
          <a:xfrm>
            <a:off x="5349240" y="2414016"/>
            <a:ext cx="6492240" cy="347472"/>
          </a:xfrm>
          <a:prstGeom prst="rect">
            <a:avLst/>
          </a:prstGeom>
          <a:noFill/>
        </p:spPr>
        <p:txBody>
          <a:bodyPr wrap="square">
            <a:spAutoFit/>
          </a:bodyPr>
          <a:lstStyle/>
          <a:p>
            <a:pPr algn="l"/>
            <a:r>
              <a:rPr sz="1050" b="0" i="0">
                <a:solidFill>
                  <a:srgbClr val="B8D8F0"/>
                </a:solidFill>
              </a:rPr>
              <a:t>-&gt; BERT-Based Email Phishing Detection - Transformer semantic analysis (2024)</a:t>
            </a:r>
          </a:p>
        </p:txBody>
      </p:sp>
      <p:sp>
        <p:nvSpPr>
          <p:cNvPr id="15" name="TextBox 14"/>
          <p:cNvSpPr txBox="1"/>
          <p:nvPr/>
        </p:nvSpPr>
        <p:spPr>
          <a:xfrm>
            <a:off x="5349240" y="2834640"/>
            <a:ext cx="6492240" cy="347472"/>
          </a:xfrm>
          <a:prstGeom prst="rect">
            <a:avLst/>
          </a:prstGeom>
          <a:noFill/>
        </p:spPr>
        <p:txBody>
          <a:bodyPr wrap="square">
            <a:spAutoFit/>
          </a:bodyPr>
          <a:lstStyle/>
          <a:p>
            <a:pPr algn="l"/>
            <a:r>
              <a:rPr sz="1050" b="0" i="0">
                <a:solidFill>
                  <a:srgbClr val="B8D8F0"/>
                </a:solidFill>
              </a:rPr>
              <a:t>-&gt; LSTM-CNN Hybrid Model - Sequential URL pattern detection (2023)</a:t>
            </a:r>
          </a:p>
        </p:txBody>
      </p:sp>
      <p:sp>
        <p:nvSpPr>
          <p:cNvPr id="16" name="TextBox 15"/>
          <p:cNvSpPr txBox="1"/>
          <p:nvPr/>
        </p:nvSpPr>
        <p:spPr>
          <a:xfrm>
            <a:off x="5349240" y="3255264"/>
            <a:ext cx="6492240" cy="347472"/>
          </a:xfrm>
          <a:prstGeom prst="rect">
            <a:avLst/>
          </a:prstGeom>
          <a:noFill/>
        </p:spPr>
        <p:txBody>
          <a:bodyPr wrap="square">
            <a:spAutoFit/>
          </a:bodyPr>
          <a:lstStyle/>
          <a:p>
            <a:pPr algn="l"/>
            <a:r>
              <a:rPr sz="1050" b="0" i="0">
                <a:solidFill>
                  <a:srgbClr val="B8D8F0"/>
                </a:solidFill>
              </a:rPr>
              <a:t>-&gt; Random Forest &amp; SVM Phishing Model - URL structure classification (2021)</a:t>
            </a:r>
          </a:p>
        </p:txBody>
      </p:sp>
      <p:sp>
        <p:nvSpPr>
          <p:cNvPr id="17" name="TextBox 16"/>
          <p:cNvSpPr txBox="1"/>
          <p:nvPr/>
        </p:nvSpPr>
        <p:spPr>
          <a:xfrm>
            <a:off x="5349240" y="3675888"/>
            <a:ext cx="6492240" cy="347472"/>
          </a:xfrm>
          <a:prstGeom prst="rect">
            <a:avLst/>
          </a:prstGeom>
          <a:noFill/>
        </p:spPr>
        <p:txBody>
          <a:bodyPr wrap="square">
            <a:spAutoFit/>
          </a:bodyPr>
          <a:lstStyle/>
          <a:p>
            <a:pPr algn="l"/>
            <a:r>
              <a:rPr sz="1050" b="0" i="0">
                <a:solidFill>
                  <a:srgbClr val="B8D8F0"/>
                </a:solidFill>
              </a:rPr>
              <a:t>-&gt; Redmon &amp; Farhadi - YOLO Real-Time Detection, IEEE CVPR (2016)</a:t>
            </a:r>
          </a:p>
        </p:txBody>
      </p:sp>
      <p:sp>
        <p:nvSpPr>
          <p:cNvPr id="18" name="TextBox 17"/>
          <p:cNvSpPr txBox="1"/>
          <p:nvPr/>
        </p:nvSpPr>
        <p:spPr>
          <a:xfrm>
            <a:off x="5349240" y="4096512"/>
            <a:ext cx="6492240" cy="347472"/>
          </a:xfrm>
          <a:prstGeom prst="rect">
            <a:avLst/>
          </a:prstGeom>
          <a:noFill/>
        </p:spPr>
        <p:txBody>
          <a:bodyPr wrap="square">
            <a:spAutoFit/>
          </a:bodyPr>
          <a:lstStyle/>
          <a:p>
            <a:pPr algn="l"/>
            <a:r>
              <a:rPr sz="1050" b="0" i="0">
                <a:solidFill>
                  <a:srgbClr val="B8D8F0"/>
                </a:solidFill>
              </a:rPr>
              <a:t>-&gt; Devlin et al. - BERT: Pre-training Deep Bidirectional Transformers (2018)</a:t>
            </a:r>
          </a:p>
        </p:txBody>
      </p:sp>
      <p:sp>
        <p:nvSpPr>
          <p:cNvPr id="19" name="TextBox 18"/>
          <p:cNvSpPr txBox="1"/>
          <p:nvPr/>
        </p:nvSpPr>
        <p:spPr>
          <a:xfrm>
            <a:off x="5349240" y="4517136"/>
            <a:ext cx="6492240" cy="347472"/>
          </a:xfrm>
          <a:prstGeom prst="rect">
            <a:avLst/>
          </a:prstGeom>
          <a:noFill/>
        </p:spPr>
        <p:txBody>
          <a:bodyPr wrap="square">
            <a:spAutoFit/>
          </a:bodyPr>
          <a:lstStyle/>
          <a:p>
            <a:pPr algn="l"/>
            <a:r>
              <a:rPr sz="1050" b="0" i="0">
                <a:solidFill>
                  <a:srgbClr val="B8D8F0"/>
                </a:solidFill>
              </a:rPr>
              <a:t>-&gt; Sanh et al. - DistilBERT: Distilled Version of BERT (2019)</a:t>
            </a:r>
          </a:p>
        </p:txBody>
      </p:sp>
      <p:sp>
        <p:nvSpPr>
          <p:cNvPr id="20" name="TextBox 19"/>
          <p:cNvSpPr txBox="1"/>
          <p:nvPr/>
        </p:nvSpPr>
        <p:spPr>
          <a:xfrm>
            <a:off x="5349240" y="4937760"/>
            <a:ext cx="6492240" cy="347472"/>
          </a:xfrm>
          <a:prstGeom prst="rect">
            <a:avLst/>
          </a:prstGeom>
          <a:noFill/>
        </p:spPr>
        <p:txBody>
          <a:bodyPr wrap="square">
            <a:spAutoFit/>
          </a:bodyPr>
          <a:lstStyle/>
          <a:p>
            <a:pPr algn="l"/>
            <a:r>
              <a:rPr sz="1050" b="0" i="0">
                <a:solidFill>
                  <a:srgbClr val="B8D8F0"/>
                </a:solidFill>
              </a:rPr>
              <a:t>-&gt; Chen &amp; Guestrin - XGBoost: A Scalable Tree Boosting System (2016)</a:t>
            </a:r>
          </a:p>
        </p:txBody>
      </p:sp>
      <p:sp>
        <p:nvSpPr>
          <p:cNvPr id="21" name="Rectangle 20"/>
          <p:cNvSpPr/>
          <p:nvPr/>
        </p:nvSpPr>
        <p:spPr>
          <a:xfrm>
            <a:off x="5303520" y="6035040"/>
            <a:ext cx="6537960" cy="530352"/>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40680" y="6071616"/>
            <a:ext cx="6309360" cy="475488"/>
          </a:xfrm>
          <a:prstGeom prst="rect">
            <a:avLst/>
          </a:prstGeom>
          <a:noFill/>
        </p:spPr>
        <p:txBody>
          <a:bodyPr wrap="square">
            <a:spAutoFit/>
          </a:bodyPr>
          <a:lstStyle/>
          <a:p>
            <a:pPr algn="l">
              <a:spcBef>
                <a:spcPts val="200"/>
              </a:spcBef>
            </a:pPr>
            <a:r>
              <a:rPr sz="1050" b="0">
                <a:solidFill>
                  <a:srgbClr val="39FF14"/>
                </a:solidFill>
              </a:rPr>
              <a:t>Dataset: Phishing URL Dataset + Email Phishing Dataset + SMS Spam/Smishing Dataset</a:t>
            </a:r>
          </a:p>
          <a:p>
            <a:pPr algn="l">
              <a:spcBef>
                <a:spcPts val="200"/>
              </a:spcBef>
            </a:pPr>
            <a:r>
              <a:rPr sz="1000" b="0">
                <a:solidFill>
                  <a:srgbClr val="B8D8F0"/>
                </a:solidFill>
              </a:rPr>
              <a:t>Contact: venkatatejapatnam@gmail.com | Batch ID: 2023660302</a:t>
            </a:r>
          </a:p>
        </p:txBody>
      </p:sp>
      <p:sp>
        <p:nvSpPr>
          <p:cNvPr id="23" name="TextBox 22"/>
          <p:cNvSpPr txBox="1"/>
          <p:nvPr/>
        </p:nvSpPr>
        <p:spPr>
          <a:xfrm>
            <a:off x="11430000" y="6620256"/>
            <a:ext cx="731520" cy="219456"/>
          </a:xfrm>
          <a:prstGeom prst="rect">
            <a:avLst/>
          </a:prstGeom>
          <a:noFill/>
        </p:spPr>
        <p:txBody>
          <a:bodyPr wrap="square">
            <a:spAutoFit/>
          </a:bodyPr>
          <a:lstStyle/>
          <a:p>
            <a:pPr algn="r"/>
            <a:r>
              <a:rPr sz="900" b="0" i="0">
                <a:solidFill>
                  <a:srgbClr val="B8D8F0"/>
                </a:solidFill>
              </a:rPr>
              <a:t>13 / 13</a:t>
            </a:r>
          </a:p>
        </p:txBody>
      </p:sp>
      <p:sp>
        <p:nvSpPr>
          <p:cNvPr id="24" name="Rectangle 23"/>
          <p:cNvSpPr/>
          <p:nvPr/>
        </p:nvSpPr>
        <p:spPr>
          <a:xfrm>
            <a:off x="0" y="6693408"/>
            <a:ext cx="12188952" cy="164592"/>
          </a:xfrm>
          <a:prstGeom prst="rect">
            <a:avLst/>
          </a:prstGeom>
          <a:solidFill>
            <a:srgbClr val="0F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693408"/>
            <a:ext cx="12188952" cy="2286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2880" y="6711696"/>
            <a:ext cx="11704320" cy="146304"/>
          </a:xfrm>
          <a:prstGeom prst="rect">
            <a:avLst/>
          </a:prstGeom>
          <a:noFill/>
        </p:spPr>
        <p:txBody>
          <a:bodyPr wrap="square">
            <a:spAutoFit/>
          </a:bodyPr>
          <a:lstStyle/>
          <a:p>
            <a:pPr algn="l"/>
            <a:r>
              <a:rPr sz="900" b="0" i="1">
                <a:solidFill>
                  <a:srgbClr val="B8D8F0"/>
                </a:solidFill>
              </a:rPr>
              <a:t>PhishGuard: An AI Powered Phishing Detection Using Hybrid Deep Neural Networks | Vardhaman College of Engineering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